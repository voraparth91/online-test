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51" r:id="rId5"/>
  </p:sldMasterIdLst>
  <p:notesMasterIdLst>
    <p:notesMasterId r:id="rId32"/>
  </p:notesMasterIdLst>
  <p:sldIdLst>
    <p:sldId id="257" r:id="rId6"/>
    <p:sldId id="2321" r:id="rId7"/>
    <p:sldId id="2342" r:id="rId8"/>
    <p:sldId id="2147" r:id="rId9"/>
    <p:sldId id="2322" r:id="rId10"/>
    <p:sldId id="2323" r:id="rId11"/>
    <p:sldId id="2324" r:id="rId12"/>
    <p:sldId id="2325" r:id="rId13"/>
    <p:sldId id="2326" r:id="rId14"/>
    <p:sldId id="2327" r:id="rId15"/>
    <p:sldId id="2328" r:id="rId16"/>
    <p:sldId id="2329" r:id="rId17"/>
    <p:sldId id="2330" r:id="rId18"/>
    <p:sldId id="2339" r:id="rId19"/>
    <p:sldId id="344" r:id="rId20"/>
    <p:sldId id="337" r:id="rId21"/>
    <p:sldId id="2320" r:id="rId22"/>
    <p:sldId id="2331" r:id="rId23"/>
    <p:sldId id="2332" r:id="rId24"/>
    <p:sldId id="2335" r:id="rId25"/>
    <p:sldId id="2336" r:id="rId26"/>
    <p:sldId id="2337" r:id="rId27"/>
    <p:sldId id="2334" r:id="rId28"/>
    <p:sldId id="2333" r:id="rId29"/>
    <p:sldId id="2338" r:id="rId30"/>
    <p:sldId id="28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EB"/>
    <a:srgbClr val="FFEDC2"/>
    <a:srgbClr val="121314"/>
    <a:srgbClr val="E6E7E9"/>
    <a:srgbClr val="F7B40F"/>
    <a:srgbClr val="F2F2F2"/>
    <a:srgbClr val="EBFAFF"/>
    <a:srgbClr val="09121A"/>
    <a:srgbClr val="FFB60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7" autoAdjust="0"/>
    <p:restoredTop sz="94578"/>
  </p:normalViewPr>
  <p:slideViewPr>
    <p:cSldViewPr>
      <p:cViewPr varScale="1">
        <p:scale>
          <a:sx n="77" d="100"/>
          <a:sy n="77" d="100"/>
        </p:scale>
        <p:origin x="264" y="5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venir Next LT Pro" panose="020B0504020202020204" pitchFamily="34" charset="77"/>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venir Next LT Pro" panose="020B0504020202020204" pitchFamily="34" charset="77"/>
              </a:defRPr>
            </a:lvl1pPr>
          </a:lstStyle>
          <a:p>
            <a:fld id="{45E25623-F6BC-594F-BDF2-0A832D5E14E1}" type="datetimeFigureOut">
              <a:rPr lang="en-US" smtClean="0"/>
              <a:pPr/>
              <a:t>11/18/2025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venir Next LT Pro" panose="020B0504020202020204" pitchFamily="34" charset="77"/>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venir Next LT Pro" panose="020B0504020202020204" pitchFamily="34" charset="77"/>
              </a:defRPr>
            </a:lvl1pPr>
          </a:lstStyle>
          <a:p>
            <a:fld id="{D39B99D5-BB4B-B04E-8EBD-95BA41F22E0C}" type="slidenum">
              <a:rPr lang="en-US" smtClean="0"/>
              <a:pPr/>
              <a:t>‹#›</a:t>
            </a:fld>
            <a:endParaRPr lang="en-US" dirty="0"/>
          </a:p>
        </p:txBody>
      </p:sp>
    </p:spTree>
    <p:extLst>
      <p:ext uri="{BB962C8B-B14F-4D97-AF65-F5344CB8AC3E}">
        <p14:creationId xmlns:p14="http://schemas.microsoft.com/office/powerpoint/2010/main" val="3837673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venir Next LT Pro" panose="020B0504020202020204" pitchFamily="34" charset="77"/>
        <a:ea typeface="+mn-ea"/>
        <a:cs typeface="+mn-cs"/>
      </a:defRPr>
    </a:lvl1pPr>
    <a:lvl2pPr marL="457200" algn="l" defTabSz="914400" rtl="0" eaLnBrk="1" latinLnBrk="0" hangingPunct="1">
      <a:defRPr sz="1200" b="0" i="0" kern="1200">
        <a:solidFill>
          <a:schemeClr val="tx1"/>
        </a:solidFill>
        <a:latin typeface="Avenir Next LT Pro" panose="020B0504020202020204" pitchFamily="34" charset="77"/>
        <a:ea typeface="+mn-ea"/>
        <a:cs typeface="+mn-cs"/>
      </a:defRPr>
    </a:lvl2pPr>
    <a:lvl3pPr marL="914400" algn="l" defTabSz="914400" rtl="0" eaLnBrk="1" latinLnBrk="0" hangingPunct="1">
      <a:defRPr sz="1200" b="0" i="0" kern="1200">
        <a:solidFill>
          <a:schemeClr val="tx1"/>
        </a:solidFill>
        <a:latin typeface="Avenir Next LT Pro" panose="020B0504020202020204" pitchFamily="34" charset="77"/>
        <a:ea typeface="+mn-ea"/>
        <a:cs typeface="+mn-cs"/>
      </a:defRPr>
    </a:lvl3pPr>
    <a:lvl4pPr marL="1371600" algn="l" defTabSz="914400" rtl="0" eaLnBrk="1" latinLnBrk="0" hangingPunct="1">
      <a:defRPr sz="1200" b="0" i="0" kern="1200">
        <a:solidFill>
          <a:schemeClr val="tx1"/>
        </a:solidFill>
        <a:latin typeface="Avenir Next LT Pro" panose="020B0504020202020204" pitchFamily="34" charset="77"/>
        <a:ea typeface="+mn-ea"/>
        <a:cs typeface="+mn-cs"/>
      </a:defRPr>
    </a:lvl4pPr>
    <a:lvl5pPr marL="1828800" algn="l" defTabSz="914400" rtl="0" eaLnBrk="1" latinLnBrk="0" hangingPunct="1">
      <a:defRPr sz="1200" b="0" i="0" kern="1200">
        <a:solidFill>
          <a:schemeClr val="tx1"/>
        </a:solidFill>
        <a:latin typeface="Avenir Next LT Pro" panose="020B0504020202020204"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Freeform: Shape 10">
            <a:extLst>
              <a:ext uri="{FF2B5EF4-FFF2-40B4-BE49-F238E27FC236}">
                <a16:creationId xmlns:a16="http://schemas.microsoft.com/office/drawing/2014/main" id="{36C9E3C6-3D77-48A0-BB42-435128D2BFB6}"/>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pic>
        <p:nvPicPr>
          <p:cNvPr id="28" name="Picture 27">
            <a:extLst>
              <a:ext uri="{FF2B5EF4-FFF2-40B4-BE49-F238E27FC236}">
                <a16:creationId xmlns:a16="http://schemas.microsoft.com/office/drawing/2014/main" id="{3D8DC743-EE79-0E0B-9465-7B99DEDEE13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427" y="6244281"/>
            <a:ext cx="1853512" cy="296562"/>
          </a:xfrm>
          <a:prstGeom prst="rect">
            <a:avLst/>
          </a:prstGeom>
        </p:spPr>
      </p:pic>
      <p:sp>
        <p:nvSpPr>
          <p:cNvPr id="15" name="Freeform: Shape 14">
            <a:extLst>
              <a:ext uri="{FF2B5EF4-FFF2-40B4-BE49-F238E27FC236}">
                <a16:creationId xmlns:a16="http://schemas.microsoft.com/office/drawing/2014/main" id="{44DACC04-0D94-46AB-A6DA-E4FB2E5510FC}"/>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7" name="Text Placeholder 22">
            <a:extLst>
              <a:ext uri="{FF2B5EF4-FFF2-40B4-BE49-F238E27FC236}">
                <a16:creationId xmlns:a16="http://schemas.microsoft.com/office/drawing/2014/main" id="{9BEB4B68-7419-47AA-9245-349BE7310631}"/>
              </a:ext>
            </a:extLst>
          </p:cNvPr>
          <p:cNvSpPr>
            <a:spLocks noGrp="1"/>
          </p:cNvSpPr>
          <p:nvPr>
            <p:ph type="body" sz="quarter" idx="10" hasCustomPrompt="1"/>
          </p:nvPr>
        </p:nvSpPr>
        <p:spPr>
          <a:xfrm>
            <a:off x="430427" y="1508796"/>
            <a:ext cx="4710911" cy="3840410"/>
          </a:xfrm>
          <a:prstGeom prst="rect">
            <a:avLst/>
          </a:prstGeom>
        </p:spPr>
        <p:txBody>
          <a:bodyPr anchor="ctr">
            <a:noAutofit/>
          </a:bodyPr>
          <a:lstStyle>
            <a:lvl1pPr marL="0" indent="0">
              <a:lnSpc>
                <a:spcPts val="5400"/>
              </a:lnSpc>
              <a:buNone/>
              <a:defRPr sz="5400" b="1" spc="-150">
                <a:solidFill>
                  <a:schemeClr val="bg1"/>
                </a:solidFill>
              </a:defRPr>
            </a:lvl1pPr>
          </a:lstStyle>
          <a:p>
            <a:pPr lvl="0"/>
            <a:r>
              <a:rPr lang="en-US" dirty="0"/>
              <a:t>Divider slide</a:t>
            </a:r>
          </a:p>
        </p:txBody>
      </p:sp>
    </p:spTree>
    <p:extLst>
      <p:ext uri="{BB962C8B-B14F-4D97-AF65-F5344CB8AC3E}">
        <p14:creationId xmlns:p14="http://schemas.microsoft.com/office/powerpoint/2010/main" val="98639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6" name="Picture 5">
            <a:extLst>
              <a:ext uri="{FF2B5EF4-FFF2-40B4-BE49-F238E27FC236}">
                <a16:creationId xmlns:a16="http://schemas.microsoft.com/office/drawing/2014/main" id="{9D7F8099-F151-EFCD-9E7E-DC0C95FE83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427" y="6244282"/>
            <a:ext cx="1853512" cy="296562"/>
          </a:xfrm>
          <a:prstGeom prst="rect">
            <a:avLst/>
          </a:prstGeom>
        </p:spPr>
      </p:pic>
      <p:sp>
        <p:nvSpPr>
          <p:cNvPr id="3" name="Text Placeholder 22">
            <a:extLst>
              <a:ext uri="{FF2B5EF4-FFF2-40B4-BE49-F238E27FC236}">
                <a16:creationId xmlns:a16="http://schemas.microsoft.com/office/drawing/2014/main" id="{48BA5516-1D82-0C1D-5F41-329A9578028E}"/>
              </a:ext>
            </a:extLst>
          </p:cNvPr>
          <p:cNvSpPr>
            <a:spLocks noGrp="1"/>
          </p:cNvSpPr>
          <p:nvPr>
            <p:ph type="body" sz="quarter" idx="10" hasCustomPrompt="1"/>
          </p:nvPr>
        </p:nvSpPr>
        <p:spPr>
          <a:xfrm>
            <a:off x="430427" y="1508796"/>
            <a:ext cx="4710911" cy="3840410"/>
          </a:xfrm>
          <a:prstGeom prst="rect">
            <a:avLst/>
          </a:prstGeo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sp>
        <p:nvSpPr>
          <p:cNvPr id="7" name="Freeform: Shape 6">
            <a:extLst>
              <a:ext uri="{FF2B5EF4-FFF2-40B4-BE49-F238E27FC236}">
                <a16:creationId xmlns:a16="http://schemas.microsoft.com/office/drawing/2014/main" id="{63364D3D-39EE-4D7D-AAC3-551FA6EAAD8B}"/>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2D386B54-E0D3-4BE9-9457-0E768F29F69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Tree>
    <p:extLst>
      <p:ext uri="{BB962C8B-B14F-4D97-AF65-F5344CB8AC3E}">
        <p14:creationId xmlns:p14="http://schemas.microsoft.com/office/powerpoint/2010/main" val="2074275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6" name="Picture 5">
            <a:extLst>
              <a:ext uri="{FF2B5EF4-FFF2-40B4-BE49-F238E27FC236}">
                <a16:creationId xmlns:a16="http://schemas.microsoft.com/office/drawing/2014/main" id="{9D7F8099-F151-EFCD-9E7E-DC0C95FE83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427" y="6244282"/>
            <a:ext cx="1853512" cy="296562"/>
          </a:xfrm>
          <a:prstGeom prst="rect">
            <a:avLst/>
          </a:prstGeom>
        </p:spPr>
      </p:pic>
      <p:sp>
        <p:nvSpPr>
          <p:cNvPr id="7" name="Freeform: Shape 6">
            <a:extLst>
              <a:ext uri="{FF2B5EF4-FFF2-40B4-BE49-F238E27FC236}">
                <a16:creationId xmlns:a16="http://schemas.microsoft.com/office/drawing/2014/main" id="{550794D9-A7A0-42E5-8938-F082F2AF8642}"/>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E3AB3647-65F3-41D5-B215-452DBD19577A}"/>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0" name="Text Placeholder 22">
            <a:extLst>
              <a:ext uri="{FF2B5EF4-FFF2-40B4-BE49-F238E27FC236}">
                <a16:creationId xmlns:a16="http://schemas.microsoft.com/office/drawing/2014/main" id="{5B922DB7-F43A-4471-B9B4-F9D5D36AD4A1}"/>
              </a:ext>
            </a:extLst>
          </p:cNvPr>
          <p:cNvSpPr>
            <a:spLocks noGrp="1"/>
          </p:cNvSpPr>
          <p:nvPr>
            <p:ph type="body" sz="quarter" idx="10" hasCustomPrompt="1"/>
          </p:nvPr>
        </p:nvSpPr>
        <p:spPr>
          <a:xfrm>
            <a:off x="430427" y="1508796"/>
            <a:ext cx="4710911" cy="3840410"/>
          </a:xfrm>
          <a:prstGeom prst="rect">
            <a:avLst/>
          </a:prstGeo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spTree>
    <p:extLst>
      <p:ext uri="{BB962C8B-B14F-4D97-AF65-F5344CB8AC3E}">
        <p14:creationId xmlns:p14="http://schemas.microsoft.com/office/powerpoint/2010/main" val="1295164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AD027-BF64-E1BD-0663-6ABAB6C45902}"/>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5" name="Picture 4">
            <a:extLst>
              <a:ext uri="{FF2B5EF4-FFF2-40B4-BE49-F238E27FC236}">
                <a16:creationId xmlns:a16="http://schemas.microsoft.com/office/drawing/2014/main" id="{E1C31C34-233B-2B2D-9A0B-A7B869E54CE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427" y="6244281"/>
            <a:ext cx="1853512" cy="296562"/>
          </a:xfrm>
          <a:prstGeom prst="rect">
            <a:avLst/>
          </a:prstGeom>
        </p:spPr>
      </p:pic>
      <p:sp>
        <p:nvSpPr>
          <p:cNvPr id="7" name="Freeform: Shape 6">
            <a:extLst>
              <a:ext uri="{FF2B5EF4-FFF2-40B4-BE49-F238E27FC236}">
                <a16:creationId xmlns:a16="http://schemas.microsoft.com/office/drawing/2014/main" id="{CCF67030-996D-4383-A779-F25980A0A960}"/>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65063DC3-EC7A-423B-8EA8-C8E3E9E7ABA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9" name="Text Placeholder 22">
            <a:extLst>
              <a:ext uri="{FF2B5EF4-FFF2-40B4-BE49-F238E27FC236}">
                <a16:creationId xmlns:a16="http://schemas.microsoft.com/office/drawing/2014/main" id="{0A6532E8-1C50-46CE-BD62-F394ABE7F130}"/>
              </a:ext>
            </a:extLst>
          </p:cNvPr>
          <p:cNvSpPr>
            <a:spLocks noGrp="1"/>
          </p:cNvSpPr>
          <p:nvPr>
            <p:ph type="body" sz="quarter" idx="10" hasCustomPrompt="1"/>
          </p:nvPr>
        </p:nvSpPr>
        <p:spPr>
          <a:xfrm>
            <a:off x="430427" y="1508796"/>
            <a:ext cx="4710911" cy="3840410"/>
          </a:xfrm>
          <a:prstGeom prst="rect">
            <a:avLst/>
          </a:prstGeom>
          <a:ln>
            <a:noFill/>
          </a:ln>
        </p:spPr>
        <p:txBody>
          <a:bodyPr anchor="ctr">
            <a:noAutofit/>
          </a:bodyPr>
          <a:lstStyle>
            <a:lvl1pPr marL="0" indent="0">
              <a:lnSpc>
                <a:spcPts val="5400"/>
              </a:lnSpc>
              <a:buNone/>
              <a:defRPr sz="5400" b="1" spc="-150">
                <a:solidFill>
                  <a:schemeClr val="accent1"/>
                </a:solidFill>
              </a:defRPr>
            </a:lvl1pPr>
          </a:lstStyle>
          <a:p>
            <a:pPr lvl="0"/>
            <a:r>
              <a:rPr lang="en-US" dirty="0"/>
              <a:t>Divider slide</a:t>
            </a:r>
          </a:p>
        </p:txBody>
      </p:sp>
    </p:spTree>
    <p:extLst>
      <p:ext uri="{BB962C8B-B14F-4D97-AF65-F5344CB8AC3E}">
        <p14:creationId xmlns:p14="http://schemas.microsoft.com/office/powerpoint/2010/main" val="332331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D7AE200-9504-4674-BF0F-52A7C2ECB26B}"/>
              </a:ext>
            </a:extLst>
          </p:cNvPr>
          <p:cNvSpPr/>
          <p:nvPr userDrawn="1"/>
        </p:nvSpPr>
        <p:spPr>
          <a:xfrm rot="12360000">
            <a:off x="9428788" y="59472"/>
            <a:ext cx="4003711" cy="7651919"/>
          </a:xfrm>
          <a:custGeom>
            <a:avLst/>
            <a:gdLst>
              <a:gd name="connsiteX0" fmla="*/ 3023460 w 4003711"/>
              <a:gd name="connsiteY0" fmla="*/ 4814576 h 7651919"/>
              <a:gd name="connsiteX1" fmla="*/ 3023460 w 4003711"/>
              <a:gd name="connsiteY1" fmla="*/ 2855035 h 7651919"/>
              <a:gd name="connsiteX2" fmla="*/ 3023555 w 4003711"/>
              <a:gd name="connsiteY2" fmla="*/ 2855035 h 7651919"/>
              <a:gd name="connsiteX3" fmla="*/ 3023626 w 4003711"/>
              <a:gd name="connsiteY3" fmla="*/ 2855040 h 7651919"/>
              <a:gd name="connsiteX4" fmla="*/ 3023626 w 4003711"/>
              <a:gd name="connsiteY4" fmla="*/ 2854806 h 7651919"/>
              <a:gd name="connsiteX5" fmla="*/ 2642210 w 4003711"/>
              <a:gd name="connsiteY5" fmla="*/ 2931812 h 7651919"/>
              <a:gd name="connsiteX6" fmla="*/ 2211092 w 4003711"/>
              <a:gd name="connsiteY6" fmla="*/ 3286824 h 7651919"/>
              <a:gd name="connsiteX7" fmla="*/ 2120782 w 4003711"/>
              <a:gd name="connsiteY7" fmla="*/ 4216109 h 7651919"/>
              <a:gd name="connsiteX8" fmla="*/ 2475795 w 4003711"/>
              <a:gd name="connsiteY8" fmla="*/ 4647233 h 7651919"/>
              <a:gd name="connsiteX9" fmla="*/ 2878332 w 4003711"/>
              <a:gd name="connsiteY9" fmla="*/ 4803936 h 7651919"/>
              <a:gd name="connsiteX10" fmla="*/ 3020813 w 4003711"/>
              <a:gd name="connsiteY10" fmla="*/ 7651919 h 7651919"/>
              <a:gd name="connsiteX11" fmla="*/ 0 w 4003711"/>
              <a:gd name="connsiteY11" fmla="*/ 1458335 h 7651919"/>
              <a:gd name="connsiteX12" fmla="*/ 3033039 w 4003711"/>
              <a:gd name="connsiteY12" fmla="*/ 0 h 7651919"/>
              <a:gd name="connsiteX13" fmla="*/ 3028476 w 4003711"/>
              <a:gd name="connsiteY13" fmla="*/ 2855396 h 7651919"/>
              <a:gd name="connsiteX14" fmla="*/ 3168754 w 4003711"/>
              <a:gd name="connsiteY14" fmla="*/ 2865680 h 7651919"/>
              <a:gd name="connsiteX15" fmla="*/ 3571291 w 4003711"/>
              <a:gd name="connsiteY15" fmla="*/ 3022383 h 7651919"/>
              <a:gd name="connsiteX16" fmla="*/ 3926303 w 4003711"/>
              <a:gd name="connsiteY16" fmla="*/ 3453507 h 7651919"/>
              <a:gd name="connsiteX17" fmla="*/ 3835992 w 4003711"/>
              <a:gd name="connsiteY17" fmla="*/ 4382791 h 7651919"/>
              <a:gd name="connsiteX18" fmla="*/ 3404874 w 4003711"/>
              <a:gd name="connsiteY18" fmla="*/ 4737804 h 7651919"/>
              <a:gd name="connsiteX19" fmla="*/ 3218054 w 4003711"/>
              <a:gd name="connsiteY19" fmla="*/ 4795552 h 7651919"/>
              <a:gd name="connsiteX20" fmla="*/ 3025346 w 4003711"/>
              <a:gd name="connsiteY20" fmla="*/ 4814622 h 765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03711" h="7651919">
                <a:moveTo>
                  <a:pt x="3023460" y="4814576"/>
                </a:moveTo>
                <a:lnTo>
                  <a:pt x="3023460" y="2855035"/>
                </a:lnTo>
                <a:lnTo>
                  <a:pt x="3023555" y="2855035"/>
                </a:lnTo>
                <a:lnTo>
                  <a:pt x="3023626" y="2855040"/>
                </a:lnTo>
                <a:lnTo>
                  <a:pt x="3023626" y="2854806"/>
                </a:lnTo>
                <a:cubicBezTo>
                  <a:pt x="2892600" y="2854553"/>
                  <a:pt x="2762873" y="2880744"/>
                  <a:pt x="2642210" y="2931812"/>
                </a:cubicBezTo>
                <a:cubicBezTo>
                  <a:pt x="2467196" y="3005967"/>
                  <a:pt x="2317443" y="3129285"/>
                  <a:pt x="2211092" y="3286824"/>
                </a:cubicBezTo>
                <a:cubicBezTo>
                  <a:pt x="2025635" y="3561333"/>
                  <a:pt x="1991650" y="3911028"/>
                  <a:pt x="2120782" y="4216109"/>
                </a:cubicBezTo>
                <a:cubicBezTo>
                  <a:pt x="2194937" y="4391127"/>
                  <a:pt x="2318255" y="4540879"/>
                  <a:pt x="2475795" y="4647233"/>
                </a:cubicBezTo>
                <a:cubicBezTo>
                  <a:pt x="2597080" y="4729248"/>
                  <a:pt x="2734731" y="4782541"/>
                  <a:pt x="2878332" y="4803936"/>
                </a:cubicBezTo>
                <a:close/>
                <a:moveTo>
                  <a:pt x="3020813" y="7651919"/>
                </a:moveTo>
                <a:lnTo>
                  <a:pt x="0" y="1458335"/>
                </a:lnTo>
                <a:lnTo>
                  <a:pt x="3033039" y="0"/>
                </a:lnTo>
                <a:lnTo>
                  <a:pt x="3028476" y="2855396"/>
                </a:lnTo>
                <a:lnTo>
                  <a:pt x="3168754" y="2865680"/>
                </a:lnTo>
                <a:cubicBezTo>
                  <a:pt x="3312355" y="2887074"/>
                  <a:pt x="3450006" y="2940368"/>
                  <a:pt x="3571291" y="3022383"/>
                </a:cubicBezTo>
                <a:cubicBezTo>
                  <a:pt x="3728831" y="3128738"/>
                  <a:pt x="3852149" y="3278489"/>
                  <a:pt x="3926303" y="3453507"/>
                </a:cubicBezTo>
                <a:cubicBezTo>
                  <a:pt x="4055434" y="3758588"/>
                  <a:pt x="4021450" y="4108282"/>
                  <a:pt x="3835992" y="4382791"/>
                </a:cubicBezTo>
                <a:cubicBezTo>
                  <a:pt x="3729643" y="4540331"/>
                  <a:pt x="3579889" y="4663649"/>
                  <a:pt x="3404874" y="4737804"/>
                </a:cubicBezTo>
                <a:cubicBezTo>
                  <a:pt x="3344543" y="4763337"/>
                  <a:pt x="3281946" y="4782652"/>
                  <a:pt x="3218054" y="4795552"/>
                </a:cubicBezTo>
                <a:lnTo>
                  <a:pt x="3025346" y="4814622"/>
                </a:lnTo>
                <a:close/>
              </a:path>
            </a:pathLst>
          </a:custGeom>
          <a:solidFill>
            <a:srgbClr val="F7B40F"/>
          </a:solidFill>
          <a:ln w="6319" cap="flat">
            <a:noFill/>
            <a:prstDash val="solid"/>
            <a:miter/>
          </a:ln>
        </p:spPr>
        <p:txBody>
          <a:bodyPr rtlCol="0" anchor="ctr"/>
          <a:lstStyle/>
          <a:p>
            <a:endParaRPr lang="en-US"/>
          </a:p>
        </p:txBody>
      </p:sp>
      <p:sp>
        <p:nvSpPr>
          <p:cNvPr id="18" name="Title 3">
            <a:extLst>
              <a:ext uri="{FF2B5EF4-FFF2-40B4-BE49-F238E27FC236}">
                <a16:creationId xmlns:a16="http://schemas.microsoft.com/office/drawing/2014/main" id="{918726D6-79A8-4DA8-92CA-1119831F83F3}"/>
              </a:ext>
            </a:extLst>
          </p:cNvPr>
          <p:cNvSpPr>
            <a:spLocks noGrp="1"/>
          </p:cNvSpPr>
          <p:nvPr>
            <p:ph type="title"/>
          </p:nvPr>
        </p:nvSpPr>
        <p:spPr>
          <a:xfrm>
            <a:off x="225659" y="301809"/>
            <a:ext cx="10094792" cy="768079"/>
          </a:xfrm>
          <a:prstGeom prst="rect">
            <a:avLst/>
          </a:prstGeom>
          <a:solidFill>
            <a:schemeClr val="bg1">
              <a:lumMod val="95000"/>
            </a:schemeClr>
          </a:solidFill>
        </p:spPr>
        <p:txBody>
          <a:bodyPr>
            <a:normAutofit/>
          </a:bodyPr>
          <a:lstStyle>
            <a:lvl1pPr algn="l">
              <a:defRPr sz="2400" b="1">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7ADEC824-8BF7-4D33-B247-8B8767C0DC40}"/>
              </a:ext>
            </a:extLst>
          </p:cNvPr>
          <p:cNvSpPr>
            <a:spLocks noGrp="1"/>
          </p:cNvSpPr>
          <p:nvPr>
            <p:ph type="body" sz="quarter" idx="12"/>
          </p:nvPr>
        </p:nvSpPr>
        <p:spPr>
          <a:xfrm>
            <a:off x="225659" y="1220792"/>
            <a:ext cx="7728538"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808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D7AE200-9504-4674-BF0F-52A7C2ECB26B}"/>
              </a:ext>
            </a:extLst>
          </p:cNvPr>
          <p:cNvSpPr/>
          <p:nvPr userDrawn="1"/>
        </p:nvSpPr>
        <p:spPr>
          <a:xfrm rot="12360000">
            <a:off x="9428788" y="59472"/>
            <a:ext cx="4003711" cy="7651919"/>
          </a:xfrm>
          <a:custGeom>
            <a:avLst/>
            <a:gdLst>
              <a:gd name="connsiteX0" fmla="*/ 3023460 w 4003711"/>
              <a:gd name="connsiteY0" fmla="*/ 4814576 h 7651919"/>
              <a:gd name="connsiteX1" fmla="*/ 3023460 w 4003711"/>
              <a:gd name="connsiteY1" fmla="*/ 2855035 h 7651919"/>
              <a:gd name="connsiteX2" fmla="*/ 3023555 w 4003711"/>
              <a:gd name="connsiteY2" fmla="*/ 2855035 h 7651919"/>
              <a:gd name="connsiteX3" fmla="*/ 3023626 w 4003711"/>
              <a:gd name="connsiteY3" fmla="*/ 2855040 h 7651919"/>
              <a:gd name="connsiteX4" fmla="*/ 3023626 w 4003711"/>
              <a:gd name="connsiteY4" fmla="*/ 2854806 h 7651919"/>
              <a:gd name="connsiteX5" fmla="*/ 2642210 w 4003711"/>
              <a:gd name="connsiteY5" fmla="*/ 2931812 h 7651919"/>
              <a:gd name="connsiteX6" fmla="*/ 2211092 w 4003711"/>
              <a:gd name="connsiteY6" fmla="*/ 3286824 h 7651919"/>
              <a:gd name="connsiteX7" fmla="*/ 2120782 w 4003711"/>
              <a:gd name="connsiteY7" fmla="*/ 4216109 h 7651919"/>
              <a:gd name="connsiteX8" fmla="*/ 2475795 w 4003711"/>
              <a:gd name="connsiteY8" fmla="*/ 4647233 h 7651919"/>
              <a:gd name="connsiteX9" fmla="*/ 2878332 w 4003711"/>
              <a:gd name="connsiteY9" fmla="*/ 4803936 h 7651919"/>
              <a:gd name="connsiteX10" fmla="*/ 3020813 w 4003711"/>
              <a:gd name="connsiteY10" fmla="*/ 7651919 h 7651919"/>
              <a:gd name="connsiteX11" fmla="*/ 0 w 4003711"/>
              <a:gd name="connsiteY11" fmla="*/ 1458335 h 7651919"/>
              <a:gd name="connsiteX12" fmla="*/ 3033039 w 4003711"/>
              <a:gd name="connsiteY12" fmla="*/ 0 h 7651919"/>
              <a:gd name="connsiteX13" fmla="*/ 3028476 w 4003711"/>
              <a:gd name="connsiteY13" fmla="*/ 2855396 h 7651919"/>
              <a:gd name="connsiteX14" fmla="*/ 3168754 w 4003711"/>
              <a:gd name="connsiteY14" fmla="*/ 2865680 h 7651919"/>
              <a:gd name="connsiteX15" fmla="*/ 3571291 w 4003711"/>
              <a:gd name="connsiteY15" fmla="*/ 3022383 h 7651919"/>
              <a:gd name="connsiteX16" fmla="*/ 3926303 w 4003711"/>
              <a:gd name="connsiteY16" fmla="*/ 3453507 h 7651919"/>
              <a:gd name="connsiteX17" fmla="*/ 3835992 w 4003711"/>
              <a:gd name="connsiteY17" fmla="*/ 4382791 h 7651919"/>
              <a:gd name="connsiteX18" fmla="*/ 3404874 w 4003711"/>
              <a:gd name="connsiteY18" fmla="*/ 4737804 h 7651919"/>
              <a:gd name="connsiteX19" fmla="*/ 3218054 w 4003711"/>
              <a:gd name="connsiteY19" fmla="*/ 4795552 h 7651919"/>
              <a:gd name="connsiteX20" fmla="*/ 3025346 w 4003711"/>
              <a:gd name="connsiteY20" fmla="*/ 4814622 h 765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03711" h="7651919">
                <a:moveTo>
                  <a:pt x="3023460" y="4814576"/>
                </a:moveTo>
                <a:lnTo>
                  <a:pt x="3023460" y="2855035"/>
                </a:lnTo>
                <a:lnTo>
                  <a:pt x="3023555" y="2855035"/>
                </a:lnTo>
                <a:lnTo>
                  <a:pt x="3023626" y="2855040"/>
                </a:lnTo>
                <a:lnTo>
                  <a:pt x="3023626" y="2854806"/>
                </a:lnTo>
                <a:cubicBezTo>
                  <a:pt x="2892600" y="2854553"/>
                  <a:pt x="2762873" y="2880744"/>
                  <a:pt x="2642210" y="2931812"/>
                </a:cubicBezTo>
                <a:cubicBezTo>
                  <a:pt x="2467196" y="3005967"/>
                  <a:pt x="2317443" y="3129285"/>
                  <a:pt x="2211092" y="3286824"/>
                </a:cubicBezTo>
                <a:cubicBezTo>
                  <a:pt x="2025635" y="3561333"/>
                  <a:pt x="1991650" y="3911028"/>
                  <a:pt x="2120782" y="4216109"/>
                </a:cubicBezTo>
                <a:cubicBezTo>
                  <a:pt x="2194937" y="4391127"/>
                  <a:pt x="2318255" y="4540879"/>
                  <a:pt x="2475795" y="4647233"/>
                </a:cubicBezTo>
                <a:cubicBezTo>
                  <a:pt x="2597080" y="4729248"/>
                  <a:pt x="2734731" y="4782541"/>
                  <a:pt x="2878332" y="4803936"/>
                </a:cubicBezTo>
                <a:close/>
                <a:moveTo>
                  <a:pt x="3020813" y="7651919"/>
                </a:moveTo>
                <a:lnTo>
                  <a:pt x="0" y="1458335"/>
                </a:lnTo>
                <a:lnTo>
                  <a:pt x="3033039" y="0"/>
                </a:lnTo>
                <a:lnTo>
                  <a:pt x="3028476" y="2855396"/>
                </a:lnTo>
                <a:lnTo>
                  <a:pt x="3168754" y="2865680"/>
                </a:lnTo>
                <a:cubicBezTo>
                  <a:pt x="3312355" y="2887074"/>
                  <a:pt x="3450006" y="2940368"/>
                  <a:pt x="3571291" y="3022383"/>
                </a:cubicBezTo>
                <a:cubicBezTo>
                  <a:pt x="3728831" y="3128738"/>
                  <a:pt x="3852149" y="3278489"/>
                  <a:pt x="3926303" y="3453507"/>
                </a:cubicBezTo>
                <a:cubicBezTo>
                  <a:pt x="4055434" y="3758588"/>
                  <a:pt x="4021450" y="4108282"/>
                  <a:pt x="3835992" y="4382791"/>
                </a:cubicBezTo>
                <a:cubicBezTo>
                  <a:pt x="3729643" y="4540331"/>
                  <a:pt x="3579889" y="4663649"/>
                  <a:pt x="3404874" y="4737804"/>
                </a:cubicBezTo>
                <a:cubicBezTo>
                  <a:pt x="3344543" y="4763337"/>
                  <a:pt x="3281946" y="4782652"/>
                  <a:pt x="3218054" y="4795552"/>
                </a:cubicBezTo>
                <a:lnTo>
                  <a:pt x="3025346" y="4814622"/>
                </a:lnTo>
                <a:close/>
              </a:path>
            </a:pathLst>
          </a:custGeom>
          <a:solidFill>
            <a:schemeClr val="tx1"/>
          </a:solidFill>
          <a:ln w="6319" cap="flat">
            <a:noFill/>
            <a:prstDash val="solid"/>
            <a:miter/>
          </a:ln>
        </p:spPr>
        <p:txBody>
          <a:bodyPr rtlCol="0" anchor="ctr"/>
          <a:lstStyle/>
          <a:p>
            <a:endParaRPr lang="en-US"/>
          </a:p>
        </p:txBody>
      </p:sp>
      <p:sp>
        <p:nvSpPr>
          <p:cNvPr id="18" name="Title 3">
            <a:extLst>
              <a:ext uri="{FF2B5EF4-FFF2-40B4-BE49-F238E27FC236}">
                <a16:creationId xmlns:a16="http://schemas.microsoft.com/office/drawing/2014/main" id="{918726D6-79A8-4DA8-92CA-1119831F83F3}"/>
              </a:ext>
            </a:extLst>
          </p:cNvPr>
          <p:cNvSpPr>
            <a:spLocks noGrp="1"/>
          </p:cNvSpPr>
          <p:nvPr>
            <p:ph type="title"/>
          </p:nvPr>
        </p:nvSpPr>
        <p:spPr>
          <a:xfrm>
            <a:off x="225659" y="301809"/>
            <a:ext cx="10094792" cy="768079"/>
          </a:xfrm>
          <a:prstGeom prst="rect">
            <a:avLst/>
          </a:prstGeom>
          <a:solidFill>
            <a:schemeClr val="bg1">
              <a:lumMod val="95000"/>
            </a:schemeClr>
          </a:solidFill>
        </p:spPr>
        <p:txBody>
          <a:bodyPr>
            <a:normAutofit/>
          </a:bodyPr>
          <a:lstStyle>
            <a:lvl1pPr algn="l">
              <a:defRPr sz="2400" b="1">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7ADEC824-8BF7-4D33-B247-8B8767C0DC40}"/>
              </a:ext>
            </a:extLst>
          </p:cNvPr>
          <p:cNvSpPr>
            <a:spLocks noGrp="1"/>
          </p:cNvSpPr>
          <p:nvPr>
            <p:ph type="body" sz="quarter" idx="12"/>
          </p:nvPr>
        </p:nvSpPr>
        <p:spPr>
          <a:xfrm>
            <a:off x="225659" y="1220792"/>
            <a:ext cx="7728538"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5782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591843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80"/>
          </a:xfrm>
          <a:prstGeom prst="rect">
            <a:avLst/>
          </a:prstGeom>
          <a:solidFill>
            <a:schemeClr val="tx1"/>
          </a:solidFill>
        </p:spPr>
        <p:txBody>
          <a:bodyPr>
            <a:normAutofit/>
          </a:bodyPr>
          <a:lstStyle>
            <a:lvl1pPr algn="ctr">
              <a:defRPr sz="2400" b="1">
                <a:solidFill>
                  <a:schemeClr val="accent1"/>
                </a:solidFill>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F492DB64-23CB-4403-ACB4-FDDFB61B3180}"/>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7073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prstGeom prst="rect">
            <a:avLst/>
          </a:prstGeom>
          <a:solidFill>
            <a:schemeClr val="accent1"/>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solidFill>
              <a:schemeClr val="accent1"/>
            </a:solidFill>
            <a:ln w="1094" cap="flat">
              <a:noFill/>
              <a:prstDash val="solid"/>
              <a:miter/>
            </a:ln>
          </p:spPr>
          <p:txBody>
            <a:bodyPr rtlCol="0" anchor="ctr"/>
            <a:lstStyle/>
            <a:p>
              <a:endParaRPr lang="en-US"/>
            </a:p>
          </p:txBody>
        </p:sp>
      </p:grpSp>
      <p:sp>
        <p:nvSpPr>
          <p:cNvPr id="15" name="Text Placeholder 11">
            <a:extLst>
              <a:ext uri="{FF2B5EF4-FFF2-40B4-BE49-F238E27FC236}">
                <a16:creationId xmlns:a16="http://schemas.microsoft.com/office/drawing/2014/main" id="{0E077CDE-5CDB-4EDD-A460-0CAAA5898AB6}"/>
              </a:ext>
            </a:extLst>
          </p:cNvPr>
          <p:cNvSpPr>
            <a:spLocks noGrp="1"/>
          </p:cNvSpPr>
          <p:nvPr>
            <p:ph type="body" sz="quarter" idx="12"/>
          </p:nvPr>
        </p:nvSpPr>
        <p:spPr>
          <a:xfrm>
            <a:off x="225659" y="1220794"/>
            <a:ext cx="11740682" cy="5445124"/>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accent1"/>
                </a:solidFill>
              </a:defRPr>
            </a:lvl1pPr>
            <a:lvl2pPr>
              <a:lnSpc>
                <a:spcPct val="120000"/>
              </a:lnSpc>
              <a:defRPr sz="1200">
                <a:solidFill>
                  <a:schemeClr val="accent1"/>
                </a:solidFill>
              </a:defRPr>
            </a:lvl2pPr>
            <a:lvl3pPr>
              <a:lnSpc>
                <a:spcPct val="120000"/>
              </a:lnSpc>
              <a:defRPr sz="1100">
                <a:solidFill>
                  <a:schemeClr val="accent1"/>
                </a:solidFill>
              </a:defRPr>
            </a:lvl3pPr>
            <a:lvl4pPr>
              <a:lnSpc>
                <a:spcPct val="120000"/>
              </a:lnSpc>
              <a:defRPr sz="1050">
                <a:solidFill>
                  <a:schemeClr val="accent1"/>
                </a:solidFill>
              </a:defRPr>
            </a:lvl4pPr>
            <a:lvl5pPr>
              <a:lnSpc>
                <a:spcPct val="120000"/>
              </a:lnSpc>
              <a:defRPr sz="10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4449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725473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a:solidFill>
            <a:srgbClr val="EBFAFF"/>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51760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706525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923359" y="3553925"/>
            <a:ext cx="155448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621059" y="3553925"/>
            <a:ext cx="155448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5318759" y="3553925"/>
            <a:ext cx="1554480"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7016459" y="3553925"/>
            <a:ext cx="1554480"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923359" y="1950002"/>
            <a:ext cx="155448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621059" y="1950002"/>
            <a:ext cx="155448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5318759" y="1950002"/>
            <a:ext cx="1554480" cy="505086"/>
          </a:xfrm>
          <a:prstGeom prst="rect">
            <a:avLst/>
          </a:prstGeom>
          <a:solidFill>
            <a:schemeClr val="accent5">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7016459" y="1950002"/>
            <a:ext cx="155448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3187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0164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74118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37" name="Text Placeholder 51">
            <a:extLst>
              <a:ext uri="{FF2B5EF4-FFF2-40B4-BE49-F238E27FC236}">
                <a16:creationId xmlns:a16="http://schemas.microsoft.com/office/drawing/2014/main" id="{0700F924-8D42-44D6-BA28-8FC5BA476995}"/>
              </a:ext>
            </a:extLst>
          </p:cNvPr>
          <p:cNvSpPr>
            <a:spLocks noGrp="1"/>
          </p:cNvSpPr>
          <p:nvPr>
            <p:ph type="body" sz="quarter" idx="41"/>
          </p:nvPr>
        </p:nvSpPr>
        <p:spPr>
          <a:xfrm>
            <a:off x="8714159" y="3553925"/>
            <a:ext cx="1554480" cy="3111991"/>
          </a:xfrm>
          <a:prstGeom prst="rect">
            <a:avLst/>
          </a:prstGeom>
          <a:solidFill>
            <a:schemeClr val="accent6">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30">
            <a:extLst>
              <a:ext uri="{FF2B5EF4-FFF2-40B4-BE49-F238E27FC236}">
                <a16:creationId xmlns:a16="http://schemas.microsoft.com/office/drawing/2014/main" id="{7A694BA8-79FA-47FE-9D4F-1976106AD160}"/>
              </a:ext>
            </a:extLst>
          </p:cNvPr>
          <p:cNvSpPr>
            <a:spLocks noGrp="1"/>
          </p:cNvSpPr>
          <p:nvPr>
            <p:ph type="body" sz="quarter" idx="42"/>
          </p:nvPr>
        </p:nvSpPr>
        <p:spPr>
          <a:xfrm>
            <a:off x="8714159" y="1950002"/>
            <a:ext cx="1554480" cy="505086"/>
          </a:xfrm>
          <a:prstGeom prst="rect">
            <a:avLst/>
          </a:prstGeom>
          <a:solidFill>
            <a:schemeClr val="accent6"/>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Picture Placeholder 23">
            <a:extLst>
              <a:ext uri="{FF2B5EF4-FFF2-40B4-BE49-F238E27FC236}">
                <a16:creationId xmlns:a16="http://schemas.microsoft.com/office/drawing/2014/main" id="{A0C130CB-DA88-4919-B95D-A77C5057261E}"/>
              </a:ext>
            </a:extLst>
          </p:cNvPr>
          <p:cNvSpPr>
            <a:spLocks noGrp="1"/>
          </p:cNvSpPr>
          <p:nvPr>
            <p:ph type="pic" sz="quarter" idx="43"/>
          </p:nvPr>
        </p:nvSpPr>
        <p:spPr>
          <a:xfrm>
            <a:off x="91095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145743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9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208035" y="3553925"/>
            <a:ext cx="182880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190411" y="3553925"/>
            <a:ext cx="182880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172787" y="3553925"/>
            <a:ext cx="1828800" cy="3111991"/>
          </a:xfrm>
          <a:prstGeom prst="rect">
            <a:avLst/>
          </a:prstGeom>
          <a:solidFill>
            <a:srgbClr val="E6E7E9"/>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155163" y="3553925"/>
            <a:ext cx="1828800" cy="3111991"/>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208035" y="1950002"/>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190411"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172787" y="1950002"/>
            <a:ext cx="1828800" cy="505086"/>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155163"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74057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7229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67053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868770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8944623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7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504990" y="3350573"/>
            <a:ext cx="1828800" cy="174041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956063" y="3350573"/>
            <a:ext cx="1828800" cy="174041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407136" y="3350573"/>
            <a:ext cx="1828800" cy="1740417"/>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858210" y="3350573"/>
            <a:ext cx="1828800" cy="1740417"/>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504990" y="2658100"/>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956063" y="2658100"/>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407136" y="2658100"/>
            <a:ext cx="1828800"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858210" y="2658100"/>
            <a:ext cx="182880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6969684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9726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2257659"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553925"/>
            <a:ext cx="225765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553925"/>
            <a:ext cx="2257659"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553925"/>
            <a:ext cx="2257659"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553925"/>
            <a:ext cx="2257659"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334338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808489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104556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7675274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800475"/>
            <a:ext cx="2257659" cy="286544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800475"/>
            <a:ext cx="2257659" cy="286544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800475"/>
            <a:ext cx="2257659" cy="286544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800475"/>
            <a:ext cx="2257659" cy="286544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800475"/>
            <a:ext cx="2257659" cy="286544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7" name="Picture Placeholder 23">
            <a:extLst>
              <a:ext uri="{FF2B5EF4-FFF2-40B4-BE49-F238E27FC236}">
                <a16:creationId xmlns:a16="http://schemas.microsoft.com/office/drawing/2014/main" id="{4DD2D93C-3A81-4F3F-9C4E-046E0024EF5D}"/>
              </a:ext>
            </a:extLst>
          </p:cNvPr>
          <p:cNvSpPr>
            <a:spLocks noGrp="1"/>
          </p:cNvSpPr>
          <p:nvPr>
            <p:ph type="pic" sz="quarter" idx="13"/>
          </p:nvPr>
        </p:nvSpPr>
        <p:spPr>
          <a:xfrm>
            <a:off x="95954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210D97CA-106E-4B03-B74F-F5C50ED9076A}"/>
              </a:ext>
            </a:extLst>
          </p:cNvPr>
          <p:cNvSpPr>
            <a:spLocks noGrp="1"/>
          </p:cNvSpPr>
          <p:nvPr>
            <p:ph type="pic" sz="quarter" idx="37"/>
          </p:nvPr>
        </p:nvSpPr>
        <p:spPr>
          <a:xfrm>
            <a:off x="336893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F22CF457-B9E2-418F-84A6-BA5971136B35}"/>
              </a:ext>
            </a:extLst>
          </p:cNvPr>
          <p:cNvSpPr>
            <a:spLocks noGrp="1"/>
          </p:cNvSpPr>
          <p:nvPr>
            <p:ph type="pic" sz="quarter" idx="38"/>
          </p:nvPr>
        </p:nvSpPr>
        <p:spPr>
          <a:xfrm>
            <a:off x="577832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B7D355E2-43CB-4500-86E0-4015801E36F7}"/>
              </a:ext>
            </a:extLst>
          </p:cNvPr>
          <p:cNvSpPr>
            <a:spLocks noGrp="1"/>
          </p:cNvSpPr>
          <p:nvPr>
            <p:ph type="pic" sz="quarter" idx="39"/>
          </p:nvPr>
        </p:nvSpPr>
        <p:spPr>
          <a:xfrm>
            <a:off x="818771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C78ADF31-6994-4008-81BE-B0F342E45255}"/>
              </a:ext>
            </a:extLst>
          </p:cNvPr>
          <p:cNvSpPr>
            <a:spLocks noGrp="1"/>
          </p:cNvSpPr>
          <p:nvPr>
            <p:ph type="pic" sz="quarter" idx="40"/>
          </p:nvPr>
        </p:nvSpPr>
        <p:spPr>
          <a:xfrm>
            <a:off x="1059710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6" name="Text Placeholder 30">
            <a:extLst>
              <a:ext uri="{FF2B5EF4-FFF2-40B4-BE49-F238E27FC236}">
                <a16:creationId xmlns:a16="http://schemas.microsoft.com/office/drawing/2014/main" id="{DB9CB25F-E0B6-4AA7-8B18-B8768E497698}"/>
              </a:ext>
            </a:extLst>
          </p:cNvPr>
          <p:cNvSpPr>
            <a:spLocks noGrp="1"/>
          </p:cNvSpPr>
          <p:nvPr>
            <p:ph type="body" sz="quarter" idx="41"/>
          </p:nvPr>
        </p:nvSpPr>
        <p:spPr>
          <a:xfrm>
            <a:off x="225658"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7" name="Text Placeholder 30">
            <a:extLst>
              <a:ext uri="{FF2B5EF4-FFF2-40B4-BE49-F238E27FC236}">
                <a16:creationId xmlns:a16="http://schemas.microsoft.com/office/drawing/2014/main" id="{4952AB2C-47D8-47C2-BFFD-85F5CB21967B}"/>
              </a:ext>
            </a:extLst>
          </p:cNvPr>
          <p:cNvSpPr>
            <a:spLocks noGrp="1"/>
          </p:cNvSpPr>
          <p:nvPr>
            <p:ph type="body" sz="quarter" idx="42"/>
          </p:nvPr>
        </p:nvSpPr>
        <p:spPr>
          <a:xfrm>
            <a:off x="2596414" y="3296206"/>
            <a:ext cx="2257659" cy="456644"/>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30">
            <a:extLst>
              <a:ext uri="{FF2B5EF4-FFF2-40B4-BE49-F238E27FC236}">
                <a16:creationId xmlns:a16="http://schemas.microsoft.com/office/drawing/2014/main" id="{86E5C667-2882-4C63-A7C3-57EBAE533A0F}"/>
              </a:ext>
            </a:extLst>
          </p:cNvPr>
          <p:cNvSpPr>
            <a:spLocks noGrp="1"/>
          </p:cNvSpPr>
          <p:nvPr>
            <p:ph type="body" sz="quarter" idx="43"/>
          </p:nvPr>
        </p:nvSpPr>
        <p:spPr>
          <a:xfrm>
            <a:off x="4967170"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Text Placeholder 30">
            <a:extLst>
              <a:ext uri="{FF2B5EF4-FFF2-40B4-BE49-F238E27FC236}">
                <a16:creationId xmlns:a16="http://schemas.microsoft.com/office/drawing/2014/main" id="{EF5B304C-EFDE-4D9D-B143-18A54AE5AF8F}"/>
              </a:ext>
            </a:extLst>
          </p:cNvPr>
          <p:cNvSpPr>
            <a:spLocks noGrp="1"/>
          </p:cNvSpPr>
          <p:nvPr>
            <p:ph type="body" sz="quarter" idx="44"/>
          </p:nvPr>
        </p:nvSpPr>
        <p:spPr>
          <a:xfrm>
            <a:off x="7337926" y="3296206"/>
            <a:ext cx="2257659" cy="456644"/>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0" name="Text Placeholder 30">
            <a:extLst>
              <a:ext uri="{FF2B5EF4-FFF2-40B4-BE49-F238E27FC236}">
                <a16:creationId xmlns:a16="http://schemas.microsoft.com/office/drawing/2014/main" id="{4A70E18B-14D7-4E3F-8D9A-19CE43521534}"/>
              </a:ext>
            </a:extLst>
          </p:cNvPr>
          <p:cNvSpPr>
            <a:spLocks noGrp="1"/>
          </p:cNvSpPr>
          <p:nvPr>
            <p:ph type="body" sz="quarter" idx="45"/>
          </p:nvPr>
        </p:nvSpPr>
        <p:spPr>
          <a:xfrm>
            <a:off x="9708682" y="3296206"/>
            <a:ext cx="2257659" cy="456644"/>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397724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8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32530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9"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9" y="3808071"/>
            <a:ext cx="2834640" cy="2765247"/>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3194340" y="3808071"/>
            <a:ext cx="2834640" cy="276524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6163021" y="3808071"/>
            <a:ext cx="2834640" cy="276524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9131701" y="3808071"/>
            <a:ext cx="2834640" cy="2765247"/>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3194340" y="1950002"/>
            <a:ext cx="2834640" cy="505086"/>
          </a:xfrm>
          <a:prstGeom prst="rect">
            <a:avLst/>
          </a:prstGeom>
          <a:solidFill>
            <a:schemeClr val="accent2"/>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6163021"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9131701" y="1950002"/>
            <a:ext cx="2834640" cy="505086"/>
          </a:xfrm>
          <a:prstGeom prst="rect">
            <a:avLst/>
          </a:prstGeom>
          <a:solidFill>
            <a:schemeClr val="tx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429398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726266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1023134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1" name="Text Placeholder 30">
            <a:extLst>
              <a:ext uri="{FF2B5EF4-FFF2-40B4-BE49-F238E27FC236}">
                <a16:creationId xmlns:a16="http://schemas.microsoft.com/office/drawing/2014/main" id="{964DBC53-E2F7-4AFC-9655-0F95A8C4F7C5}"/>
              </a:ext>
            </a:extLst>
          </p:cNvPr>
          <p:cNvSpPr>
            <a:spLocks noGrp="1"/>
          </p:cNvSpPr>
          <p:nvPr>
            <p:ph type="body" sz="quarter" idx="41"/>
          </p:nvPr>
        </p:nvSpPr>
        <p:spPr>
          <a:xfrm>
            <a:off x="225659"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9C5577BC-F563-4246-A8BA-342C10024E0E}"/>
              </a:ext>
            </a:extLst>
          </p:cNvPr>
          <p:cNvSpPr>
            <a:spLocks noGrp="1"/>
          </p:cNvSpPr>
          <p:nvPr>
            <p:ph type="body" sz="quarter" idx="42"/>
          </p:nvPr>
        </p:nvSpPr>
        <p:spPr>
          <a:xfrm>
            <a:off x="3194340" y="3303298"/>
            <a:ext cx="2834640" cy="454880"/>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503FFEA0-F500-4280-AEB9-0DA2E7924473}"/>
              </a:ext>
            </a:extLst>
          </p:cNvPr>
          <p:cNvSpPr>
            <a:spLocks noGrp="1"/>
          </p:cNvSpPr>
          <p:nvPr>
            <p:ph type="body" sz="quarter" idx="43"/>
          </p:nvPr>
        </p:nvSpPr>
        <p:spPr>
          <a:xfrm>
            <a:off x="6163021"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2F52D586-1F88-4F71-A0EF-A8D7655C3A3C}"/>
              </a:ext>
            </a:extLst>
          </p:cNvPr>
          <p:cNvSpPr>
            <a:spLocks noGrp="1"/>
          </p:cNvSpPr>
          <p:nvPr>
            <p:ph type="body" sz="quarter" idx="44"/>
          </p:nvPr>
        </p:nvSpPr>
        <p:spPr>
          <a:xfrm>
            <a:off x="9131701" y="3303298"/>
            <a:ext cx="2834640" cy="454880"/>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A50CAE69-9B28-46A8-AEF2-08F15504C837}"/>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2658366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26328450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3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3184210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86237BDA-FBA5-4295-8598-6B4458C22E48}"/>
              </a:ext>
            </a:extLst>
          </p:cNvPr>
          <p:cNvSpPr>
            <a:spLocks noGrp="1"/>
          </p:cNvSpPr>
          <p:nvPr>
            <p:ph type="body" sz="quarter" idx="13"/>
          </p:nvPr>
        </p:nvSpPr>
        <p:spPr>
          <a:xfrm>
            <a:off x="4175761" y="1220792"/>
            <a:ext cx="3840480" cy="5445125"/>
          </a:xfrm>
          <a:prstGeom prst="rect">
            <a:avLst/>
          </a:prstGeom>
          <a:solidFill>
            <a:schemeClr val="accent4">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1">
            <a:extLst>
              <a:ext uri="{FF2B5EF4-FFF2-40B4-BE49-F238E27FC236}">
                <a16:creationId xmlns:a16="http://schemas.microsoft.com/office/drawing/2014/main" id="{4C08B3EF-51E0-4AC0-821F-414257F3CA80}"/>
              </a:ext>
            </a:extLst>
          </p:cNvPr>
          <p:cNvSpPr>
            <a:spLocks noGrp="1"/>
          </p:cNvSpPr>
          <p:nvPr>
            <p:ph type="body" sz="quarter" idx="14"/>
          </p:nvPr>
        </p:nvSpPr>
        <p:spPr>
          <a:xfrm>
            <a:off x="81258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2566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3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26974E49-84C0-4186-9A76-B73925239BFB}"/>
              </a:ext>
            </a:extLst>
          </p:cNvPr>
          <p:cNvSpPr>
            <a:spLocks noGrp="1"/>
          </p:cNvSpPr>
          <p:nvPr>
            <p:ph type="body" sz="quarter" idx="13"/>
          </p:nvPr>
        </p:nvSpPr>
        <p:spPr>
          <a:xfrm>
            <a:off x="41757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868167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0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364588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0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11740682"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41663571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1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4" y="1220788"/>
            <a:ext cx="5824807"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6141534" y="1220788"/>
            <a:ext cx="5824807"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41952000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812617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935116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3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2863189"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184667" y="1220788"/>
            <a:ext cx="2863189"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43909" y="1220788"/>
            <a:ext cx="2863189"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03152" y="1220788"/>
            <a:ext cx="2863189"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0019418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4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20788"/>
            <a:ext cx="2266678"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3985"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544" y="1220788"/>
            <a:ext cx="2266678"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41351448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rgbClr val="EBFAFF"/>
          </a:solidFill>
        </p:spPr>
        <p:txBody>
          <a:bodyPr anchor="ctr">
            <a:normAutofit/>
          </a:bodyPr>
          <a:lstStyle>
            <a:lvl1pPr marL="0" indent="0" algn="l">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7096278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16496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225659" y="1200150"/>
            <a:ext cx="2266678" cy="5465763"/>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2594219" y="1200150"/>
            <a:ext cx="2266678" cy="5465763"/>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496277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496277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7056213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1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00150"/>
            <a:ext cx="2266678" cy="546576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50"/>
            <a:ext cx="2266678" cy="5465763"/>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25659" y="1200154"/>
            <a:ext cx="7003562" cy="5465763"/>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500489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2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259005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4962779"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17010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83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590056"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54550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9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593985"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450501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80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25659"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62066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6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29244"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81377" y="1200150"/>
            <a:ext cx="3829244"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37097" y="1200150"/>
            <a:ext cx="3829244"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4014153"/>
            <a:ext cx="3829244"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4181377" y="4014153"/>
            <a:ext cx="3829244"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8137097" y="4014153"/>
            <a:ext cx="3829244"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25205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8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48652"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71674" y="1200150"/>
            <a:ext cx="3848652"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17689" y="1200150"/>
            <a:ext cx="3848652" cy="2651760"/>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3985260"/>
            <a:ext cx="2855088" cy="2680653"/>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3187523" y="3985260"/>
            <a:ext cx="2855088" cy="2680653"/>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6149388" y="3985260"/>
            <a:ext cx="2855088" cy="268065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7C907B21-C42F-4E67-90D1-7C7D6654F780}"/>
              </a:ext>
            </a:extLst>
          </p:cNvPr>
          <p:cNvSpPr>
            <a:spLocks noGrp="1"/>
          </p:cNvSpPr>
          <p:nvPr>
            <p:ph type="pic" sz="quarter" idx="26"/>
          </p:nvPr>
        </p:nvSpPr>
        <p:spPr>
          <a:xfrm>
            <a:off x="9111253" y="3985260"/>
            <a:ext cx="2855088" cy="2680653"/>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6207272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7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3529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601830" y="1200150"/>
            <a:ext cx="223529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78234" y="1200150"/>
            <a:ext cx="223529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54638" y="1200150"/>
            <a:ext cx="223529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31043" y="1200150"/>
            <a:ext cx="223529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601830" y="4014153"/>
            <a:ext cx="223529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78234" y="4014153"/>
            <a:ext cx="223529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54638" y="4014153"/>
            <a:ext cx="223529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632387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797215" cy="2672398"/>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206659" y="1200150"/>
            <a:ext cx="2797215"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87892" y="1200150"/>
            <a:ext cx="2797215"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69126" y="1200150"/>
            <a:ext cx="2797215"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8E1C959A-9A20-4E05-9AAA-6F4A99BC55E2}"/>
              </a:ext>
            </a:extLst>
          </p:cNvPr>
          <p:cNvSpPr>
            <a:spLocks noGrp="1"/>
          </p:cNvSpPr>
          <p:nvPr>
            <p:ph type="pic" sz="quarter" idx="25"/>
          </p:nvPr>
        </p:nvSpPr>
        <p:spPr>
          <a:xfrm>
            <a:off x="225426" y="4014153"/>
            <a:ext cx="2797215"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52029BCF-3B28-419D-80EA-563EFCEEEA8D}"/>
              </a:ext>
            </a:extLst>
          </p:cNvPr>
          <p:cNvSpPr>
            <a:spLocks noGrp="1"/>
          </p:cNvSpPr>
          <p:nvPr>
            <p:ph type="pic" sz="quarter" idx="26"/>
          </p:nvPr>
        </p:nvSpPr>
        <p:spPr>
          <a:xfrm>
            <a:off x="3206659" y="4014153"/>
            <a:ext cx="2797215"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C63B053E-E8DC-4741-AB59-865832BDEAAC}"/>
              </a:ext>
            </a:extLst>
          </p:cNvPr>
          <p:cNvSpPr>
            <a:spLocks noGrp="1"/>
          </p:cNvSpPr>
          <p:nvPr>
            <p:ph type="pic" sz="quarter" idx="27"/>
          </p:nvPr>
        </p:nvSpPr>
        <p:spPr>
          <a:xfrm>
            <a:off x="6187892" y="4014153"/>
            <a:ext cx="2797215" cy="2651760"/>
          </a:xfrm>
        </p:spPr>
        <p:txBody>
          <a:bodyPr>
            <a:normAutofit/>
          </a:bodyPr>
          <a:lstStyle>
            <a:lvl1pPr marL="0" indent="0">
              <a:buNone/>
              <a:defRPr sz="1200"/>
            </a:lvl1pPr>
          </a:lstStyle>
          <a:p>
            <a:r>
              <a:rPr lang="en-US"/>
              <a:t>Click icon to add picture</a:t>
            </a:r>
          </a:p>
        </p:txBody>
      </p:sp>
      <p:sp>
        <p:nvSpPr>
          <p:cNvPr id="28" name="Picture Placeholder 4">
            <a:extLst>
              <a:ext uri="{FF2B5EF4-FFF2-40B4-BE49-F238E27FC236}">
                <a16:creationId xmlns:a16="http://schemas.microsoft.com/office/drawing/2014/main" id="{C24012AD-4C79-4AD7-A24F-86252EDD7C39}"/>
              </a:ext>
            </a:extLst>
          </p:cNvPr>
          <p:cNvSpPr>
            <a:spLocks noGrp="1"/>
          </p:cNvSpPr>
          <p:nvPr>
            <p:ph type="pic" sz="quarter" idx="28"/>
          </p:nvPr>
        </p:nvSpPr>
        <p:spPr>
          <a:xfrm>
            <a:off x="9169126" y="4014153"/>
            <a:ext cx="2797215"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0256860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9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6577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4210" y="1200150"/>
            <a:ext cx="226577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994" y="1200150"/>
            <a:ext cx="226577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778" y="1200150"/>
            <a:ext cx="226577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00563" y="1200150"/>
            <a:ext cx="2265778" cy="2651760"/>
          </a:xfrm>
        </p:spPr>
        <p:txBody>
          <a:bodyPr>
            <a:normAutofit/>
          </a:bodyPr>
          <a:lstStyle>
            <a:lvl1pPr marL="0" indent="0">
              <a:buNone/>
              <a:defRPr sz="1200"/>
            </a:lvl1pPr>
          </a:lstStyle>
          <a:p>
            <a:r>
              <a:rPr lang="en-US"/>
              <a:t>Click icon to add picture</a:t>
            </a:r>
          </a:p>
        </p:txBody>
      </p:sp>
      <p:sp>
        <p:nvSpPr>
          <p:cNvPr id="20" name="Picture Placeholder 4">
            <a:extLst>
              <a:ext uri="{FF2B5EF4-FFF2-40B4-BE49-F238E27FC236}">
                <a16:creationId xmlns:a16="http://schemas.microsoft.com/office/drawing/2014/main" id="{EE039B2F-9557-4158-B059-78A8404054BD}"/>
              </a:ext>
            </a:extLst>
          </p:cNvPr>
          <p:cNvSpPr>
            <a:spLocks noGrp="1"/>
          </p:cNvSpPr>
          <p:nvPr>
            <p:ph type="pic" sz="quarter" idx="21"/>
          </p:nvPr>
        </p:nvSpPr>
        <p:spPr>
          <a:xfrm>
            <a:off x="225426" y="4014153"/>
            <a:ext cx="226577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594210" y="4014153"/>
            <a:ext cx="226577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62994" y="4014153"/>
            <a:ext cx="226577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31778" y="4014153"/>
            <a:ext cx="2265778" cy="2651760"/>
          </a:xfrm>
        </p:spPr>
        <p:txBody>
          <a:bodyPr>
            <a:normAutofit/>
          </a:bodyPr>
          <a:lstStyle>
            <a:lvl1pPr marL="0" indent="0">
              <a:buNone/>
              <a:defRPr sz="1200"/>
            </a:lvl1pPr>
          </a:lstStyle>
          <a:p>
            <a:r>
              <a:rPr lang="en-US"/>
              <a:t>Click icon to add picture</a:t>
            </a:r>
          </a:p>
        </p:txBody>
      </p:sp>
      <p:sp>
        <p:nvSpPr>
          <p:cNvPr id="24" name="Picture Placeholder 4">
            <a:extLst>
              <a:ext uri="{FF2B5EF4-FFF2-40B4-BE49-F238E27FC236}">
                <a16:creationId xmlns:a16="http://schemas.microsoft.com/office/drawing/2014/main" id="{EB1F0453-5F1F-4B12-9067-6881905D5530}"/>
              </a:ext>
            </a:extLst>
          </p:cNvPr>
          <p:cNvSpPr>
            <a:spLocks noGrp="1"/>
          </p:cNvSpPr>
          <p:nvPr>
            <p:ph type="pic" sz="quarter" idx="25"/>
          </p:nvPr>
        </p:nvSpPr>
        <p:spPr>
          <a:xfrm>
            <a:off x="9700563" y="4014153"/>
            <a:ext cx="226577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752149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1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200150"/>
            <a:ext cx="3840480" cy="270891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7574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76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783110"/>
            <a:ext cx="3840480" cy="212595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4539963"/>
            <a:ext cx="3840480" cy="2125950"/>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1">
            <a:extLst>
              <a:ext uri="{FF2B5EF4-FFF2-40B4-BE49-F238E27FC236}">
                <a16:creationId xmlns:a16="http://schemas.microsoft.com/office/drawing/2014/main" id="{353F9068-062E-4030-89AB-2D5DC6D79FE3}"/>
              </a:ext>
            </a:extLst>
          </p:cNvPr>
          <p:cNvSpPr>
            <a:spLocks noGrp="1"/>
          </p:cNvSpPr>
          <p:nvPr>
            <p:ph type="body" sz="quarter" idx="18"/>
          </p:nvPr>
        </p:nvSpPr>
        <p:spPr>
          <a:xfrm>
            <a:off x="4175643" y="1200150"/>
            <a:ext cx="3840480" cy="483597"/>
          </a:xfrm>
          <a:prstGeom prst="rect">
            <a:avLst/>
          </a:prstGeom>
          <a:solidFill>
            <a:schemeClr val="bg1">
              <a:lumMod val="95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
        <p:nvSpPr>
          <p:cNvPr id="19" name="Text Placeholder 11">
            <a:extLst>
              <a:ext uri="{FF2B5EF4-FFF2-40B4-BE49-F238E27FC236}">
                <a16:creationId xmlns:a16="http://schemas.microsoft.com/office/drawing/2014/main" id="{E42E8E1E-6E75-4CC1-934E-6CFCE947F977}"/>
              </a:ext>
            </a:extLst>
          </p:cNvPr>
          <p:cNvSpPr>
            <a:spLocks noGrp="1"/>
          </p:cNvSpPr>
          <p:nvPr>
            <p:ph type="body" sz="quarter" idx="19"/>
          </p:nvPr>
        </p:nvSpPr>
        <p:spPr>
          <a:xfrm>
            <a:off x="4175643" y="3987800"/>
            <a:ext cx="3840480" cy="483597"/>
          </a:xfrm>
          <a:prstGeom prst="rect">
            <a:avLst/>
          </a:prstGeom>
          <a:solidFill>
            <a:schemeClr val="accent1">
              <a:lumMod val="20000"/>
              <a:lumOff val="80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3780459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4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4175919"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19" name="Chart Placeholder 8">
            <a:extLst>
              <a:ext uri="{FF2B5EF4-FFF2-40B4-BE49-F238E27FC236}">
                <a16:creationId xmlns:a16="http://schemas.microsoft.com/office/drawing/2014/main" id="{4AF4B466-966D-4059-91DB-9B93ACB85205}"/>
              </a:ext>
            </a:extLst>
          </p:cNvPr>
          <p:cNvSpPr>
            <a:spLocks noGrp="1"/>
          </p:cNvSpPr>
          <p:nvPr>
            <p:ph type="chart" sz="quarter" idx="20"/>
          </p:nvPr>
        </p:nvSpPr>
        <p:spPr>
          <a:xfrm>
            <a:off x="8126178"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20" name="Text Placeholder 11">
            <a:extLst>
              <a:ext uri="{FF2B5EF4-FFF2-40B4-BE49-F238E27FC236}">
                <a16:creationId xmlns:a16="http://schemas.microsoft.com/office/drawing/2014/main" id="{40E2B43B-D464-47D6-BBBB-E3781383A904}"/>
              </a:ext>
            </a:extLst>
          </p:cNvPr>
          <p:cNvSpPr>
            <a:spLocks noGrp="1"/>
          </p:cNvSpPr>
          <p:nvPr>
            <p:ph type="body" sz="quarter" idx="21"/>
          </p:nvPr>
        </p:nvSpPr>
        <p:spPr>
          <a:xfrm>
            <a:off x="8125861"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953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6163563" y="3977641"/>
            <a:ext cx="5802778" cy="2688272"/>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1"/>
            <a:ext cx="5802299" cy="2708908"/>
          </a:xfrm>
          <a:ln>
            <a:noFill/>
          </a:ln>
        </p:spPr>
        <p:txBody>
          <a:bodyPr>
            <a:normAutofit/>
          </a:bodyPr>
          <a:lstStyle>
            <a:lvl1pPr marL="0" indent="0">
              <a:buNone/>
              <a:defRPr sz="1200"/>
            </a:lvl1pPr>
          </a:lstStyle>
          <a:p>
            <a:r>
              <a:rPr lang="en-US"/>
              <a:t>Click icon to add chart</a:t>
            </a:r>
            <a:endParaRPr lang="en-US" dirty="0"/>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6164042" y="1200151"/>
            <a:ext cx="5802299" cy="2708908"/>
          </a:xfrm>
          <a:ln>
            <a:noFill/>
          </a:ln>
        </p:spPr>
        <p:txBody>
          <a:bodyPr>
            <a:normAutofit/>
          </a:bodyPr>
          <a:lstStyle>
            <a:lvl1pPr marL="0" indent="0">
              <a:buNone/>
              <a:defRPr sz="1200"/>
            </a:lvl1pPr>
          </a:lstStyle>
          <a:p>
            <a:r>
              <a:rPr lang="en-US"/>
              <a:t>Click icon to add chart</a:t>
            </a:r>
            <a:endParaRPr lang="en-US" dirty="0"/>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5802778" cy="2688272"/>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58204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4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61740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A picture containing icon&#10;&#10;Description automatically generated">
            <a:extLst>
              <a:ext uri="{FF2B5EF4-FFF2-40B4-BE49-F238E27FC236}">
                <a16:creationId xmlns:a16="http://schemas.microsoft.com/office/drawing/2014/main" id="{67BAF0A1-F324-50E8-3C3D-2951DF8B625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userDrawn="1"/>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userDrawn="1"/>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5196901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702C1A-BAF5-369D-9273-1A3B8BE2C5E8}"/>
              </a:ext>
            </a:extLst>
          </p:cNvPr>
          <p:cNvPicPr>
            <a:picLocks noChangeAspect="1"/>
          </p:cNvPicPr>
          <p:nvPr userDrawn="1"/>
        </p:nvPicPr>
        <p:blipFill>
          <a:blip r:embed="rId2"/>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chemeClr val="accent1"/>
                </a:solidFill>
                <a:latin typeface="Avenir Next LT Pro" panose="020B0504020202020204" pitchFamily="34" charset="77"/>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chemeClr val="bg1"/>
                </a:solidFill>
                <a:latin typeface="+mn-lt"/>
              </a:defRPr>
            </a:lvl1pPr>
          </a:lstStyle>
          <a:p>
            <a:pPr lvl="0"/>
            <a:r>
              <a:rPr lang="en-US"/>
              <a:t>Click to edit Master text styles</a:t>
            </a:r>
          </a:p>
        </p:txBody>
      </p:sp>
      <p:grpSp>
        <p:nvGrpSpPr>
          <p:cNvPr id="27" name="Group 26">
            <a:extLst>
              <a:ext uri="{FF2B5EF4-FFF2-40B4-BE49-F238E27FC236}">
                <a16:creationId xmlns:a16="http://schemas.microsoft.com/office/drawing/2014/main" id="{69E7A2F3-F8A7-8853-C268-639DAF0ADDD0}"/>
              </a:ext>
            </a:extLst>
          </p:cNvPr>
          <p:cNvGrpSpPr/>
          <p:nvPr userDrawn="1"/>
        </p:nvGrpSpPr>
        <p:grpSpPr>
          <a:xfrm>
            <a:off x="559496" y="6073205"/>
            <a:ext cx="2459545" cy="393700"/>
            <a:chOff x="559496" y="6073205"/>
            <a:chExt cx="2459545" cy="393700"/>
          </a:xfrm>
        </p:grpSpPr>
        <p:sp>
          <p:nvSpPr>
            <p:cNvPr id="28" name="Freeform: Shape 27">
              <a:extLst>
                <a:ext uri="{FF2B5EF4-FFF2-40B4-BE49-F238E27FC236}">
                  <a16:creationId xmlns:a16="http://schemas.microsoft.com/office/drawing/2014/main" id="{F9751EB7-6CA5-8BEE-B4A0-923CE6EE8FF8}"/>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273B883D-92FA-C719-9307-072A947E7CB3}"/>
                </a:ext>
              </a:extLst>
            </p:cNvPr>
            <p:cNvGrpSpPr/>
            <p:nvPr userDrawn="1"/>
          </p:nvGrpSpPr>
          <p:grpSpPr>
            <a:xfrm>
              <a:off x="559496" y="6073205"/>
              <a:ext cx="488724" cy="393700"/>
              <a:chOff x="904620" y="6320655"/>
              <a:chExt cx="181548" cy="146249"/>
            </a:xfrm>
          </p:grpSpPr>
          <p:sp>
            <p:nvSpPr>
              <p:cNvPr id="30" name="Freeform: Shape 29">
                <a:extLst>
                  <a:ext uri="{FF2B5EF4-FFF2-40B4-BE49-F238E27FC236}">
                    <a16:creationId xmlns:a16="http://schemas.microsoft.com/office/drawing/2014/main" id="{0EE5A36C-D824-CA81-E2AF-720BA5F0F31F}"/>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C661004-B8FF-C06C-CD73-957CAB1F3B2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9088533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Freeform: Shape 10">
            <a:extLst>
              <a:ext uri="{FF2B5EF4-FFF2-40B4-BE49-F238E27FC236}">
                <a16:creationId xmlns:a16="http://schemas.microsoft.com/office/drawing/2014/main" id="{36C9E3C6-3D77-48A0-BB42-435128D2BFB6}"/>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5" name="Freeform: Shape 14">
            <a:extLst>
              <a:ext uri="{FF2B5EF4-FFF2-40B4-BE49-F238E27FC236}">
                <a16:creationId xmlns:a16="http://schemas.microsoft.com/office/drawing/2014/main" id="{44DACC04-0D94-46AB-A6DA-E4FB2E5510FC}"/>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7" name="Text Placeholder 22">
            <a:extLst>
              <a:ext uri="{FF2B5EF4-FFF2-40B4-BE49-F238E27FC236}">
                <a16:creationId xmlns:a16="http://schemas.microsoft.com/office/drawing/2014/main" id="{9BEB4B68-7419-47AA-9245-349BE731063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chemeClr val="bg1"/>
                </a:solidFill>
              </a:defRPr>
            </a:lvl1pPr>
          </a:lstStyle>
          <a:p>
            <a:pPr lvl="0"/>
            <a:r>
              <a:rPr lang="en-US" dirty="0"/>
              <a:t>Divider slide</a:t>
            </a:r>
          </a:p>
        </p:txBody>
      </p:sp>
      <p:grpSp>
        <p:nvGrpSpPr>
          <p:cNvPr id="2" name="Group 1">
            <a:extLst>
              <a:ext uri="{FF2B5EF4-FFF2-40B4-BE49-F238E27FC236}">
                <a16:creationId xmlns:a16="http://schemas.microsoft.com/office/drawing/2014/main" id="{A8559B55-4F2C-15D2-C310-EE5A18FB0D6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C11B16C1-C0D8-E34E-C69C-010275A66A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ADB9AAA5-8AA8-1B96-1C48-EAA3E7BB46A2}"/>
                </a:ext>
              </a:extLst>
            </p:cNvPr>
            <p:cNvGrpSpPr/>
            <p:nvPr userDrawn="1"/>
          </p:nvGrpSpPr>
          <p:grpSpPr>
            <a:xfrm>
              <a:off x="559496" y="6073205"/>
              <a:ext cx="488724" cy="393700"/>
              <a:chOff x="904620" y="6320655"/>
              <a:chExt cx="181548" cy="146249"/>
            </a:xfrm>
          </p:grpSpPr>
          <p:sp>
            <p:nvSpPr>
              <p:cNvPr id="5" name="Freeform: Shape 4">
                <a:extLst>
                  <a:ext uri="{FF2B5EF4-FFF2-40B4-BE49-F238E27FC236}">
                    <a16:creationId xmlns:a16="http://schemas.microsoft.com/office/drawing/2014/main" id="{8DDBFABC-DF27-E833-CE77-2D375719DEA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4851D4A-786E-A8A3-E7F4-FA6B6E3676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14013293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3" name="Text Placeholder 22">
            <a:extLst>
              <a:ext uri="{FF2B5EF4-FFF2-40B4-BE49-F238E27FC236}">
                <a16:creationId xmlns:a16="http://schemas.microsoft.com/office/drawing/2014/main" id="{48BA5516-1D82-0C1D-5F41-329A9578028E}"/>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sp>
        <p:nvSpPr>
          <p:cNvPr id="7" name="Freeform: Shape 6">
            <a:extLst>
              <a:ext uri="{FF2B5EF4-FFF2-40B4-BE49-F238E27FC236}">
                <a16:creationId xmlns:a16="http://schemas.microsoft.com/office/drawing/2014/main" id="{63364D3D-39EE-4D7D-AAC3-551FA6EAAD8B}"/>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2D386B54-E0D3-4BE9-9457-0E768F29F69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grpSp>
        <p:nvGrpSpPr>
          <p:cNvPr id="2" name="Group 1">
            <a:extLst>
              <a:ext uri="{FF2B5EF4-FFF2-40B4-BE49-F238E27FC236}">
                <a16:creationId xmlns:a16="http://schemas.microsoft.com/office/drawing/2014/main" id="{AF345BD2-86EB-A703-9CAC-606F01C58BB8}"/>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D31048C2-2951-ED66-2CEA-D660CA35434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4FA3BE26-79EA-EBC0-B9D9-E1E4DCCCA5E5}"/>
                </a:ext>
              </a:extLst>
            </p:cNvPr>
            <p:cNvGrpSpPr/>
            <p:nvPr userDrawn="1"/>
          </p:nvGrpSpPr>
          <p:grpSpPr>
            <a:xfrm>
              <a:off x="559496" y="6073205"/>
              <a:ext cx="488724" cy="393700"/>
              <a:chOff x="904620" y="6320655"/>
              <a:chExt cx="181548" cy="146249"/>
            </a:xfrm>
            <a:grpFill/>
          </p:grpSpPr>
          <p:sp>
            <p:nvSpPr>
              <p:cNvPr id="10" name="Freeform: Shape 9">
                <a:extLst>
                  <a:ext uri="{FF2B5EF4-FFF2-40B4-BE49-F238E27FC236}">
                    <a16:creationId xmlns:a16="http://schemas.microsoft.com/office/drawing/2014/main" id="{97F69C2A-1B2E-D8FE-E962-E52D58F620D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763275B-1918-3C9B-DDA0-625CA6DB79B9}"/>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70475931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userDrawn="1"/>
        </p:nvSpPr>
        <p:spPr>
          <a:xfrm>
            <a:off x="0" y="0"/>
            <a:ext cx="12192000" cy="6858000"/>
          </a:xfrm>
          <a:prstGeom prst="rect">
            <a:avLst/>
          </a:pr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550794D9-A7A0-42E5-8938-F082F2AF8642}"/>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E3AB3647-65F3-41D5-B215-452DBD19577A}"/>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0" name="Text Placeholder 22">
            <a:extLst>
              <a:ext uri="{FF2B5EF4-FFF2-40B4-BE49-F238E27FC236}">
                <a16:creationId xmlns:a16="http://schemas.microsoft.com/office/drawing/2014/main" id="{5B922DB7-F43A-4471-B9B4-F9D5D36AD4A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grpSp>
        <p:nvGrpSpPr>
          <p:cNvPr id="2" name="Group 1">
            <a:extLst>
              <a:ext uri="{FF2B5EF4-FFF2-40B4-BE49-F238E27FC236}">
                <a16:creationId xmlns:a16="http://schemas.microsoft.com/office/drawing/2014/main" id="{F6619A6F-F92A-A52A-1909-7A13EABE3FE9}"/>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82ECFE49-0FEE-DAE6-0CA5-5688BE411C6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7C4AE551-37EC-0D23-C4DC-99B16D063D6E}"/>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B907E09B-14AB-77B0-A602-D98B88016534}"/>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6CF6682-C2D4-4D77-19DC-5AEC983F864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5529331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AD027-BF64-E1BD-0663-6ABAB6C45902}"/>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CCF67030-996D-4383-A779-F25980A0A960}"/>
              </a:ext>
            </a:extLst>
          </p:cNvPr>
          <p:cNvSpPr/>
          <p:nvPr userDrawn="1"/>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65063DC3-EC7A-423B-8EA8-C8E3E9E7ABA6}"/>
              </a:ext>
            </a:extLst>
          </p:cNvPr>
          <p:cNvSpPr/>
          <p:nvPr userDrawn="1"/>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9" name="Text Placeholder 22">
            <a:extLst>
              <a:ext uri="{FF2B5EF4-FFF2-40B4-BE49-F238E27FC236}">
                <a16:creationId xmlns:a16="http://schemas.microsoft.com/office/drawing/2014/main" id="{0A6532E8-1C50-46CE-BD62-F394ABE7F130}"/>
              </a:ext>
            </a:extLst>
          </p:cNvPr>
          <p:cNvSpPr>
            <a:spLocks noGrp="1"/>
          </p:cNvSpPr>
          <p:nvPr>
            <p:ph type="body" sz="quarter" idx="10" hasCustomPrompt="1"/>
          </p:nvPr>
        </p:nvSpPr>
        <p:spPr>
          <a:xfrm>
            <a:off x="559496" y="1508796"/>
            <a:ext cx="4710911" cy="3840410"/>
          </a:xfrm>
          <a:ln>
            <a:noFill/>
          </a:ln>
        </p:spPr>
        <p:txBody>
          <a:bodyPr anchor="ctr">
            <a:noAutofit/>
          </a:bodyPr>
          <a:lstStyle>
            <a:lvl1pPr marL="0" indent="0">
              <a:lnSpc>
                <a:spcPts val="5400"/>
              </a:lnSpc>
              <a:buNone/>
              <a:defRPr sz="5400" b="1" spc="-150">
                <a:solidFill>
                  <a:schemeClr val="accent1"/>
                </a:solidFill>
              </a:defRPr>
            </a:lvl1pPr>
          </a:lstStyle>
          <a:p>
            <a:pPr lvl="0"/>
            <a:r>
              <a:rPr lang="en-US" dirty="0"/>
              <a:t>Divider slide</a:t>
            </a:r>
          </a:p>
        </p:txBody>
      </p:sp>
      <p:grpSp>
        <p:nvGrpSpPr>
          <p:cNvPr id="2" name="Group 1">
            <a:extLst>
              <a:ext uri="{FF2B5EF4-FFF2-40B4-BE49-F238E27FC236}">
                <a16:creationId xmlns:a16="http://schemas.microsoft.com/office/drawing/2014/main" id="{8B79E556-E50F-13D6-D35A-29AD944BBDF2}"/>
              </a:ext>
            </a:extLst>
          </p:cNvPr>
          <p:cNvGrpSpPr/>
          <p:nvPr userDrawn="1"/>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FF2227F9-240F-9D4C-C6F9-74D85ED488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6" name="Group 5">
              <a:extLst>
                <a:ext uri="{FF2B5EF4-FFF2-40B4-BE49-F238E27FC236}">
                  <a16:creationId xmlns:a16="http://schemas.microsoft.com/office/drawing/2014/main" id="{8F2E12B3-035B-0AAA-3CFB-5345ADBA842C}"/>
                </a:ext>
              </a:extLst>
            </p:cNvPr>
            <p:cNvGrpSpPr/>
            <p:nvPr userDrawn="1"/>
          </p:nvGrpSpPr>
          <p:grpSpPr>
            <a:xfrm>
              <a:off x="559496" y="6073205"/>
              <a:ext cx="488724" cy="393700"/>
              <a:chOff x="904620" y="6320655"/>
              <a:chExt cx="181548" cy="146249"/>
            </a:xfrm>
          </p:grpSpPr>
          <p:sp>
            <p:nvSpPr>
              <p:cNvPr id="10" name="Freeform: Shape 9">
                <a:extLst>
                  <a:ext uri="{FF2B5EF4-FFF2-40B4-BE49-F238E27FC236}">
                    <a16:creationId xmlns:a16="http://schemas.microsoft.com/office/drawing/2014/main" id="{BB95229A-8FEB-93E9-024F-E4D1B91F0B70}"/>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0AC19C3D-47C3-7CD4-4076-4D4062C5EF2A}"/>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7315888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userDrawn="1"/>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5921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userDrawn="1">
            <p:ph type="title"/>
          </p:nvPr>
        </p:nvSpPr>
        <p:spPr>
          <a:xfrm>
            <a:off x="225659" y="301809"/>
            <a:ext cx="11740682" cy="768080"/>
          </a:xfrm>
          <a:solidFill>
            <a:schemeClr val="tx1"/>
          </a:solidFill>
        </p:spPr>
        <p:txBody>
          <a:bodyPr>
            <a:normAutofit/>
          </a:bodyPr>
          <a:lstStyle>
            <a:lvl1pPr algn="ctr">
              <a:defRPr sz="2400" b="1">
                <a:solidFill>
                  <a:schemeClr val="accent1"/>
                </a:solidFill>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F492DB64-23CB-4403-ACB4-FDDFB61B3180}"/>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181179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accent1"/>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33202490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userDrawn="1"/>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userDrawn="1"/>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userDrawn="1"/>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userDrawn="1"/>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userDrawn="1">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userDrawn="1"/>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5426296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1"/>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7" name="Graphic 16">
            <a:extLst>
              <a:ext uri="{FF2B5EF4-FFF2-40B4-BE49-F238E27FC236}">
                <a16:creationId xmlns:a16="http://schemas.microsoft.com/office/drawing/2014/main" id="{2954087E-31F3-3470-CF23-C4E737C7EF0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045" y="2447045"/>
            <a:ext cx="1955803" cy="1955803"/>
          </a:xfrm>
          <a:prstGeom prst="rect">
            <a:avLst/>
          </a:prstGeom>
        </p:spPr>
      </p:pic>
      <p:grpSp>
        <p:nvGrpSpPr>
          <p:cNvPr id="3" name="Group 2">
            <a:extLst>
              <a:ext uri="{FF2B5EF4-FFF2-40B4-BE49-F238E27FC236}">
                <a16:creationId xmlns:a16="http://schemas.microsoft.com/office/drawing/2014/main" id="{1276C34C-97E3-C5B9-0A88-F868E90F16EA}"/>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91D45022-EEDA-1C2F-ACB8-6C19E667AF9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38F23FA8-798C-49B0-B005-38A319781436}"/>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B4E5CCA-186A-5FC4-7E9D-96A05599122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601E8-FDB4-F37B-85C7-426935F679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08693915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userDrawn="1"/>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5"/>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0" name="Graphic 9">
            <a:extLst>
              <a:ext uri="{FF2B5EF4-FFF2-40B4-BE49-F238E27FC236}">
                <a16:creationId xmlns:a16="http://schemas.microsoft.com/office/drawing/2014/main" id="{9F106206-9A5D-4C4D-A087-B630286F6BA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27101" y="2442980"/>
            <a:ext cx="1964429" cy="1964429"/>
          </a:xfrm>
          <a:prstGeom prst="rect">
            <a:avLst/>
          </a:prstGeom>
        </p:spPr>
      </p:pic>
      <p:grpSp>
        <p:nvGrpSpPr>
          <p:cNvPr id="3" name="Group 2">
            <a:extLst>
              <a:ext uri="{FF2B5EF4-FFF2-40B4-BE49-F238E27FC236}">
                <a16:creationId xmlns:a16="http://schemas.microsoft.com/office/drawing/2014/main" id="{0DB7D0F8-411F-7DA1-2109-46F6C24EDE93}"/>
              </a:ext>
            </a:extLst>
          </p:cNvPr>
          <p:cNvGrpSpPr/>
          <p:nvPr userDrawn="1"/>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740A0687-75F9-66FC-BB25-A3A23E91E30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B16D5126-9B7E-A979-9057-68D3C69E2551}"/>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2FA96489-43D2-25E6-F560-EFA61789058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F387A1AA-91B4-6354-1186-0AB4881106ED}"/>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1902796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7BFAAFC-37D5-DA34-7371-D84D8B28BEE2}"/>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pic>
        <p:nvPicPr>
          <p:cNvPr id="16" name="Graphic 15">
            <a:extLst>
              <a:ext uri="{FF2B5EF4-FFF2-40B4-BE49-F238E27FC236}">
                <a16:creationId xmlns:a16="http://schemas.microsoft.com/office/drawing/2014/main" id="{22157578-8FFA-DEC6-B8D3-956046E4D75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823" y="2449576"/>
            <a:ext cx="1958400" cy="1958400"/>
          </a:xfrm>
          <a:prstGeom prst="rect">
            <a:avLst/>
          </a:prstGeom>
        </p:spPr>
      </p:pic>
      <p:grpSp>
        <p:nvGrpSpPr>
          <p:cNvPr id="2" name="Group 1">
            <a:extLst>
              <a:ext uri="{FF2B5EF4-FFF2-40B4-BE49-F238E27FC236}">
                <a16:creationId xmlns:a16="http://schemas.microsoft.com/office/drawing/2014/main" id="{64F88533-028D-235B-3611-D299F8703034}"/>
              </a:ext>
            </a:extLst>
          </p:cNvPr>
          <p:cNvGrpSpPr/>
          <p:nvPr userDrawn="1"/>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D08FB7A9-2096-BD8C-947A-DD89507C56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D23E0407-1406-3094-BDE7-30D3D0378F68}"/>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C54DE396-FC01-9FC0-2C9E-32A16DE1CEE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2B63FF4F-7B06-C871-3D83-B7D57679730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6441285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AFC29A80-42EC-D467-8C82-44E1E11D4E1D}"/>
              </a:ext>
            </a:extLst>
          </p:cNvPr>
          <p:cNvSpPr/>
          <p:nvPr userDrawn="1"/>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23" name="Graphic 22">
            <a:extLst>
              <a:ext uri="{FF2B5EF4-FFF2-40B4-BE49-F238E27FC236}">
                <a16:creationId xmlns:a16="http://schemas.microsoft.com/office/drawing/2014/main" id="{8B0F9596-54D7-67E2-225E-A3CD330F61E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431" y="2449633"/>
            <a:ext cx="1958735" cy="1958735"/>
          </a:xfrm>
          <a:prstGeom prst="rect">
            <a:avLst/>
          </a:prstGeom>
        </p:spPr>
      </p:pic>
      <p:grpSp>
        <p:nvGrpSpPr>
          <p:cNvPr id="3" name="Group 2">
            <a:extLst>
              <a:ext uri="{FF2B5EF4-FFF2-40B4-BE49-F238E27FC236}">
                <a16:creationId xmlns:a16="http://schemas.microsoft.com/office/drawing/2014/main" id="{DCCD1A8B-D498-1191-B2B8-7E7D20B1EA2D}"/>
              </a:ext>
            </a:extLst>
          </p:cNvPr>
          <p:cNvGrpSpPr/>
          <p:nvPr userDrawn="1"/>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C1300EBE-63D7-F1C6-0790-03A0FE29A39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D0361433-131A-89A5-8C00-3DD3E9389E87}"/>
                </a:ext>
              </a:extLst>
            </p:cNvPr>
            <p:cNvGrpSpPr/>
            <p:nvPr userDrawn="1"/>
          </p:nvGrpSpPr>
          <p:grpSpPr>
            <a:xfrm>
              <a:off x="559496" y="6073205"/>
              <a:ext cx="488724" cy="393700"/>
              <a:chOff x="904620" y="6320655"/>
              <a:chExt cx="181548" cy="146249"/>
            </a:xfrm>
            <a:grpFill/>
          </p:grpSpPr>
          <p:sp>
            <p:nvSpPr>
              <p:cNvPr id="6" name="Freeform: Shape 5">
                <a:extLst>
                  <a:ext uri="{FF2B5EF4-FFF2-40B4-BE49-F238E27FC236}">
                    <a16:creationId xmlns:a16="http://schemas.microsoft.com/office/drawing/2014/main" id="{27306B3F-E8B1-D401-AFEC-D245D0C41137}"/>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C111B21A-E67A-F959-4667-E79348600846}"/>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6585120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theme" Target="../theme/theme2.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225659" y="1220792"/>
            <a:ext cx="11740682" cy="5445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32E4F90C-07BE-4346-B074-E50CB8F997A9}" type="datetimeFigureOut">
              <a:rPr lang="en-US" smtClean="0"/>
              <a:pPr/>
              <a:t>11/18/2025</a:t>
            </a:fld>
            <a:endParaRPr lang="en-US" dirty="0"/>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US" dirty="0"/>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92BFB872-B24E-FB4B-BEE6-73C9D0DA3A35}" type="slidenum">
              <a:rPr lang="en-US" smtClean="0"/>
              <a:pPr/>
              <a:t>‹#›</a:t>
            </a:fld>
            <a:endParaRPr lang="en-US" dirty="0"/>
          </a:p>
        </p:txBody>
      </p:sp>
      <p:grpSp>
        <p:nvGrpSpPr>
          <p:cNvPr id="14" name="Group 13">
            <a:extLst>
              <a:ext uri="{FF2B5EF4-FFF2-40B4-BE49-F238E27FC236}">
                <a16:creationId xmlns:a16="http://schemas.microsoft.com/office/drawing/2014/main" id="{783C9FD3-1C8C-4BC0-BEB9-B0D11CEAE554}"/>
              </a:ext>
            </a:extLst>
          </p:cNvPr>
          <p:cNvGrpSpPr/>
          <p:nvPr userDrawn="1"/>
        </p:nvGrpSpPr>
        <p:grpSpPr>
          <a:xfrm>
            <a:off x="0" y="0"/>
            <a:ext cx="12192000" cy="301809"/>
            <a:chOff x="0" y="0"/>
            <a:chExt cx="12192000" cy="301809"/>
          </a:xfrm>
        </p:grpSpPr>
        <p:sp>
          <p:nvSpPr>
            <p:cNvPr id="15" name="Rectangle 14">
              <a:extLst>
                <a:ext uri="{FF2B5EF4-FFF2-40B4-BE49-F238E27FC236}">
                  <a16:creationId xmlns:a16="http://schemas.microsoft.com/office/drawing/2014/main" id="{A49D6588-51EE-4466-AC60-FE6ABFD754F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01FC9AD6-D840-4C0C-B248-47E5B2B998F8}"/>
                </a:ext>
              </a:extLst>
            </p:cNvPr>
            <p:cNvGrpSpPr/>
            <p:nvPr userDrawn="1"/>
          </p:nvGrpSpPr>
          <p:grpSpPr>
            <a:xfrm>
              <a:off x="10687010" y="58571"/>
              <a:ext cx="1279331" cy="184666"/>
              <a:chOff x="10759355" y="58571"/>
              <a:chExt cx="1279331" cy="184666"/>
            </a:xfrm>
          </p:grpSpPr>
          <p:pic>
            <p:nvPicPr>
              <p:cNvPr id="19" name="Picture 18">
                <a:extLst>
                  <a:ext uri="{FF2B5EF4-FFF2-40B4-BE49-F238E27FC236}">
                    <a16:creationId xmlns:a16="http://schemas.microsoft.com/office/drawing/2014/main" id="{CFE3C353-2752-43EB-9EF7-3AD2AFA2C5F1}"/>
                  </a:ext>
                </a:extLst>
              </p:cNvPr>
              <p:cNvPicPr>
                <a:picLocks noChangeAspect="1"/>
              </p:cNvPicPr>
              <p:nvPr userDrawn="1"/>
            </p:nvPicPr>
            <p:blipFill>
              <a:blip r:embed="rId48"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0" name="TextBox 19">
                <a:extLst>
                  <a:ext uri="{FF2B5EF4-FFF2-40B4-BE49-F238E27FC236}">
                    <a16:creationId xmlns:a16="http://schemas.microsoft.com/office/drawing/2014/main" id="{0BA54A41-A821-4662-B244-4A6053E3938F}"/>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7" name="Straight Connector 16">
              <a:extLst>
                <a:ext uri="{FF2B5EF4-FFF2-40B4-BE49-F238E27FC236}">
                  <a16:creationId xmlns:a16="http://schemas.microsoft.com/office/drawing/2014/main" id="{F8C80475-5288-44E3-B2E6-BECBEC32CAD6}"/>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16AEAF0-D9F3-4E14-8564-E115CB5E591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225659" y="301809"/>
            <a:ext cx="11740681" cy="768079"/>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115922487"/>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64" r:id="rId4"/>
    <p:sldLayoutId id="2147483683" r:id="rId5"/>
    <p:sldLayoutId id="2147483739" r:id="rId6"/>
    <p:sldLayoutId id="2147483685" r:id="rId7"/>
    <p:sldLayoutId id="2147483686" r:id="rId8"/>
    <p:sldLayoutId id="2147483674" r:id="rId9"/>
    <p:sldLayoutId id="2147483688" r:id="rId10"/>
    <p:sldLayoutId id="2147483690" r:id="rId11"/>
    <p:sldLayoutId id="2147483689" r:id="rId12"/>
    <p:sldLayoutId id="2147483693" r:id="rId13"/>
    <p:sldLayoutId id="2147483721" r:id="rId14"/>
    <p:sldLayoutId id="2147483741" r:id="rId15"/>
    <p:sldLayoutId id="2147483720" r:id="rId16"/>
    <p:sldLayoutId id="2147483738" r:id="rId17"/>
    <p:sldLayoutId id="2147483719" r:id="rId18"/>
    <p:sldLayoutId id="2147483703" r:id="rId19"/>
    <p:sldLayoutId id="2147483735" r:id="rId20"/>
    <p:sldLayoutId id="2147483734" r:id="rId21"/>
    <p:sldLayoutId id="2147483704" r:id="rId22"/>
    <p:sldLayoutId id="2147483722" r:id="rId23"/>
    <p:sldLayoutId id="2147483732" r:id="rId24"/>
    <p:sldLayoutId id="2147483733" r:id="rId25"/>
    <p:sldLayoutId id="2147483724" r:id="rId26"/>
    <p:sldLayoutId id="2147483725" r:id="rId27"/>
    <p:sldLayoutId id="2147483726" r:id="rId28"/>
    <p:sldLayoutId id="2147483748" r:id="rId29"/>
    <p:sldLayoutId id="2147483749" r:id="rId30"/>
    <p:sldLayoutId id="2147483750" r:id="rId31"/>
    <p:sldLayoutId id="2147483745" r:id="rId32"/>
    <p:sldLayoutId id="2147483746" r:id="rId33"/>
    <p:sldLayoutId id="2147483747" r:id="rId34"/>
    <p:sldLayoutId id="2147483743" r:id="rId35"/>
    <p:sldLayoutId id="2147483744" r:id="rId36"/>
    <p:sldLayoutId id="2147483728" r:id="rId37"/>
    <p:sldLayoutId id="2147483730" r:id="rId38"/>
    <p:sldLayoutId id="2147483729" r:id="rId39"/>
    <p:sldLayoutId id="2147483727" r:id="rId40"/>
    <p:sldLayoutId id="2147483731" r:id="rId41"/>
    <p:sldLayoutId id="2147483723" r:id="rId42"/>
    <p:sldLayoutId id="2147483740" r:id="rId43"/>
    <p:sldLayoutId id="2147483736" r:id="rId44"/>
    <p:sldLayoutId id="2147483737" r:id="rId45"/>
    <p:sldLayoutId id="2147483705" r:id="rId46"/>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32E4F90C-07BE-4346-B074-E50CB8F997A9}" type="datetimeFigureOut">
              <a:rPr lang="en-US" smtClean="0"/>
              <a:pPr/>
              <a:t>11/18/2025</a:t>
            </a:fld>
            <a:endParaRPr lang="en-US" dirty="0"/>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US" dirty="0"/>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92BFB872-B24E-FB4B-BEE6-73C9D0DA3A35}" type="slidenum">
              <a:rPr lang="en-US" smtClean="0"/>
              <a:pPr/>
              <a:t>‹#›</a:t>
            </a:fld>
            <a:endParaRPr lang="en-US" dirty="0"/>
          </a:p>
        </p:txBody>
      </p:sp>
    </p:spTree>
    <p:extLst>
      <p:ext uri="{BB962C8B-B14F-4D97-AF65-F5344CB8AC3E}">
        <p14:creationId xmlns:p14="http://schemas.microsoft.com/office/powerpoint/2010/main" val="365332934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42.jpe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svg"/><Relationship Id="rId3" Type="http://schemas.openxmlformats.org/officeDocument/2006/relationships/image" Target="../media/image44.svg"/><Relationship Id="rId21" Type="http://schemas.openxmlformats.org/officeDocument/2006/relationships/image" Target="../media/image62.png"/><Relationship Id="rId7" Type="http://schemas.openxmlformats.org/officeDocument/2006/relationships/image" Target="../media/image48.svg"/><Relationship Id="rId12" Type="http://schemas.openxmlformats.org/officeDocument/2006/relationships/image" Target="../media/image53.jpeg"/><Relationship Id="rId17" Type="http://schemas.openxmlformats.org/officeDocument/2006/relationships/image" Target="../media/image58.png"/><Relationship Id="rId25" Type="http://schemas.openxmlformats.org/officeDocument/2006/relationships/image" Target="../media/image66.svg"/><Relationship Id="rId2" Type="http://schemas.openxmlformats.org/officeDocument/2006/relationships/image" Target="../media/image43.png"/><Relationship Id="rId16" Type="http://schemas.openxmlformats.org/officeDocument/2006/relationships/image" Target="../media/image57.svg"/><Relationship Id="rId20" Type="http://schemas.openxmlformats.org/officeDocument/2006/relationships/image" Target="../media/image61.svg"/><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svg"/><Relationship Id="rId24" Type="http://schemas.openxmlformats.org/officeDocument/2006/relationships/image" Target="../media/image65.png"/><Relationship Id="rId5" Type="http://schemas.openxmlformats.org/officeDocument/2006/relationships/image" Target="../media/image46.svg"/><Relationship Id="rId15" Type="http://schemas.openxmlformats.org/officeDocument/2006/relationships/image" Target="../media/image56.png"/><Relationship Id="rId23" Type="http://schemas.openxmlformats.org/officeDocument/2006/relationships/image" Target="../media/image64.sv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45.png"/><Relationship Id="rId9" Type="http://schemas.openxmlformats.org/officeDocument/2006/relationships/image" Target="../media/image50.svg"/><Relationship Id="rId14" Type="http://schemas.openxmlformats.org/officeDocument/2006/relationships/image" Target="../media/image55.svg"/><Relationship Id="rId22" Type="http://schemas.openxmlformats.org/officeDocument/2006/relationships/image" Target="../media/image63.svg"/></Relationships>
</file>

<file path=ppt/slides/_rels/slide12.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s>
</file>

<file path=ppt/slides/_rels/slide13.xml.rels><?xml version="1.0" encoding="UTF-8" standalone="yes"?>
<Relationships xmlns="http://schemas.openxmlformats.org/package/2006/relationships"><Relationship Id="rId3" Type="http://schemas.openxmlformats.org/officeDocument/2006/relationships/image" Target="../media/image74.svg"/><Relationship Id="rId7" Type="http://schemas.openxmlformats.org/officeDocument/2006/relationships/image" Target="../media/image78.svg"/><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svg"/><Relationship Id="rId4" Type="http://schemas.openxmlformats.org/officeDocument/2006/relationships/image" Target="../media/image75.png"/></Relationships>
</file>

<file path=ppt/slides/_rels/slide14.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hyperlink" Target="https://www.youtube.com/watch?v=aYmr9zfynMM" TargetMode="External"/><Relationship Id="rId4" Type="http://schemas.openxmlformats.org/officeDocument/2006/relationships/hyperlink" Target="https://www.youtube.com/watch?v=b8pt-jZce5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AF9AD4-F45A-B9BA-3CED-12DE6AFDE2AC}"/>
              </a:ext>
            </a:extLst>
          </p:cNvPr>
          <p:cNvSpPr>
            <a:spLocks noGrp="1"/>
          </p:cNvSpPr>
          <p:nvPr>
            <p:ph type="body" sz="quarter" idx="10"/>
          </p:nvPr>
        </p:nvSpPr>
        <p:spPr/>
        <p:txBody>
          <a:bodyPr/>
          <a:lstStyle/>
          <a:p>
            <a:r>
              <a:rPr lang="en-IN" dirty="0">
                <a:latin typeface="Avenir Next LT Pro"/>
              </a:rPr>
              <a:t>Principles of Insurance</a:t>
            </a:r>
            <a:endParaRPr lang="en-US" b="0" dirty="0">
              <a:solidFill>
                <a:schemeClr val="accent5"/>
              </a:solidFill>
            </a:endParaRPr>
          </a:p>
        </p:txBody>
      </p:sp>
    </p:spTree>
    <p:extLst>
      <p:ext uri="{BB962C8B-B14F-4D97-AF65-F5344CB8AC3E}">
        <p14:creationId xmlns:p14="http://schemas.microsoft.com/office/powerpoint/2010/main" val="50632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IN" dirty="0"/>
              <a:t>What will we learn in this module?</a:t>
            </a:r>
            <a:endParaRPr lang="en-US" dirty="0"/>
          </a:p>
        </p:txBody>
      </p:sp>
      <p:sp>
        <p:nvSpPr>
          <p:cNvPr id="4" name="Text Placeholder 40">
            <a:extLst>
              <a:ext uri="{FF2B5EF4-FFF2-40B4-BE49-F238E27FC236}">
                <a16:creationId xmlns:a16="http://schemas.microsoft.com/office/drawing/2014/main" id="{6DE4006A-D255-AC79-75A6-E694617C1371}"/>
              </a:ext>
            </a:extLst>
          </p:cNvPr>
          <p:cNvSpPr txBox="1">
            <a:spLocks/>
          </p:cNvSpPr>
          <p:nvPr/>
        </p:nvSpPr>
        <p:spPr>
          <a:xfrm>
            <a:off x="478461" y="3742925"/>
            <a:ext cx="4116989" cy="750523"/>
          </a:xfrm>
          <a:prstGeom prst="roundRect">
            <a:avLst>
              <a:gd name="adj" fmla="val 10405"/>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dirty="0"/>
              <a:t>Fundamental Principles of Insurance</a:t>
            </a:r>
            <a:endParaRPr lang="en-IN" sz="1600" dirty="0"/>
          </a:p>
        </p:txBody>
      </p:sp>
      <p:grpSp>
        <p:nvGrpSpPr>
          <p:cNvPr id="27" name="Group 26">
            <a:extLst>
              <a:ext uri="{FF2B5EF4-FFF2-40B4-BE49-F238E27FC236}">
                <a16:creationId xmlns:a16="http://schemas.microsoft.com/office/drawing/2014/main" id="{C8B5ADD0-CC8F-0D40-579B-895CD23DA098}"/>
              </a:ext>
            </a:extLst>
          </p:cNvPr>
          <p:cNvGrpSpPr/>
          <p:nvPr/>
        </p:nvGrpSpPr>
        <p:grpSpPr>
          <a:xfrm>
            <a:off x="3715088" y="1804165"/>
            <a:ext cx="2325369" cy="2174747"/>
            <a:chOff x="3715088" y="1804165"/>
            <a:chExt cx="2325369" cy="2174747"/>
          </a:xfrm>
        </p:grpSpPr>
        <p:grpSp>
          <p:nvGrpSpPr>
            <p:cNvPr id="28" name="Group 27">
              <a:extLst>
                <a:ext uri="{FF2B5EF4-FFF2-40B4-BE49-F238E27FC236}">
                  <a16:creationId xmlns:a16="http://schemas.microsoft.com/office/drawing/2014/main" id="{7A746089-1485-F395-0C9F-7253C159A80C}"/>
                </a:ext>
              </a:extLst>
            </p:cNvPr>
            <p:cNvGrpSpPr/>
            <p:nvPr/>
          </p:nvGrpSpPr>
          <p:grpSpPr>
            <a:xfrm>
              <a:off x="3715088" y="1804165"/>
              <a:ext cx="2325369" cy="2174747"/>
              <a:chOff x="3715088" y="1804165"/>
              <a:chExt cx="2325369" cy="2174747"/>
            </a:xfrm>
          </p:grpSpPr>
          <p:sp>
            <p:nvSpPr>
              <p:cNvPr id="30" name="Freeform 8">
                <a:extLst>
                  <a:ext uri="{FF2B5EF4-FFF2-40B4-BE49-F238E27FC236}">
                    <a16:creationId xmlns:a16="http://schemas.microsoft.com/office/drawing/2014/main" id="{5231EF04-E55A-7910-C6AF-854280CB7BA7}"/>
                  </a:ext>
                </a:extLst>
              </p:cNvPr>
              <p:cNvSpPr>
                <a:spLocks/>
              </p:cNvSpPr>
              <p:nvPr/>
            </p:nvSpPr>
            <p:spPr bwMode="auto">
              <a:xfrm>
                <a:off x="5134657" y="3077238"/>
                <a:ext cx="905800" cy="901674"/>
              </a:xfrm>
              <a:custGeom>
                <a:avLst/>
                <a:gdLst>
                  <a:gd name="T0" fmla="*/ 0 w 439"/>
                  <a:gd name="T1" fmla="*/ 0 h 437"/>
                  <a:gd name="T2" fmla="*/ 439 w 439"/>
                  <a:gd name="T3" fmla="*/ 0 h 437"/>
                  <a:gd name="T4" fmla="*/ 439 w 439"/>
                  <a:gd name="T5" fmla="*/ 437 h 437"/>
                  <a:gd name="T6" fmla="*/ 0 w 439"/>
                  <a:gd name="T7" fmla="*/ 437 h 437"/>
                  <a:gd name="T8" fmla="*/ 0 w 439"/>
                  <a:gd name="T9" fmla="*/ 0 h 437"/>
                  <a:gd name="T10" fmla="*/ 0 w 439"/>
                  <a:gd name="T11" fmla="*/ 0 h 437"/>
                </a:gdLst>
                <a:ahLst/>
                <a:cxnLst>
                  <a:cxn ang="0">
                    <a:pos x="T0" y="T1"/>
                  </a:cxn>
                  <a:cxn ang="0">
                    <a:pos x="T2" y="T3"/>
                  </a:cxn>
                  <a:cxn ang="0">
                    <a:pos x="T4" y="T5"/>
                  </a:cxn>
                  <a:cxn ang="0">
                    <a:pos x="T6" y="T7"/>
                  </a:cxn>
                  <a:cxn ang="0">
                    <a:pos x="T8" y="T9"/>
                  </a:cxn>
                  <a:cxn ang="0">
                    <a:pos x="T10" y="T11"/>
                  </a:cxn>
                </a:cxnLst>
                <a:rect l="0" t="0" r="r" b="b"/>
                <a:pathLst>
                  <a:path w="439" h="437">
                    <a:moveTo>
                      <a:pt x="0" y="0"/>
                    </a:moveTo>
                    <a:lnTo>
                      <a:pt x="439" y="0"/>
                    </a:lnTo>
                    <a:lnTo>
                      <a:pt x="439" y="437"/>
                    </a:lnTo>
                    <a:lnTo>
                      <a:pt x="0" y="437"/>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31" name="Freeform 9">
                <a:extLst>
                  <a:ext uri="{FF2B5EF4-FFF2-40B4-BE49-F238E27FC236}">
                    <a16:creationId xmlns:a16="http://schemas.microsoft.com/office/drawing/2014/main" id="{E1F973BF-9F67-E934-1DCC-CCA8FDAF3395}"/>
                  </a:ext>
                </a:extLst>
              </p:cNvPr>
              <p:cNvSpPr>
                <a:spLocks/>
              </p:cNvSpPr>
              <p:nvPr/>
            </p:nvSpPr>
            <p:spPr bwMode="auto">
              <a:xfrm>
                <a:off x="3715088" y="1804165"/>
                <a:ext cx="2067453" cy="1867311"/>
              </a:xfrm>
              <a:custGeom>
                <a:avLst/>
                <a:gdLst>
                  <a:gd name="T0" fmla="*/ 762 w 1002"/>
                  <a:gd name="T1" fmla="*/ 0 h 905"/>
                  <a:gd name="T2" fmla="*/ 1002 w 1002"/>
                  <a:gd name="T3" fmla="*/ 905 h 905"/>
                  <a:gd name="T4" fmla="*/ 0 w 1002"/>
                  <a:gd name="T5" fmla="*/ 736 h 905"/>
                  <a:gd name="T6" fmla="*/ 62 w 1002"/>
                  <a:gd name="T7" fmla="*/ 81 h 905"/>
                  <a:gd name="T8" fmla="*/ 762 w 1002"/>
                  <a:gd name="T9" fmla="*/ 0 h 905"/>
                  <a:gd name="T10" fmla="*/ 762 w 1002"/>
                  <a:gd name="T11" fmla="*/ 0 h 905"/>
                  <a:gd name="T12" fmla="*/ 762 w 1002"/>
                  <a:gd name="T13" fmla="*/ 0 h 905"/>
                </a:gdLst>
                <a:ahLst/>
                <a:cxnLst>
                  <a:cxn ang="0">
                    <a:pos x="T0" y="T1"/>
                  </a:cxn>
                  <a:cxn ang="0">
                    <a:pos x="T2" y="T3"/>
                  </a:cxn>
                  <a:cxn ang="0">
                    <a:pos x="T4" y="T5"/>
                  </a:cxn>
                  <a:cxn ang="0">
                    <a:pos x="T6" y="T7"/>
                  </a:cxn>
                  <a:cxn ang="0">
                    <a:pos x="T8" y="T9"/>
                  </a:cxn>
                  <a:cxn ang="0">
                    <a:pos x="T10" y="T11"/>
                  </a:cxn>
                  <a:cxn ang="0">
                    <a:pos x="T12" y="T13"/>
                  </a:cxn>
                </a:cxnLst>
                <a:rect l="0" t="0" r="r" b="b"/>
                <a:pathLst>
                  <a:path w="1002" h="905">
                    <a:moveTo>
                      <a:pt x="762" y="0"/>
                    </a:moveTo>
                    <a:lnTo>
                      <a:pt x="1002" y="905"/>
                    </a:lnTo>
                    <a:lnTo>
                      <a:pt x="0" y="736"/>
                    </a:lnTo>
                    <a:lnTo>
                      <a:pt x="62" y="81"/>
                    </a:lnTo>
                    <a:lnTo>
                      <a:pt x="762" y="0"/>
                    </a:lnTo>
                    <a:lnTo>
                      <a:pt x="762" y="0"/>
                    </a:lnTo>
                    <a:lnTo>
                      <a:pt x="762"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32" name="Freeform 13">
                <a:extLst>
                  <a:ext uri="{FF2B5EF4-FFF2-40B4-BE49-F238E27FC236}">
                    <a16:creationId xmlns:a16="http://schemas.microsoft.com/office/drawing/2014/main" id="{60910FDF-DFFF-F033-3244-29F6FE9FC7A4}"/>
                  </a:ext>
                </a:extLst>
              </p:cNvPr>
              <p:cNvSpPr>
                <a:spLocks/>
              </p:cNvSpPr>
              <p:nvPr/>
            </p:nvSpPr>
            <p:spPr bwMode="auto">
              <a:xfrm>
                <a:off x="5272900" y="1804165"/>
                <a:ext cx="509642" cy="1867311"/>
              </a:xfrm>
              <a:custGeom>
                <a:avLst/>
                <a:gdLst>
                  <a:gd name="T0" fmla="*/ 7 w 247"/>
                  <a:gd name="T1" fmla="*/ 0 h 905"/>
                  <a:gd name="T2" fmla="*/ 247 w 247"/>
                  <a:gd name="T3" fmla="*/ 803 h 905"/>
                  <a:gd name="T4" fmla="*/ 247 w 247"/>
                  <a:gd name="T5" fmla="*/ 905 h 905"/>
                  <a:gd name="T6" fmla="*/ 0 w 247"/>
                  <a:gd name="T7" fmla="*/ 718 h 905"/>
                  <a:gd name="T8" fmla="*/ 7 w 247"/>
                  <a:gd name="T9" fmla="*/ 0 h 905"/>
                  <a:gd name="T10" fmla="*/ 7 w 247"/>
                  <a:gd name="T11" fmla="*/ 0 h 905"/>
                  <a:gd name="T12" fmla="*/ 7 w 247"/>
                  <a:gd name="T13" fmla="*/ 0 h 905"/>
                </a:gdLst>
                <a:ahLst/>
                <a:cxnLst>
                  <a:cxn ang="0">
                    <a:pos x="T0" y="T1"/>
                  </a:cxn>
                  <a:cxn ang="0">
                    <a:pos x="T2" y="T3"/>
                  </a:cxn>
                  <a:cxn ang="0">
                    <a:pos x="T4" y="T5"/>
                  </a:cxn>
                  <a:cxn ang="0">
                    <a:pos x="T6" y="T7"/>
                  </a:cxn>
                  <a:cxn ang="0">
                    <a:pos x="T8" y="T9"/>
                  </a:cxn>
                  <a:cxn ang="0">
                    <a:pos x="T10" y="T11"/>
                  </a:cxn>
                  <a:cxn ang="0">
                    <a:pos x="T12" y="T13"/>
                  </a:cxn>
                </a:cxnLst>
                <a:rect l="0" t="0" r="r" b="b"/>
                <a:pathLst>
                  <a:path w="247" h="905">
                    <a:moveTo>
                      <a:pt x="7" y="0"/>
                    </a:moveTo>
                    <a:lnTo>
                      <a:pt x="247" y="803"/>
                    </a:lnTo>
                    <a:lnTo>
                      <a:pt x="247" y="905"/>
                    </a:lnTo>
                    <a:lnTo>
                      <a:pt x="0" y="718"/>
                    </a:lnTo>
                    <a:lnTo>
                      <a:pt x="7" y="0"/>
                    </a:lnTo>
                    <a:lnTo>
                      <a:pt x="7" y="0"/>
                    </a:lnTo>
                    <a:lnTo>
                      <a:pt x="7"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33" name="Freeform 14">
                <a:extLst>
                  <a:ext uri="{FF2B5EF4-FFF2-40B4-BE49-F238E27FC236}">
                    <a16:creationId xmlns:a16="http://schemas.microsoft.com/office/drawing/2014/main" id="{E57C6AE9-B101-CCA2-DBCD-5DFF878527FF}"/>
                  </a:ext>
                </a:extLst>
              </p:cNvPr>
              <p:cNvSpPr>
                <a:spLocks/>
              </p:cNvSpPr>
              <p:nvPr/>
            </p:nvSpPr>
            <p:spPr bwMode="auto">
              <a:xfrm>
                <a:off x="3715088" y="3285633"/>
                <a:ext cx="2067453" cy="385842"/>
              </a:xfrm>
              <a:custGeom>
                <a:avLst/>
                <a:gdLst>
                  <a:gd name="T0" fmla="*/ 755 w 1002"/>
                  <a:gd name="T1" fmla="*/ 0 h 187"/>
                  <a:gd name="T2" fmla="*/ 1002 w 1002"/>
                  <a:gd name="T3" fmla="*/ 187 h 187"/>
                  <a:gd name="T4" fmla="*/ 894 w 1002"/>
                  <a:gd name="T5" fmla="*/ 187 h 187"/>
                  <a:gd name="T6" fmla="*/ 0 w 1002"/>
                  <a:gd name="T7" fmla="*/ 18 h 187"/>
                  <a:gd name="T8" fmla="*/ 755 w 1002"/>
                  <a:gd name="T9" fmla="*/ 0 h 187"/>
                  <a:gd name="T10" fmla="*/ 755 w 1002"/>
                  <a:gd name="T11" fmla="*/ 0 h 187"/>
                  <a:gd name="T12" fmla="*/ 755 w 1002"/>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1002" h="187">
                    <a:moveTo>
                      <a:pt x="755" y="0"/>
                    </a:moveTo>
                    <a:lnTo>
                      <a:pt x="1002" y="187"/>
                    </a:lnTo>
                    <a:lnTo>
                      <a:pt x="894" y="187"/>
                    </a:lnTo>
                    <a:lnTo>
                      <a:pt x="0" y="18"/>
                    </a:lnTo>
                    <a:lnTo>
                      <a:pt x="755" y="0"/>
                    </a:lnTo>
                    <a:lnTo>
                      <a:pt x="755" y="0"/>
                    </a:lnTo>
                    <a:lnTo>
                      <a:pt x="755"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29" name="Graphic 28" descr="Clipboard with solid fill">
              <a:extLst>
                <a:ext uri="{FF2B5EF4-FFF2-40B4-BE49-F238E27FC236}">
                  <a16:creationId xmlns:a16="http://schemas.microsoft.com/office/drawing/2014/main" id="{11460C60-2A63-A59F-5FE1-DDE2F9748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28076" y="2057135"/>
              <a:ext cx="964768" cy="964768"/>
            </a:xfrm>
            <a:prstGeom prst="rect">
              <a:avLst/>
            </a:prstGeom>
          </p:spPr>
        </p:pic>
      </p:grpSp>
      <p:grpSp>
        <p:nvGrpSpPr>
          <p:cNvPr id="34" name="Group 33">
            <a:extLst>
              <a:ext uri="{FF2B5EF4-FFF2-40B4-BE49-F238E27FC236}">
                <a16:creationId xmlns:a16="http://schemas.microsoft.com/office/drawing/2014/main" id="{4C01FE40-9A3C-0BAA-E02C-5AEDBD17A850}"/>
              </a:ext>
            </a:extLst>
          </p:cNvPr>
          <p:cNvGrpSpPr/>
          <p:nvPr/>
        </p:nvGrpSpPr>
        <p:grpSpPr>
          <a:xfrm>
            <a:off x="6040456" y="2199978"/>
            <a:ext cx="1896198" cy="1778934"/>
            <a:chOff x="6040456" y="2199978"/>
            <a:chExt cx="1896198" cy="1778934"/>
          </a:xfrm>
        </p:grpSpPr>
        <p:grpSp>
          <p:nvGrpSpPr>
            <p:cNvPr id="35" name="Group 34">
              <a:extLst>
                <a:ext uri="{FF2B5EF4-FFF2-40B4-BE49-F238E27FC236}">
                  <a16:creationId xmlns:a16="http://schemas.microsoft.com/office/drawing/2014/main" id="{C3288222-B715-A3DE-F0C2-D7656AA7203E}"/>
                </a:ext>
              </a:extLst>
            </p:cNvPr>
            <p:cNvGrpSpPr/>
            <p:nvPr/>
          </p:nvGrpSpPr>
          <p:grpSpPr>
            <a:xfrm>
              <a:off x="6040456" y="2220957"/>
              <a:ext cx="1896198" cy="1757955"/>
              <a:chOff x="6040456" y="2220957"/>
              <a:chExt cx="1896198" cy="1757955"/>
            </a:xfrm>
          </p:grpSpPr>
          <p:sp>
            <p:nvSpPr>
              <p:cNvPr id="39" name="Freeform 7">
                <a:extLst>
                  <a:ext uri="{FF2B5EF4-FFF2-40B4-BE49-F238E27FC236}">
                    <a16:creationId xmlns:a16="http://schemas.microsoft.com/office/drawing/2014/main" id="{4E2EB2E5-D071-E846-3EE2-97B2A5CA796C}"/>
                  </a:ext>
                </a:extLst>
              </p:cNvPr>
              <p:cNvSpPr>
                <a:spLocks/>
              </p:cNvSpPr>
              <p:nvPr/>
            </p:nvSpPr>
            <p:spPr bwMode="auto">
              <a:xfrm>
                <a:off x="6040456" y="3077238"/>
                <a:ext cx="909927" cy="901674"/>
              </a:xfrm>
              <a:custGeom>
                <a:avLst/>
                <a:gdLst>
                  <a:gd name="T0" fmla="*/ 0 w 441"/>
                  <a:gd name="T1" fmla="*/ 0 h 437"/>
                  <a:gd name="T2" fmla="*/ 441 w 441"/>
                  <a:gd name="T3" fmla="*/ 0 h 437"/>
                  <a:gd name="T4" fmla="*/ 441 w 441"/>
                  <a:gd name="T5" fmla="*/ 437 h 437"/>
                  <a:gd name="T6" fmla="*/ 0 w 441"/>
                  <a:gd name="T7" fmla="*/ 437 h 437"/>
                  <a:gd name="T8" fmla="*/ 0 w 441"/>
                  <a:gd name="T9" fmla="*/ 0 h 437"/>
                  <a:gd name="T10" fmla="*/ 0 w 441"/>
                  <a:gd name="T11" fmla="*/ 0 h 437"/>
                </a:gdLst>
                <a:ahLst/>
                <a:cxnLst>
                  <a:cxn ang="0">
                    <a:pos x="T0" y="T1"/>
                  </a:cxn>
                  <a:cxn ang="0">
                    <a:pos x="T2" y="T3"/>
                  </a:cxn>
                  <a:cxn ang="0">
                    <a:pos x="T4" y="T5"/>
                  </a:cxn>
                  <a:cxn ang="0">
                    <a:pos x="T6" y="T7"/>
                  </a:cxn>
                  <a:cxn ang="0">
                    <a:pos x="T8" y="T9"/>
                  </a:cxn>
                  <a:cxn ang="0">
                    <a:pos x="T10" y="T11"/>
                  </a:cxn>
                </a:cxnLst>
                <a:rect l="0" t="0" r="r" b="b"/>
                <a:pathLst>
                  <a:path w="441" h="437">
                    <a:moveTo>
                      <a:pt x="0" y="0"/>
                    </a:moveTo>
                    <a:lnTo>
                      <a:pt x="441" y="0"/>
                    </a:lnTo>
                    <a:lnTo>
                      <a:pt x="441" y="437"/>
                    </a:lnTo>
                    <a:lnTo>
                      <a:pt x="0" y="437"/>
                    </a:lnTo>
                    <a:lnTo>
                      <a:pt x="0" y="0"/>
                    </a:lnTo>
                    <a:lnTo>
                      <a:pt x="0" y="0"/>
                    </a:lnTo>
                    <a:close/>
                  </a:path>
                </a:pathLst>
              </a:custGeom>
              <a:solidFill>
                <a:srgbClr val="F5802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0" name="Freeform 10">
                <a:extLst>
                  <a:ext uri="{FF2B5EF4-FFF2-40B4-BE49-F238E27FC236}">
                    <a16:creationId xmlns:a16="http://schemas.microsoft.com/office/drawing/2014/main" id="{07C3BE98-EC08-6D10-6D61-9201518FA28D}"/>
                  </a:ext>
                </a:extLst>
              </p:cNvPr>
              <p:cNvSpPr>
                <a:spLocks/>
              </p:cNvSpPr>
              <p:nvPr/>
            </p:nvSpPr>
            <p:spPr bwMode="auto">
              <a:xfrm>
                <a:off x="6294246" y="2220957"/>
                <a:ext cx="1642408" cy="1448455"/>
              </a:xfrm>
              <a:custGeom>
                <a:avLst/>
                <a:gdLst>
                  <a:gd name="T0" fmla="*/ 775 w 796"/>
                  <a:gd name="T1" fmla="*/ 31 h 702"/>
                  <a:gd name="T2" fmla="*/ 796 w 796"/>
                  <a:gd name="T3" fmla="*/ 464 h 702"/>
                  <a:gd name="T4" fmla="*/ 0 w 796"/>
                  <a:gd name="T5" fmla="*/ 702 h 702"/>
                  <a:gd name="T6" fmla="*/ 311 w 796"/>
                  <a:gd name="T7" fmla="*/ 0 h 702"/>
                  <a:gd name="T8" fmla="*/ 775 w 796"/>
                  <a:gd name="T9" fmla="*/ 31 h 702"/>
                  <a:gd name="T10" fmla="*/ 775 w 796"/>
                  <a:gd name="T11" fmla="*/ 31 h 702"/>
                  <a:gd name="T12" fmla="*/ 775 w 796"/>
                  <a:gd name="T13" fmla="*/ 31 h 702"/>
                </a:gdLst>
                <a:ahLst/>
                <a:cxnLst>
                  <a:cxn ang="0">
                    <a:pos x="T0" y="T1"/>
                  </a:cxn>
                  <a:cxn ang="0">
                    <a:pos x="T2" y="T3"/>
                  </a:cxn>
                  <a:cxn ang="0">
                    <a:pos x="T4" y="T5"/>
                  </a:cxn>
                  <a:cxn ang="0">
                    <a:pos x="T6" y="T7"/>
                  </a:cxn>
                  <a:cxn ang="0">
                    <a:pos x="T8" y="T9"/>
                  </a:cxn>
                  <a:cxn ang="0">
                    <a:pos x="T10" y="T11"/>
                  </a:cxn>
                  <a:cxn ang="0">
                    <a:pos x="T12" y="T13"/>
                  </a:cxn>
                </a:cxnLst>
                <a:rect l="0" t="0" r="r" b="b"/>
                <a:pathLst>
                  <a:path w="796" h="702">
                    <a:moveTo>
                      <a:pt x="775" y="31"/>
                    </a:moveTo>
                    <a:lnTo>
                      <a:pt x="796" y="464"/>
                    </a:lnTo>
                    <a:lnTo>
                      <a:pt x="0" y="702"/>
                    </a:lnTo>
                    <a:lnTo>
                      <a:pt x="311" y="0"/>
                    </a:lnTo>
                    <a:lnTo>
                      <a:pt x="775" y="31"/>
                    </a:lnTo>
                    <a:lnTo>
                      <a:pt x="775" y="31"/>
                    </a:lnTo>
                    <a:lnTo>
                      <a:pt x="775" y="31"/>
                    </a:lnTo>
                    <a:close/>
                  </a:path>
                </a:pathLst>
              </a:custGeom>
              <a:solidFill>
                <a:srgbClr val="F5802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1" name="Freeform 15">
                <a:extLst>
                  <a:ext uri="{FF2B5EF4-FFF2-40B4-BE49-F238E27FC236}">
                    <a16:creationId xmlns:a16="http://schemas.microsoft.com/office/drawing/2014/main" id="{F14681AC-8629-A678-17D3-B8F78B07B7FE}"/>
                  </a:ext>
                </a:extLst>
              </p:cNvPr>
              <p:cNvSpPr>
                <a:spLocks/>
              </p:cNvSpPr>
              <p:nvPr/>
            </p:nvSpPr>
            <p:spPr bwMode="auto">
              <a:xfrm>
                <a:off x="6294246" y="3151517"/>
                <a:ext cx="1642408" cy="519959"/>
              </a:xfrm>
              <a:custGeom>
                <a:avLst/>
                <a:gdLst>
                  <a:gd name="T0" fmla="*/ 796 w 796"/>
                  <a:gd name="T1" fmla="*/ 13 h 252"/>
                  <a:gd name="T2" fmla="*/ 117 w 796"/>
                  <a:gd name="T3" fmla="*/ 252 h 252"/>
                  <a:gd name="T4" fmla="*/ 0 w 796"/>
                  <a:gd name="T5" fmla="*/ 251 h 252"/>
                  <a:gd name="T6" fmla="*/ 318 w 796"/>
                  <a:gd name="T7" fmla="*/ 0 h 252"/>
                  <a:gd name="T8" fmla="*/ 796 w 796"/>
                  <a:gd name="T9" fmla="*/ 13 h 252"/>
                  <a:gd name="T10" fmla="*/ 796 w 796"/>
                  <a:gd name="T11" fmla="*/ 13 h 252"/>
                  <a:gd name="T12" fmla="*/ 796 w 796"/>
                  <a:gd name="T13" fmla="*/ 13 h 252"/>
                </a:gdLst>
                <a:ahLst/>
                <a:cxnLst>
                  <a:cxn ang="0">
                    <a:pos x="T0" y="T1"/>
                  </a:cxn>
                  <a:cxn ang="0">
                    <a:pos x="T2" y="T3"/>
                  </a:cxn>
                  <a:cxn ang="0">
                    <a:pos x="T4" y="T5"/>
                  </a:cxn>
                  <a:cxn ang="0">
                    <a:pos x="T6" y="T7"/>
                  </a:cxn>
                  <a:cxn ang="0">
                    <a:pos x="T8" y="T9"/>
                  </a:cxn>
                  <a:cxn ang="0">
                    <a:pos x="T10" y="T11"/>
                  </a:cxn>
                  <a:cxn ang="0">
                    <a:pos x="T12" y="T13"/>
                  </a:cxn>
                </a:cxnLst>
                <a:rect l="0" t="0" r="r" b="b"/>
                <a:pathLst>
                  <a:path w="796" h="252">
                    <a:moveTo>
                      <a:pt x="796" y="13"/>
                    </a:moveTo>
                    <a:lnTo>
                      <a:pt x="117" y="252"/>
                    </a:lnTo>
                    <a:lnTo>
                      <a:pt x="0" y="251"/>
                    </a:lnTo>
                    <a:lnTo>
                      <a:pt x="318" y="0"/>
                    </a:lnTo>
                    <a:lnTo>
                      <a:pt x="796" y="13"/>
                    </a:lnTo>
                    <a:lnTo>
                      <a:pt x="796" y="13"/>
                    </a:lnTo>
                    <a:lnTo>
                      <a:pt x="796" y="13"/>
                    </a:lnTo>
                    <a:close/>
                  </a:path>
                </a:pathLst>
              </a:custGeom>
              <a:solidFill>
                <a:srgbClr val="AF5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42" name="Freeform 16">
                <a:extLst>
                  <a:ext uri="{FF2B5EF4-FFF2-40B4-BE49-F238E27FC236}">
                    <a16:creationId xmlns:a16="http://schemas.microsoft.com/office/drawing/2014/main" id="{5B496E60-F610-4AE4-2CFA-979A3641E9FD}"/>
                  </a:ext>
                </a:extLst>
              </p:cNvPr>
              <p:cNvSpPr>
                <a:spLocks/>
              </p:cNvSpPr>
              <p:nvPr/>
            </p:nvSpPr>
            <p:spPr bwMode="auto">
              <a:xfrm>
                <a:off x="6294246" y="2220957"/>
                <a:ext cx="656138" cy="1448455"/>
              </a:xfrm>
              <a:custGeom>
                <a:avLst/>
                <a:gdLst>
                  <a:gd name="T0" fmla="*/ 318 w 318"/>
                  <a:gd name="T1" fmla="*/ 451 h 702"/>
                  <a:gd name="T2" fmla="*/ 0 w 318"/>
                  <a:gd name="T3" fmla="*/ 702 h 702"/>
                  <a:gd name="T4" fmla="*/ 0 w 318"/>
                  <a:gd name="T5" fmla="*/ 598 h 702"/>
                  <a:gd name="T6" fmla="*/ 311 w 318"/>
                  <a:gd name="T7" fmla="*/ 0 h 702"/>
                  <a:gd name="T8" fmla="*/ 318 w 318"/>
                  <a:gd name="T9" fmla="*/ 451 h 702"/>
                  <a:gd name="T10" fmla="*/ 318 w 318"/>
                  <a:gd name="T11" fmla="*/ 451 h 702"/>
                  <a:gd name="T12" fmla="*/ 318 w 318"/>
                  <a:gd name="T13" fmla="*/ 451 h 702"/>
                </a:gdLst>
                <a:ahLst/>
                <a:cxnLst>
                  <a:cxn ang="0">
                    <a:pos x="T0" y="T1"/>
                  </a:cxn>
                  <a:cxn ang="0">
                    <a:pos x="T2" y="T3"/>
                  </a:cxn>
                  <a:cxn ang="0">
                    <a:pos x="T4" y="T5"/>
                  </a:cxn>
                  <a:cxn ang="0">
                    <a:pos x="T6" y="T7"/>
                  </a:cxn>
                  <a:cxn ang="0">
                    <a:pos x="T8" y="T9"/>
                  </a:cxn>
                  <a:cxn ang="0">
                    <a:pos x="T10" y="T11"/>
                  </a:cxn>
                  <a:cxn ang="0">
                    <a:pos x="T12" y="T13"/>
                  </a:cxn>
                </a:cxnLst>
                <a:rect l="0" t="0" r="r" b="b"/>
                <a:pathLst>
                  <a:path w="318" h="702">
                    <a:moveTo>
                      <a:pt x="318" y="451"/>
                    </a:moveTo>
                    <a:lnTo>
                      <a:pt x="0" y="702"/>
                    </a:lnTo>
                    <a:lnTo>
                      <a:pt x="0" y="598"/>
                    </a:lnTo>
                    <a:lnTo>
                      <a:pt x="311" y="0"/>
                    </a:lnTo>
                    <a:lnTo>
                      <a:pt x="318" y="451"/>
                    </a:lnTo>
                    <a:lnTo>
                      <a:pt x="318" y="451"/>
                    </a:lnTo>
                    <a:lnTo>
                      <a:pt x="318" y="451"/>
                    </a:lnTo>
                    <a:close/>
                  </a:path>
                </a:pathLst>
              </a:custGeom>
              <a:solidFill>
                <a:srgbClr val="E068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grpSp>
          <p:nvGrpSpPr>
            <p:cNvPr id="36" name="Group 35">
              <a:extLst>
                <a:ext uri="{FF2B5EF4-FFF2-40B4-BE49-F238E27FC236}">
                  <a16:creationId xmlns:a16="http://schemas.microsoft.com/office/drawing/2014/main" id="{787A23E4-82E6-B881-A6A1-4FF3753049FB}"/>
                </a:ext>
              </a:extLst>
            </p:cNvPr>
            <p:cNvGrpSpPr/>
            <p:nvPr/>
          </p:nvGrpSpPr>
          <p:grpSpPr>
            <a:xfrm>
              <a:off x="6985442" y="2199978"/>
              <a:ext cx="914400" cy="914400"/>
              <a:chOff x="6985442" y="2199978"/>
              <a:chExt cx="914400" cy="914400"/>
            </a:xfrm>
          </p:grpSpPr>
          <p:pic>
            <p:nvPicPr>
              <p:cNvPr id="37" name="Graphic 36" descr="Umbrella outline">
                <a:extLst>
                  <a:ext uri="{FF2B5EF4-FFF2-40B4-BE49-F238E27FC236}">
                    <a16:creationId xmlns:a16="http://schemas.microsoft.com/office/drawing/2014/main" id="{A64BAE56-45D9-5E9B-83A8-73150E7A64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442" y="2199978"/>
                <a:ext cx="914400" cy="914400"/>
              </a:xfrm>
              <a:prstGeom prst="rect">
                <a:avLst/>
              </a:prstGeom>
            </p:spPr>
          </p:pic>
          <p:pic>
            <p:nvPicPr>
              <p:cNvPr id="38" name="Graphic 37" descr="Family with girl with solid fill">
                <a:extLst>
                  <a:ext uri="{FF2B5EF4-FFF2-40B4-BE49-F238E27FC236}">
                    <a16:creationId xmlns:a16="http://schemas.microsoft.com/office/drawing/2014/main" id="{4EB2E6DE-A501-E6DF-1E83-32BB8B3EA361}"/>
                  </a:ext>
                </a:extLst>
              </p:cNvPr>
              <p:cNvPicPr>
                <a:picLocks noChangeAspect="1"/>
              </p:cNvPicPr>
              <p:nvPr/>
            </p:nvPicPr>
            <p:blipFill>
              <a:blip r:embed="rId6"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24498" y="2619574"/>
                <a:ext cx="481377" cy="481377"/>
              </a:xfrm>
              <a:prstGeom prst="rect">
                <a:avLst/>
              </a:prstGeom>
            </p:spPr>
          </p:pic>
        </p:grpSp>
      </p:grpSp>
      <p:grpSp>
        <p:nvGrpSpPr>
          <p:cNvPr id="43" name="Group 42">
            <a:extLst>
              <a:ext uri="{FF2B5EF4-FFF2-40B4-BE49-F238E27FC236}">
                <a16:creationId xmlns:a16="http://schemas.microsoft.com/office/drawing/2014/main" id="{F2CB130B-83C8-E53B-D0FD-FE6714C56F37}"/>
              </a:ext>
            </a:extLst>
          </p:cNvPr>
          <p:cNvGrpSpPr/>
          <p:nvPr/>
        </p:nvGrpSpPr>
        <p:grpSpPr>
          <a:xfrm>
            <a:off x="4596128" y="3978912"/>
            <a:ext cx="1444329" cy="1275134"/>
            <a:chOff x="4596128" y="3978912"/>
            <a:chExt cx="1444329" cy="1275134"/>
          </a:xfrm>
        </p:grpSpPr>
        <p:grpSp>
          <p:nvGrpSpPr>
            <p:cNvPr id="44" name="Group 43">
              <a:extLst>
                <a:ext uri="{FF2B5EF4-FFF2-40B4-BE49-F238E27FC236}">
                  <a16:creationId xmlns:a16="http://schemas.microsoft.com/office/drawing/2014/main" id="{2740345D-373A-2F32-16E8-3A9B074BD15C}"/>
                </a:ext>
              </a:extLst>
            </p:cNvPr>
            <p:cNvGrpSpPr/>
            <p:nvPr/>
          </p:nvGrpSpPr>
          <p:grpSpPr>
            <a:xfrm>
              <a:off x="4596128" y="3978912"/>
              <a:ext cx="1444329" cy="1275134"/>
              <a:chOff x="4596128" y="3978912"/>
              <a:chExt cx="1444329" cy="1275134"/>
            </a:xfrm>
          </p:grpSpPr>
          <p:sp>
            <p:nvSpPr>
              <p:cNvPr id="46" name="Freeform 6">
                <a:extLst>
                  <a:ext uri="{FF2B5EF4-FFF2-40B4-BE49-F238E27FC236}">
                    <a16:creationId xmlns:a16="http://schemas.microsoft.com/office/drawing/2014/main" id="{6F1003AF-3215-5077-A505-477D6A802E71}"/>
                  </a:ext>
                </a:extLst>
              </p:cNvPr>
              <p:cNvSpPr>
                <a:spLocks/>
              </p:cNvSpPr>
              <p:nvPr/>
            </p:nvSpPr>
            <p:spPr bwMode="auto">
              <a:xfrm>
                <a:off x="5134657" y="3978912"/>
                <a:ext cx="905800" cy="897547"/>
              </a:xfrm>
              <a:custGeom>
                <a:avLst/>
                <a:gdLst>
                  <a:gd name="T0" fmla="*/ 0 w 439"/>
                  <a:gd name="T1" fmla="*/ 0 h 435"/>
                  <a:gd name="T2" fmla="*/ 439 w 439"/>
                  <a:gd name="T3" fmla="*/ 0 h 435"/>
                  <a:gd name="T4" fmla="*/ 439 w 439"/>
                  <a:gd name="T5" fmla="*/ 435 h 435"/>
                  <a:gd name="T6" fmla="*/ 0 w 439"/>
                  <a:gd name="T7" fmla="*/ 435 h 435"/>
                  <a:gd name="T8" fmla="*/ 0 w 439"/>
                  <a:gd name="T9" fmla="*/ 0 h 435"/>
                  <a:gd name="T10" fmla="*/ 0 w 439"/>
                  <a:gd name="T11" fmla="*/ 0 h 435"/>
                </a:gdLst>
                <a:ahLst/>
                <a:cxnLst>
                  <a:cxn ang="0">
                    <a:pos x="T0" y="T1"/>
                  </a:cxn>
                  <a:cxn ang="0">
                    <a:pos x="T2" y="T3"/>
                  </a:cxn>
                  <a:cxn ang="0">
                    <a:pos x="T4" y="T5"/>
                  </a:cxn>
                  <a:cxn ang="0">
                    <a:pos x="T6" y="T7"/>
                  </a:cxn>
                  <a:cxn ang="0">
                    <a:pos x="T8" y="T9"/>
                  </a:cxn>
                  <a:cxn ang="0">
                    <a:pos x="T10" y="T11"/>
                  </a:cxn>
                </a:cxnLst>
                <a:rect l="0" t="0" r="r" b="b"/>
                <a:pathLst>
                  <a:path w="439" h="435">
                    <a:moveTo>
                      <a:pt x="0" y="0"/>
                    </a:moveTo>
                    <a:lnTo>
                      <a:pt x="439" y="0"/>
                    </a:lnTo>
                    <a:lnTo>
                      <a:pt x="439" y="435"/>
                    </a:lnTo>
                    <a:lnTo>
                      <a:pt x="0" y="435"/>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7" name="Freeform 12">
                <a:extLst>
                  <a:ext uri="{FF2B5EF4-FFF2-40B4-BE49-F238E27FC236}">
                    <a16:creationId xmlns:a16="http://schemas.microsoft.com/office/drawing/2014/main" id="{31E48619-9685-E92F-0189-77A6219744AA}"/>
                  </a:ext>
                </a:extLst>
              </p:cNvPr>
              <p:cNvSpPr>
                <a:spLocks/>
              </p:cNvSpPr>
              <p:nvPr/>
            </p:nvSpPr>
            <p:spPr bwMode="auto">
              <a:xfrm>
                <a:off x="4596128" y="4257460"/>
                <a:ext cx="1186413" cy="996586"/>
              </a:xfrm>
              <a:custGeom>
                <a:avLst/>
                <a:gdLst>
                  <a:gd name="T0" fmla="*/ 575 w 575"/>
                  <a:gd name="T1" fmla="*/ 0 h 483"/>
                  <a:gd name="T2" fmla="*/ 402 w 575"/>
                  <a:gd name="T3" fmla="*/ 483 h 483"/>
                  <a:gd name="T4" fmla="*/ 12 w 575"/>
                  <a:gd name="T5" fmla="*/ 461 h 483"/>
                  <a:gd name="T6" fmla="*/ 0 w 575"/>
                  <a:gd name="T7" fmla="*/ 95 h 483"/>
                  <a:gd name="T8" fmla="*/ 575 w 575"/>
                  <a:gd name="T9" fmla="*/ 0 h 483"/>
                </a:gdLst>
                <a:ahLst/>
                <a:cxnLst>
                  <a:cxn ang="0">
                    <a:pos x="T0" y="T1"/>
                  </a:cxn>
                  <a:cxn ang="0">
                    <a:pos x="T2" y="T3"/>
                  </a:cxn>
                  <a:cxn ang="0">
                    <a:pos x="T4" y="T5"/>
                  </a:cxn>
                  <a:cxn ang="0">
                    <a:pos x="T6" y="T7"/>
                  </a:cxn>
                  <a:cxn ang="0">
                    <a:pos x="T8" y="T9"/>
                  </a:cxn>
                </a:cxnLst>
                <a:rect l="0" t="0" r="r" b="b"/>
                <a:pathLst>
                  <a:path w="575" h="483">
                    <a:moveTo>
                      <a:pt x="575" y="0"/>
                    </a:moveTo>
                    <a:lnTo>
                      <a:pt x="402" y="483"/>
                    </a:lnTo>
                    <a:lnTo>
                      <a:pt x="12" y="461"/>
                    </a:lnTo>
                    <a:lnTo>
                      <a:pt x="0" y="95"/>
                    </a:lnTo>
                    <a:lnTo>
                      <a:pt x="575"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8" name="Freeform 19">
                <a:extLst>
                  <a:ext uri="{FF2B5EF4-FFF2-40B4-BE49-F238E27FC236}">
                    <a16:creationId xmlns:a16="http://schemas.microsoft.com/office/drawing/2014/main" id="{F67D717E-704D-01D2-CF7D-368997F5FDA9}"/>
                  </a:ext>
                </a:extLst>
              </p:cNvPr>
              <p:cNvSpPr>
                <a:spLocks/>
              </p:cNvSpPr>
              <p:nvPr/>
            </p:nvSpPr>
            <p:spPr bwMode="auto">
              <a:xfrm>
                <a:off x="5425586" y="4257460"/>
                <a:ext cx="356956" cy="996586"/>
              </a:xfrm>
              <a:custGeom>
                <a:avLst/>
                <a:gdLst>
                  <a:gd name="T0" fmla="*/ 0 w 173"/>
                  <a:gd name="T1" fmla="*/ 104 h 483"/>
                  <a:gd name="T2" fmla="*/ 173 w 173"/>
                  <a:gd name="T3" fmla="*/ 0 h 483"/>
                  <a:gd name="T4" fmla="*/ 173 w 173"/>
                  <a:gd name="T5" fmla="*/ 104 h 483"/>
                  <a:gd name="T6" fmla="*/ 0 w 173"/>
                  <a:gd name="T7" fmla="*/ 483 h 483"/>
                  <a:gd name="T8" fmla="*/ 0 w 173"/>
                  <a:gd name="T9" fmla="*/ 104 h 483"/>
                  <a:gd name="T10" fmla="*/ 0 w 173"/>
                  <a:gd name="T11" fmla="*/ 104 h 483"/>
                  <a:gd name="T12" fmla="*/ 0 w 173"/>
                  <a:gd name="T13" fmla="*/ 104 h 483"/>
                </a:gdLst>
                <a:ahLst/>
                <a:cxnLst>
                  <a:cxn ang="0">
                    <a:pos x="T0" y="T1"/>
                  </a:cxn>
                  <a:cxn ang="0">
                    <a:pos x="T2" y="T3"/>
                  </a:cxn>
                  <a:cxn ang="0">
                    <a:pos x="T4" y="T5"/>
                  </a:cxn>
                  <a:cxn ang="0">
                    <a:pos x="T6" y="T7"/>
                  </a:cxn>
                  <a:cxn ang="0">
                    <a:pos x="T8" y="T9"/>
                  </a:cxn>
                  <a:cxn ang="0">
                    <a:pos x="T10" y="T11"/>
                  </a:cxn>
                  <a:cxn ang="0">
                    <a:pos x="T12" y="T13"/>
                  </a:cxn>
                </a:cxnLst>
                <a:rect l="0" t="0" r="r" b="b"/>
                <a:pathLst>
                  <a:path w="173" h="483">
                    <a:moveTo>
                      <a:pt x="0" y="104"/>
                    </a:moveTo>
                    <a:lnTo>
                      <a:pt x="173" y="0"/>
                    </a:lnTo>
                    <a:lnTo>
                      <a:pt x="173" y="104"/>
                    </a:lnTo>
                    <a:lnTo>
                      <a:pt x="0" y="483"/>
                    </a:lnTo>
                    <a:lnTo>
                      <a:pt x="0" y="104"/>
                    </a:lnTo>
                    <a:lnTo>
                      <a:pt x="0" y="104"/>
                    </a:lnTo>
                    <a:lnTo>
                      <a:pt x="0" y="104"/>
                    </a:lnTo>
                    <a:close/>
                  </a:path>
                </a:pathLst>
              </a:custGeom>
              <a:gradFill flip="none" rotWithShape="1">
                <a:gsLst>
                  <a:gs pos="0">
                    <a:schemeClr val="accent2">
                      <a:lumMod val="65000"/>
                    </a:schemeClr>
                  </a:gs>
                  <a:gs pos="100000">
                    <a:schemeClr val="accent2">
                      <a:lumMod val="6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49" name="Freeform 20">
                <a:extLst>
                  <a:ext uri="{FF2B5EF4-FFF2-40B4-BE49-F238E27FC236}">
                    <a16:creationId xmlns:a16="http://schemas.microsoft.com/office/drawing/2014/main" id="{E8724CDD-A7C5-A3C8-ED3F-8BC9DA274F6E}"/>
                  </a:ext>
                </a:extLst>
              </p:cNvPr>
              <p:cNvSpPr>
                <a:spLocks/>
              </p:cNvSpPr>
              <p:nvPr/>
            </p:nvSpPr>
            <p:spPr bwMode="auto">
              <a:xfrm>
                <a:off x="4596128" y="4257460"/>
                <a:ext cx="1186413" cy="214586"/>
              </a:xfrm>
              <a:custGeom>
                <a:avLst/>
                <a:gdLst>
                  <a:gd name="T0" fmla="*/ 0 w 575"/>
                  <a:gd name="T1" fmla="*/ 95 h 104"/>
                  <a:gd name="T2" fmla="*/ 458 w 575"/>
                  <a:gd name="T3" fmla="*/ 0 h 104"/>
                  <a:gd name="T4" fmla="*/ 575 w 575"/>
                  <a:gd name="T5" fmla="*/ 0 h 104"/>
                  <a:gd name="T6" fmla="*/ 402 w 575"/>
                  <a:gd name="T7" fmla="*/ 104 h 104"/>
                  <a:gd name="T8" fmla="*/ 0 w 575"/>
                  <a:gd name="T9" fmla="*/ 95 h 104"/>
                  <a:gd name="T10" fmla="*/ 0 w 575"/>
                  <a:gd name="T11" fmla="*/ 95 h 104"/>
                  <a:gd name="T12" fmla="*/ 0 w 575"/>
                  <a:gd name="T13" fmla="*/ 95 h 104"/>
                </a:gdLst>
                <a:ahLst/>
                <a:cxnLst>
                  <a:cxn ang="0">
                    <a:pos x="T0" y="T1"/>
                  </a:cxn>
                  <a:cxn ang="0">
                    <a:pos x="T2" y="T3"/>
                  </a:cxn>
                  <a:cxn ang="0">
                    <a:pos x="T4" y="T5"/>
                  </a:cxn>
                  <a:cxn ang="0">
                    <a:pos x="T6" y="T7"/>
                  </a:cxn>
                  <a:cxn ang="0">
                    <a:pos x="T8" y="T9"/>
                  </a:cxn>
                  <a:cxn ang="0">
                    <a:pos x="T10" y="T11"/>
                  </a:cxn>
                  <a:cxn ang="0">
                    <a:pos x="T12" y="T13"/>
                  </a:cxn>
                </a:cxnLst>
                <a:rect l="0" t="0" r="r" b="b"/>
                <a:pathLst>
                  <a:path w="575" h="104">
                    <a:moveTo>
                      <a:pt x="0" y="95"/>
                    </a:moveTo>
                    <a:lnTo>
                      <a:pt x="458" y="0"/>
                    </a:lnTo>
                    <a:lnTo>
                      <a:pt x="575" y="0"/>
                    </a:lnTo>
                    <a:lnTo>
                      <a:pt x="402" y="104"/>
                    </a:lnTo>
                    <a:lnTo>
                      <a:pt x="0" y="95"/>
                    </a:lnTo>
                    <a:lnTo>
                      <a:pt x="0" y="95"/>
                    </a:lnTo>
                    <a:lnTo>
                      <a:pt x="0" y="95"/>
                    </a:lnTo>
                    <a:close/>
                  </a:path>
                </a:pathLst>
              </a:custGeom>
              <a:gradFill flip="none" rotWithShape="1">
                <a:gsLst>
                  <a:gs pos="0">
                    <a:schemeClr val="accent2">
                      <a:lumMod val="83000"/>
                    </a:schemeClr>
                  </a:gs>
                  <a:gs pos="100000">
                    <a:schemeClr val="accent2">
                      <a:lumMod val="83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45" name="Graphic 44" descr="Signature with solid fill">
              <a:extLst>
                <a:ext uri="{FF2B5EF4-FFF2-40B4-BE49-F238E27FC236}">
                  <a16:creationId xmlns:a16="http://schemas.microsoft.com/office/drawing/2014/main" id="{1C62E168-3DA4-BFE0-DF08-042C8069B43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41555" y="4449185"/>
              <a:ext cx="732414" cy="732414"/>
            </a:xfrm>
            <a:prstGeom prst="rect">
              <a:avLst/>
            </a:prstGeom>
          </p:spPr>
        </p:pic>
      </p:grpSp>
      <p:grpSp>
        <p:nvGrpSpPr>
          <p:cNvPr id="50" name="Group 49">
            <a:extLst>
              <a:ext uri="{FF2B5EF4-FFF2-40B4-BE49-F238E27FC236}">
                <a16:creationId xmlns:a16="http://schemas.microsoft.com/office/drawing/2014/main" id="{40A6FAD5-58CE-F69A-4383-87EA9BF93350}"/>
              </a:ext>
            </a:extLst>
          </p:cNvPr>
          <p:cNvGrpSpPr/>
          <p:nvPr/>
        </p:nvGrpSpPr>
        <p:grpSpPr>
          <a:xfrm>
            <a:off x="6040456" y="3978912"/>
            <a:ext cx="2164430" cy="2046819"/>
            <a:chOff x="6040456" y="3978912"/>
            <a:chExt cx="2164430" cy="2046819"/>
          </a:xfrm>
        </p:grpSpPr>
        <p:grpSp>
          <p:nvGrpSpPr>
            <p:cNvPr id="51" name="Group 50">
              <a:extLst>
                <a:ext uri="{FF2B5EF4-FFF2-40B4-BE49-F238E27FC236}">
                  <a16:creationId xmlns:a16="http://schemas.microsoft.com/office/drawing/2014/main" id="{52FFACC5-6C3A-D72F-10A3-F7FA29A064EC}"/>
                </a:ext>
              </a:extLst>
            </p:cNvPr>
            <p:cNvGrpSpPr/>
            <p:nvPr/>
          </p:nvGrpSpPr>
          <p:grpSpPr>
            <a:xfrm>
              <a:off x="6040456" y="3978912"/>
              <a:ext cx="2164430" cy="2046819"/>
              <a:chOff x="6040456" y="3978912"/>
              <a:chExt cx="2164430" cy="2046819"/>
            </a:xfrm>
          </p:grpSpPr>
          <p:sp>
            <p:nvSpPr>
              <p:cNvPr id="53" name="Freeform 5">
                <a:extLst>
                  <a:ext uri="{FF2B5EF4-FFF2-40B4-BE49-F238E27FC236}">
                    <a16:creationId xmlns:a16="http://schemas.microsoft.com/office/drawing/2014/main" id="{65BCEF1E-BF06-E299-B557-2B34CB9EF4FC}"/>
                  </a:ext>
                </a:extLst>
              </p:cNvPr>
              <p:cNvSpPr>
                <a:spLocks/>
              </p:cNvSpPr>
              <p:nvPr/>
            </p:nvSpPr>
            <p:spPr bwMode="auto">
              <a:xfrm>
                <a:off x="6040456" y="3978912"/>
                <a:ext cx="909927" cy="897547"/>
              </a:xfrm>
              <a:custGeom>
                <a:avLst/>
                <a:gdLst>
                  <a:gd name="T0" fmla="*/ 0 w 441"/>
                  <a:gd name="T1" fmla="*/ 0 h 435"/>
                  <a:gd name="T2" fmla="*/ 441 w 441"/>
                  <a:gd name="T3" fmla="*/ 0 h 435"/>
                  <a:gd name="T4" fmla="*/ 441 w 441"/>
                  <a:gd name="T5" fmla="*/ 435 h 435"/>
                  <a:gd name="T6" fmla="*/ 0 w 441"/>
                  <a:gd name="T7" fmla="*/ 435 h 435"/>
                  <a:gd name="T8" fmla="*/ 0 w 441"/>
                  <a:gd name="T9" fmla="*/ 0 h 435"/>
                  <a:gd name="T10" fmla="*/ 0 w 441"/>
                  <a:gd name="T11" fmla="*/ 0 h 435"/>
                </a:gdLst>
                <a:ahLst/>
                <a:cxnLst>
                  <a:cxn ang="0">
                    <a:pos x="T0" y="T1"/>
                  </a:cxn>
                  <a:cxn ang="0">
                    <a:pos x="T2" y="T3"/>
                  </a:cxn>
                  <a:cxn ang="0">
                    <a:pos x="T4" y="T5"/>
                  </a:cxn>
                  <a:cxn ang="0">
                    <a:pos x="T6" y="T7"/>
                  </a:cxn>
                  <a:cxn ang="0">
                    <a:pos x="T8" y="T9"/>
                  </a:cxn>
                  <a:cxn ang="0">
                    <a:pos x="T10" y="T11"/>
                  </a:cxn>
                </a:cxnLst>
                <a:rect l="0" t="0" r="r" b="b"/>
                <a:pathLst>
                  <a:path w="441" h="435">
                    <a:moveTo>
                      <a:pt x="0" y="0"/>
                    </a:moveTo>
                    <a:lnTo>
                      <a:pt x="441" y="0"/>
                    </a:lnTo>
                    <a:lnTo>
                      <a:pt x="441" y="435"/>
                    </a:lnTo>
                    <a:lnTo>
                      <a:pt x="0" y="435"/>
                    </a:lnTo>
                    <a:lnTo>
                      <a:pt x="0" y="0"/>
                    </a:lnTo>
                    <a:lnTo>
                      <a:pt x="0" y="0"/>
                    </a:lnTo>
                    <a:close/>
                  </a:path>
                </a:pathLst>
              </a:custGeom>
              <a:solidFill>
                <a:srgbClr val="1B429A"/>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54" name="Freeform 11">
                <a:extLst>
                  <a:ext uri="{FF2B5EF4-FFF2-40B4-BE49-F238E27FC236}">
                    <a16:creationId xmlns:a16="http://schemas.microsoft.com/office/drawing/2014/main" id="{43D839D9-319E-4525-B43F-AD403D1E502E}"/>
                  </a:ext>
                </a:extLst>
              </p:cNvPr>
              <p:cNvSpPr>
                <a:spLocks/>
              </p:cNvSpPr>
              <p:nvPr/>
            </p:nvSpPr>
            <p:spPr bwMode="auto">
              <a:xfrm>
                <a:off x="6294246" y="4257460"/>
                <a:ext cx="1910640" cy="1768271"/>
              </a:xfrm>
              <a:custGeom>
                <a:avLst/>
                <a:gdLst>
                  <a:gd name="T0" fmla="*/ 540 w 540"/>
                  <a:gd name="T1" fmla="*/ 71 h 502"/>
                  <a:gd name="T2" fmla="*/ 503 w 540"/>
                  <a:gd name="T3" fmla="*/ 453 h 502"/>
                  <a:gd name="T4" fmla="*/ 97 w 540"/>
                  <a:gd name="T5" fmla="*/ 502 h 502"/>
                  <a:gd name="T6" fmla="*/ 0 w 540"/>
                  <a:gd name="T7" fmla="*/ 0 h 502"/>
                  <a:gd name="T8" fmla="*/ 540 w 540"/>
                  <a:gd name="T9" fmla="*/ 71 h 502"/>
                  <a:gd name="T10" fmla="*/ 540 w 540"/>
                  <a:gd name="T11" fmla="*/ 71 h 502"/>
                </a:gdLst>
                <a:ahLst/>
                <a:cxnLst>
                  <a:cxn ang="0">
                    <a:pos x="T0" y="T1"/>
                  </a:cxn>
                  <a:cxn ang="0">
                    <a:pos x="T2" y="T3"/>
                  </a:cxn>
                  <a:cxn ang="0">
                    <a:pos x="T4" y="T5"/>
                  </a:cxn>
                  <a:cxn ang="0">
                    <a:pos x="T6" y="T7"/>
                  </a:cxn>
                  <a:cxn ang="0">
                    <a:pos x="T8" y="T9"/>
                  </a:cxn>
                  <a:cxn ang="0">
                    <a:pos x="T10" y="T11"/>
                  </a:cxn>
                </a:cxnLst>
                <a:rect l="0" t="0" r="r" b="b"/>
                <a:pathLst>
                  <a:path w="540" h="502">
                    <a:moveTo>
                      <a:pt x="540" y="71"/>
                    </a:moveTo>
                    <a:cubicBezTo>
                      <a:pt x="528" y="192"/>
                      <a:pt x="515" y="331"/>
                      <a:pt x="503" y="453"/>
                    </a:cubicBezTo>
                    <a:cubicBezTo>
                      <a:pt x="97" y="502"/>
                      <a:pt x="97" y="502"/>
                      <a:pt x="97" y="502"/>
                    </a:cubicBezTo>
                    <a:cubicBezTo>
                      <a:pt x="0" y="0"/>
                      <a:pt x="0" y="0"/>
                      <a:pt x="0" y="0"/>
                    </a:cubicBezTo>
                    <a:cubicBezTo>
                      <a:pt x="540" y="71"/>
                      <a:pt x="540" y="71"/>
                      <a:pt x="540" y="71"/>
                    </a:cubicBezTo>
                    <a:cubicBezTo>
                      <a:pt x="540" y="71"/>
                      <a:pt x="540" y="71"/>
                      <a:pt x="540" y="71"/>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55" name="Freeform 17">
                <a:extLst>
                  <a:ext uri="{FF2B5EF4-FFF2-40B4-BE49-F238E27FC236}">
                    <a16:creationId xmlns:a16="http://schemas.microsoft.com/office/drawing/2014/main" id="{D4470B5E-C922-AAF9-2F63-0D9A638790EA}"/>
                  </a:ext>
                </a:extLst>
              </p:cNvPr>
              <p:cNvSpPr>
                <a:spLocks/>
              </p:cNvSpPr>
              <p:nvPr/>
            </p:nvSpPr>
            <p:spPr bwMode="auto">
              <a:xfrm>
                <a:off x="6294246" y="4257460"/>
                <a:ext cx="350766" cy="1768271"/>
              </a:xfrm>
              <a:custGeom>
                <a:avLst/>
                <a:gdLst>
                  <a:gd name="T0" fmla="*/ 167 w 170"/>
                  <a:gd name="T1" fmla="*/ 857 h 857"/>
                  <a:gd name="T2" fmla="*/ 0 w 170"/>
                  <a:gd name="T3" fmla="*/ 107 h 857"/>
                  <a:gd name="T4" fmla="*/ 0 w 170"/>
                  <a:gd name="T5" fmla="*/ 0 h 857"/>
                  <a:gd name="T6" fmla="*/ 170 w 170"/>
                  <a:gd name="T7" fmla="*/ 138 h 857"/>
                  <a:gd name="T8" fmla="*/ 167 w 170"/>
                  <a:gd name="T9" fmla="*/ 857 h 857"/>
                  <a:gd name="T10" fmla="*/ 167 w 170"/>
                  <a:gd name="T11" fmla="*/ 857 h 857"/>
                  <a:gd name="T12" fmla="*/ 167 w 170"/>
                  <a:gd name="T13" fmla="*/ 857 h 857"/>
                </a:gdLst>
                <a:ahLst/>
                <a:cxnLst>
                  <a:cxn ang="0">
                    <a:pos x="T0" y="T1"/>
                  </a:cxn>
                  <a:cxn ang="0">
                    <a:pos x="T2" y="T3"/>
                  </a:cxn>
                  <a:cxn ang="0">
                    <a:pos x="T4" y="T5"/>
                  </a:cxn>
                  <a:cxn ang="0">
                    <a:pos x="T6" y="T7"/>
                  </a:cxn>
                  <a:cxn ang="0">
                    <a:pos x="T8" y="T9"/>
                  </a:cxn>
                  <a:cxn ang="0">
                    <a:pos x="T10" y="T11"/>
                  </a:cxn>
                  <a:cxn ang="0">
                    <a:pos x="T12" y="T13"/>
                  </a:cxn>
                </a:cxnLst>
                <a:rect l="0" t="0" r="r" b="b"/>
                <a:pathLst>
                  <a:path w="170" h="857">
                    <a:moveTo>
                      <a:pt x="167" y="857"/>
                    </a:moveTo>
                    <a:lnTo>
                      <a:pt x="0" y="107"/>
                    </a:lnTo>
                    <a:lnTo>
                      <a:pt x="0" y="0"/>
                    </a:lnTo>
                    <a:lnTo>
                      <a:pt x="170" y="138"/>
                    </a:lnTo>
                    <a:lnTo>
                      <a:pt x="167" y="857"/>
                    </a:lnTo>
                    <a:lnTo>
                      <a:pt x="167" y="857"/>
                    </a:lnTo>
                    <a:lnTo>
                      <a:pt x="167" y="857"/>
                    </a:lnTo>
                    <a:close/>
                  </a:path>
                </a:pathLst>
              </a:custGeom>
              <a:solidFill>
                <a:srgbClr val="1431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56" name="Freeform 18">
                <a:extLst>
                  <a:ext uri="{FF2B5EF4-FFF2-40B4-BE49-F238E27FC236}">
                    <a16:creationId xmlns:a16="http://schemas.microsoft.com/office/drawing/2014/main" id="{5217C57C-BD7E-99A6-EACE-90BCB0E46093}"/>
                  </a:ext>
                </a:extLst>
              </p:cNvPr>
              <p:cNvSpPr>
                <a:spLocks/>
              </p:cNvSpPr>
              <p:nvPr/>
            </p:nvSpPr>
            <p:spPr bwMode="auto">
              <a:xfrm>
                <a:off x="6294246" y="4257460"/>
                <a:ext cx="1910640" cy="284739"/>
              </a:xfrm>
              <a:custGeom>
                <a:avLst/>
                <a:gdLst>
                  <a:gd name="T0" fmla="*/ 170 w 926"/>
                  <a:gd name="T1" fmla="*/ 138 h 138"/>
                  <a:gd name="T2" fmla="*/ 0 w 926"/>
                  <a:gd name="T3" fmla="*/ 0 h 138"/>
                  <a:gd name="T4" fmla="*/ 103 w 926"/>
                  <a:gd name="T5" fmla="*/ 0 h 138"/>
                  <a:gd name="T6" fmla="*/ 926 w 926"/>
                  <a:gd name="T7" fmla="*/ 121 h 138"/>
                  <a:gd name="T8" fmla="*/ 170 w 926"/>
                  <a:gd name="T9" fmla="*/ 138 h 138"/>
                  <a:gd name="T10" fmla="*/ 170 w 926"/>
                  <a:gd name="T11" fmla="*/ 138 h 138"/>
                  <a:gd name="T12" fmla="*/ 170 w 926"/>
                  <a:gd name="T13" fmla="*/ 138 h 138"/>
                </a:gdLst>
                <a:ahLst/>
                <a:cxnLst>
                  <a:cxn ang="0">
                    <a:pos x="T0" y="T1"/>
                  </a:cxn>
                  <a:cxn ang="0">
                    <a:pos x="T2" y="T3"/>
                  </a:cxn>
                  <a:cxn ang="0">
                    <a:pos x="T4" y="T5"/>
                  </a:cxn>
                  <a:cxn ang="0">
                    <a:pos x="T6" y="T7"/>
                  </a:cxn>
                  <a:cxn ang="0">
                    <a:pos x="T8" y="T9"/>
                  </a:cxn>
                  <a:cxn ang="0">
                    <a:pos x="T10" y="T11"/>
                  </a:cxn>
                  <a:cxn ang="0">
                    <a:pos x="T12" y="T13"/>
                  </a:cxn>
                </a:cxnLst>
                <a:rect l="0" t="0" r="r" b="b"/>
                <a:pathLst>
                  <a:path w="926" h="138">
                    <a:moveTo>
                      <a:pt x="170" y="138"/>
                    </a:moveTo>
                    <a:lnTo>
                      <a:pt x="0" y="0"/>
                    </a:lnTo>
                    <a:lnTo>
                      <a:pt x="103" y="0"/>
                    </a:lnTo>
                    <a:lnTo>
                      <a:pt x="926" y="121"/>
                    </a:lnTo>
                    <a:lnTo>
                      <a:pt x="170" y="138"/>
                    </a:lnTo>
                    <a:lnTo>
                      <a:pt x="170" y="138"/>
                    </a:lnTo>
                    <a:lnTo>
                      <a:pt x="170" y="138"/>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52" name="Graphic 51" descr="Open hand with plant with solid fill">
              <a:extLst>
                <a:ext uri="{FF2B5EF4-FFF2-40B4-BE49-F238E27FC236}">
                  <a16:creationId xmlns:a16="http://schemas.microsoft.com/office/drawing/2014/main" id="{C13357D2-87A6-2118-6C6B-B34AA6C3B0F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14390" y="4690774"/>
              <a:ext cx="1038371" cy="1038371"/>
            </a:xfrm>
            <a:prstGeom prst="rect">
              <a:avLst/>
            </a:prstGeom>
          </p:spPr>
        </p:pic>
      </p:grpSp>
    </p:spTree>
    <p:extLst>
      <p:ext uri="{BB962C8B-B14F-4D97-AF65-F5344CB8AC3E}">
        <p14:creationId xmlns:p14="http://schemas.microsoft.com/office/powerpoint/2010/main" val="92046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750" fill="hold"/>
                                        <p:tgtEl>
                                          <p:spTgt spid="27"/>
                                        </p:tgtEl>
                                        <p:attrNameLst>
                                          <p:attrName>ppt_w</p:attrName>
                                        </p:attrNameLst>
                                      </p:cBhvr>
                                      <p:tavLst>
                                        <p:tav tm="0">
                                          <p:val>
                                            <p:fltVal val="0"/>
                                          </p:val>
                                        </p:tav>
                                        <p:tav tm="100000">
                                          <p:val>
                                            <p:strVal val="#ppt_w"/>
                                          </p:val>
                                        </p:tav>
                                      </p:tavLst>
                                    </p:anim>
                                    <p:anim calcmode="lin" valueType="num">
                                      <p:cBhvr>
                                        <p:cTn id="8" dur="750" fill="hold"/>
                                        <p:tgtEl>
                                          <p:spTgt spid="27"/>
                                        </p:tgtEl>
                                        <p:attrNameLst>
                                          <p:attrName>ppt_h</p:attrName>
                                        </p:attrNameLst>
                                      </p:cBhvr>
                                      <p:tavLst>
                                        <p:tav tm="0">
                                          <p:val>
                                            <p:fltVal val="0"/>
                                          </p:val>
                                        </p:tav>
                                        <p:tav tm="100000">
                                          <p:val>
                                            <p:strVal val="#ppt_h"/>
                                          </p:val>
                                        </p:tav>
                                      </p:tavLst>
                                    </p:anim>
                                    <p:animEffect transition="in" filter="fade">
                                      <p:cBhvr>
                                        <p:cTn id="9" dur="750"/>
                                        <p:tgtEl>
                                          <p:spTgt spid="27"/>
                                        </p:tgtEl>
                                      </p:cBhvr>
                                    </p:animEffect>
                                    <p:anim calcmode="lin" valueType="num">
                                      <p:cBhvr>
                                        <p:cTn id="10" dur="750" fill="hold"/>
                                        <p:tgtEl>
                                          <p:spTgt spid="27"/>
                                        </p:tgtEl>
                                        <p:attrNameLst>
                                          <p:attrName>ppt_x</p:attrName>
                                        </p:attrNameLst>
                                      </p:cBhvr>
                                      <p:tavLst>
                                        <p:tav tm="0">
                                          <p:val>
                                            <p:fltVal val="0.5"/>
                                          </p:val>
                                        </p:tav>
                                        <p:tav tm="100000">
                                          <p:val>
                                            <p:strVal val="#ppt_x"/>
                                          </p:val>
                                        </p:tav>
                                      </p:tavLst>
                                    </p:anim>
                                    <p:anim calcmode="lin" valueType="num">
                                      <p:cBhvr>
                                        <p:cTn id="11" dur="750" fill="hold"/>
                                        <p:tgtEl>
                                          <p:spTgt spid="27"/>
                                        </p:tgtEl>
                                        <p:attrNameLst>
                                          <p:attrName>ppt_y</p:attrName>
                                        </p:attrNameLst>
                                      </p:cBhvr>
                                      <p:tavLst>
                                        <p:tav tm="0">
                                          <p:val>
                                            <p:fltVal val="0.5"/>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fade">
                                      <p:cBhvr>
                                        <p:cTn id="15" dur="750"/>
                                        <p:tgtEl>
                                          <p:spTgt spid="4">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fade">
                                      <p:cBhvr>
                                        <p:cTn id="18" dur="75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p:cTn id="23" dur="750" fill="hold"/>
                                        <p:tgtEl>
                                          <p:spTgt spid="34"/>
                                        </p:tgtEl>
                                        <p:attrNameLst>
                                          <p:attrName>ppt_w</p:attrName>
                                        </p:attrNameLst>
                                      </p:cBhvr>
                                      <p:tavLst>
                                        <p:tav tm="0">
                                          <p:val>
                                            <p:fltVal val="0"/>
                                          </p:val>
                                        </p:tav>
                                        <p:tav tm="100000">
                                          <p:val>
                                            <p:strVal val="#ppt_w"/>
                                          </p:val>
                                        </p:tav>
                                      </p:tavLst>
                                    </p:anim>
                                    <p:anim calcmode="lin" valueType="num">
                                      <p:cBhvr>
                                        <p:cTn id="24" dur="750" fill="hold"/>
                                        <p:tgtEl>
                                          <p:spTgt spid="34"/>
                                        </p:tgtEl>
                                        <p:attrNameLst>
                                          <p:attrName>ppt_h</p:attrName>
                                        </p:attrNameLst>
                                      </p:cBhvr>
                                      <p:tavLst>
                                        <p:tav tm="0">
                                          <p:val>
                                            <p:fltVal val="0"/>
                                          </p:val>
                                        </p:tav>
                                        <p:tav tm="100000">
                                          <p:val>
                                            <p:strVal val="#ppt_h"/>
                                          </p:val>
                                        </p:tav>
                                      </p:tavLst>
                                    </p:anim>
                                    <p:animEffect transition="in" filter="fade">
                                      <p:cBhvr>
                                        <p:cTn id="25" dur="750"/>
                                        <p:tgtEl>
                                          <p:spTgt spid="34"/>
                                        </p:tgtEl>
                                      </p:cBhvr>
                                    </p:animEffect>
                                    <p:anim calcmode="lin" valueType="num">
                                      <p:cBhvr>
                                        <p:cTn id="26" dur="750" fill="hold"/>
                                        <p:tgtEl>
                                          <p:spTgt spid="34"/>
                                        </p:tgtEl>
                                        <p:attrNameLst>
                                          <p:attrName>ppt_x</p:attrName>
                                        </p:attrNameLst>
                                      </p:cBhvr>
                                      <p:tavLst>
                                        <p:tav tm="0">
                                          <p:val>
                                            <p:fltVal val="0.5"/>
                                          </p:val>
                                        </p:tav>
                                        <p:tav tm="100000">
                                          <p:val>
                                            <p:strVal val="#ppt_x"/>
                                          </p:val>
                                        </p:tav>
                                      </p:tavLst>
                                    </p:anim>
                                    <p:anim calcmode="lin" valueType="num">
                                      <p:cBhvr>
                                        <p:cTn id="27" dur="750" fill="hold"/>
                                        <p:tgtEl>
                                          <p:spTgt spid="34"/>
                                        </p:tgtEl>
                                        <p:attrNameLst>
                                          <p:attrName>ppt_y</p:attrName>
                                        </p:attrNameLst>
                                      </p:cBhvr>
                                      <p:tavLst>
                                        <p:tav tm="0">
                                          <p:val>
                                            <p:fltVal val="0.5"/>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53" presetClass="entr" presetSubtype="528"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 calcmode="lin" valueType="num">
                                      <p:cBhvr>
                                        <p:cTn id="32" dur="750" fill="hold"/>
                                        <p:tgtEl>
                                          <p:spTgt spid="43"/>
                                        </p:tgtEl>
                                        <p:attrNameLst>
                                          <p:attrName>ppt_w</p:attrName>
                                        </p:attrNameLst>
                                      </p:cBhvr>
                                      <p:tavLst>
                                        <p:tav tm="0">
                                          <p:val>
                                            <p:fltVal val="0"/>
                                          </p:val>
                                        </p:tav>
                                        <p:tav tm="100000">
                                          <p:val>
                                            <p:strVal val="#ppt_w"/>
                                          </p:val>
                                        </p:tav>
                                      </p:tavLst>
                                    </p:anim>
                                    <p:anim calcmode="lin" valueType="num">
                                      <p:cBhvr>
                                        <p:cTn id="33" dur="750" fill="hold"/>
                                        <p:tgtEl>
                                          <p:spTgt spid="43"/>
                                        </p:tgtEl>
                                        <p:attrNameLst>
                                          <p:attrName>ppt_h</p:attrName>
                                        </p:attrNameLst>
                                      </p:cBhvr>
                                      <p:tavLst>
                                        <p:tav tm="0">
                                          <p:val>
                                            <p:fltVal val="0"/>
                                          </p:val>
                                        </p:tav>
                                        <p:tav tm="100000">
                                          <p:val>
                                            <p:strVal val="#ppt_h"/>
                                          </p:val>
                                        </p:tav>
                                      </p:tavLst>
                                    </p:anim>
                                    <p:animEffect transition="in" filter="fade">
                                      <p:cBhvr>
                                        <p:cTn id="34" dur="750"/>
                                        <p:tgtEl>
                                          <p:spTgt spid="43"/>
                                        </p:tgtEl>
                                      </p:cBhvr>
                                    </p:animEffect>
                                    <p:anim calcmode="lin" valueType="num">
                                      <p:cBhvr>
                                        <p:cTn id="35" dur="750" fill="hold"/>
                                        <p:tgtEl>
                                          <p:spTgt spid="43"/>
                                        </p:tgtEl>
                                        <p:attrNameLst>
                                          <p:attrName>ppt_x</p:attrName>
                                        </p:attrNameLst>
                                      </p:cBhvr>
                                      <p:tavLst>
                                        <p:tav tm="0">
                                          <p:val>
                                            <p:fltVal val="0.5"/>
                                          </p:val>
                                        </p:tav>
                                        <p:tav tm="100000">
                                          <p:val>
                                            <p:strVal val="#ppt_x"/>
                                          </p:val>
                                        </p:tav>
                                      </p:tavLst>
                                    </p:anim>
                                    <p:anim calcmode="lin" valueType="num">
                                      <p:cBhvr>
                                        <p:cTn id="36" dur="750" fill="hold"/>
                                        <p:tgtEl>
                                          <p:spTgt spid="43"/>
                                        </p:tgtEl>
                                        <p:attrNameLst>
                                          <p:attrName>ppt_y</p:attrName>
                                        </p:attrNameLst>
                                      </p:cBhvr>
                                      <p:tavLst>
                                        <p:tav tm="0">
                                          <p:val>
                                            <p:fltVal val="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528" fill="hold" nodeType="clickEffect">
                                  <p:stCondLst>
                                    <p:cond delay="0"/>
                                  </p:stCondLst>
                                  <p:childTnLst>
                                    <p:set>
                                      <p:cBhvr>
                                        <p:cTn id="40" dur="1" fill="hold">
                                          <p:stCondLst>
                                            <p:cond delay="0"/>
                                          </p:stCondLst>
                                        </p:cTn>
                                        <p:tgtEl>
                                          <p:spTgt spid="50"/>
                                        </p:tgtEl>
                                        <p:attrNameLst>
                                          <p:attrName>style.visibility</p:attrName>
                                        </p:attrNameLst>
                                      </p:cBhvr>
                                      <p:to>
                                        <p:strVal val="visible"/>
                                      </p:to>
                                    </p:set>
                                    <p:anim calcmode="lin" valueType="num">
                                      <p:cBhvr>
                                        <p:cTn id="41" dur="750" fill="hold"/>
                                        <p:tgtEl>
                                          <p:spTgt spid="50"/>
                                        </p:tgtEl>
                                        <p:attrNameLst>
                                          <p:attrName>ppt_w</p:attrName>
                                        </p:attrNameLst>
                                      </p:cBhvr>
                                      <p:tavLst>
                                        <p:tav tm="0">
                                          <p:val>
                                            <p:fltVal val="0"/>
                                          </p:val>
                                        </p:tav>
                                        <p:tav tm="100000">
                                          <p:val>
                                            <p:strVal val="#ppt_w"/>
                                          </p:val>
                                        </p:tav>
                                      </p:tavLst>
                                    </p:anim>
                                    <p:anim calcmode="lin" valueType="num">
                                      <p:cBhvr>
                                        <p:cTn id="42" dur="750" fill="hold"/>
                                        <p:tgtEl>
                                          <p:spTgt spid="50"/>
                                        </p:tgtEl>
                                        <p:attrNameLst>
                                          <p:attrName>ppt_h</p:attrName>
                                        </p:attrNameLst>
                                      </p:cBhvr>
                                      <p:tavLst>
                                        <p:tav tm="0">
                                          <p:val>
                                            <p:fltVal val="0"/>
                                          </p:val>
                                        </p:tav>
                                        <p:tav tm="100000">
                                          <p:val>
                                            <p:strVal val="#ppt_h"/>
                                          </p:val>
                                        </p:tav>
                                      </p:tavLst>
                                    </p:anim>
                                    <p:animEffect transition="in" filter="fade">
                                      <p:cBhvr>
                                        <p:cTn id="43" dur="750"/>
                                        <p:tgtEl>
                                          <p:spTgt spid="50"/>
                                        </p:tgtEl>
                                      </p:cBhvr>
                                    </p:animEffect>
                                    <p:anim calcmode="lin" valueType="num">
                                      <p:cBhvr>
                                        <p:cTn id="44" dur="750" fill="hold"/>
                                        <p:tgtEl>
                                          <p:spTgt spid="50"/>
                                        </p:tgtEl>
                                        <p:attrNameLst>
                                          <p:attrName>ppt_x</p:attrName>
                                        </p:attrNameLst>
                                      </p:cBhvr>
                                      <p:tavLst>
                                        <p:tav tm="0">
                                          <p:val>
                                            <p:fltVal val="0.5"/>
                                          </p:val>
                                        </p:tav>
                                        <p:tav tm="100000">
                                          <p:val>
                                            <p:strVal val="#ppt_x"/>
                                          </p:val>
                                        </p:tav>
                                      </p:tavLst>
                                    </p:anim>
                                    <p:anim calcmode="lin" valueType="num">
                                      <p:cBhvr>
                                        <p:cTn id="45" dur="750" fill="hold"/>
                                        <p:tgtEl>
                                          <p:spTgt spid="5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FCCF62-0567-7F0E-54E9-24481297D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9C5F0-13DF-9D0B-AAE2-1702E0411397}"/>
              </a:ext>
            </a:extLst>
          </p:cNvPr>
          <p:cNvSpPr>
            <a:spLocks noGrp="1"/>
          </p:cNvSpPr>
          <p:nvPr>
            <p:ph type="title"/>
          </p:nvPr>
        </p:nvSpPr>
        <p:spPr/>
        <p:txBody>
          <a:bodyPr/>
          <a:lstStyle/>
          <a:p>
            <a:r>
              <a:rPr lang="en-IN" dirty="0"/>
              <a:t>What will we learn in this module?</a:t>
            </a:r>
            <a:endParaRPr lang="en-US" dirty="0"/>
          </a:p>
        </p:txBody>
      </p:sp>
      <p:sp>
        <p:nvSpPr>
          <p:cNvPr id="3" name="Text Placeholder 38">
            <a:extLst>
              <a:ext uri="{FF2B5EF4-FFF2-40B4-BE49-F238E27FC236}">
                <a16:creationId xmlns:a16="http://schemas.microsoft.com/office/drawing/2014/main" id="{F14711F7-737D-D4DF-9C50-076BC1A8DF37}"/>
              </a:ext>
            </a:extLst>
          </p:cNvPr>
          <p:cNvSpPr txBox="1">
            <a:spLocks/>
          </p:cNvSpPr>
          <p:nvPr/>
        </p:nvSpPr>
        <p:spPr>
          <a:xfrm>
            <a:off x="8389628" y="5088835"/>
            <a:ext cx="3405809" cy="763325"/>
          </a:xfrm>
          <a:prstGeom prst="roundRect">
            <a:avLst>
              <a:gd name="adj" fmla="val 10405"/>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dirty="0"/>
              <a:t>Fundamental Principles of Insurance</a:t>
            </a:r>
          </a:p>
        </p:txBody>
      </p:sp>
      <p:sp>
        <p:nvSpPr>
          <p:cNvPr id="4" name="Text Placeholder 40">
            <a:extLst>
              <a:ext uri="{FF2B5EF4-FFF2-40B4-BE49-F238E27FC236}">
                <a16:creationId xmlns:a16="http://schemas.microsoft.com/office/drawing/2014/main" id="{A50B2434-4180-CB41-9A72-B6900889059E}"/>
              </a:ext>
            </a:extLst>
          </p:cNvPr>
          <p:cNvSpPr txBox="1">
            <a:spLocks/>
          </p:cNvSpPr>
          <p:nvPr/>
        </p:nvSpPr>
        <p:spPr>
          <a:xfrm>
            <a:off x="251425" y="1869051"/>
            <a:ext cx="3405809" cy="750523"/>
          </a:xfrm>
          <a:prstGeom prst="roundRect">
            <a:avLst>
              <a:gd name="adj" fmla="val 10405"/>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dirty="0"/>
              <a:t>Concept of Risk and various Risk Management Techniques</a:t>
            </a:r>
            <a:r>
              <a:rPr lang="en-IN" sz="1600" dirty="0"/>
              <a:t> </a:t>
            </a:r>
          </a:p>
        </p:txBody>
      </p:sp>
      <p:sp>
        <p:nvSpPr>
          <p:cNvPr id="5" name="Text Placeholder 36">
            <a:extLst>
              <a:ext uri="{FF2B5EF4-FFF2-40B4-BE49-F238E27FC236}">
                <a16:creationId xmlns:a16="http://schemas.microsoft.com/office/drawing/2014/main" id="{AA13919A-2588-6A3B-9C34-44BE6EC7A623}"/>
              </a:ext>
            </a:extLst>
          </p:cNvPr>
          <p:cNvSpPr txBox="1">
            <a:spLocks/>
          </p:cNvSpPr>
          <p:nvPr/>
        </p:nvSpPr>
        <p:spPr>
          <a:xfrm>
            <a:off x="7971712" y="1526129"/>
            <a:ext cx="3405809" cy="763325"/>
          </a:xfrm>
          <a:prstGeom prst="roundRect">
            <a:avLst>
              <a:gd name="adj" fmla="val 10405"/>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dirty="0"/>
              <a:t>Concept of Insurance and Insurance Contracts</a:t>
            </a:r>
          </a:p>
        </p:txBody>
      </p:sp>
      <p:sp>
        <p:nvSpPr>
          <p:cNvPr id="6" name="Text Placeholder 42">
            <a:extLst>
              <a:ext uri="{FF2B5EF4-FFF2-40B4-BE49-F238E27FC236}">
                <a16:creationId xmlns:a16="http://schemas.microsoft.com/office/drawing/2014/main" id="{89E61C20-273C-5065-2046-6362BC709879}"/>
              </a:ext>
            </a:extLst>
          </p:cNvPr>
          <p:cNvSpPr txBox="1">
            <a:spLocks/>
          </p:cNvSpPr>
          <p:nvPr/>
        </p:nvSpPr>
        <p:spPr>
          <a:xfrm>
            <a:off x="992998" y="4925781"/>
            <a:ext cx="3405809" cy="750523"/>
          </a:xfrm>
          <a:prstGeom prst="roundRect">
            <a:avLst>
              <a:gd name="adj" fmla="val 10405"/>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a:t>Law of Large Numbers</a:t>
            </a:r>
            <a:endParaRPr lang="en-US" sz="3600"/>
          </a:p>
        </p:txBody>
      </p:sp>
      <p:grpSp>
        <p:nvGrpSpPr>
          <p:cNvPr id="27" name="Group 26">
            <a:extLst>
              <a:ext uri="{FF2B5EF4-FFF2-40B4-BE49-F238E27FC236}">
                <a16:creationId xmlns:a16="http://schemas.microsoft.com/office/drawing/2014/main" id="{33E055A8-C8FB-DC20-0D8D-3BCC6CEF115F}"/>
              </a:ext>
            </a:extLst>
          </p:cNvPr>
          <p:cNvGrpSpPr/>
          <p:nvPr/>
        </p:nvGrpSpPr>
        <p:grpSpPr>
          <a:xfrm>
            <a:off x="3715088" y="1804165"/>
            <a:ext cx="2325369" cy="2174747"/>
            <a:chOff x="3715088" y="1804165"/>
            <a:chExt cx="2325369" cy="2174747"/>
          </a:xfrm>
        </p:grpSpPr>
        <p:grpSp>
          <p:nvGrpSpPr>
            <p:cNvPr id="28" name="Group 27">
              <a:extLst>
                <a:ext uri="{FF2B5EF4-FFF2-40B4-BE49-F238E27FC236}">
                  <a16:creationId xmlns:a16="http://schemas.microsoft.com/office/drawing/2014/main" id="{89E82771-F726-F524-5643-562D9BBF68A0}"/>
                </a:ext>
              </a:extLst>
            </p:cNvPr>
            <p:cNvGrpSpPr/>
            <p:nvPr/>
          </p:nvGrpSpPr>
          <p:grpSpPr>
            <a:xfrm>
              <a:off x="3715088" y="1804165"/>
              <a:ext cx="2325369" cy="2174747"/>
              <a:chOff x="3715088" y="1804165"/>
              <a:chExt cx="2325369" cy="2174747"/>
            </a:xfrm>
          </p:grpSpPr>
          <p:sp>
            <p:nvSpPr>
              <p:cNvPr id="30" name="Freeform 8">
                <a:extLst>
                  <a:ext uri="{FF2B5EF4-FFF2-40B4-BE49-F238E27FC236}">
                    <a16:creationId xmlns:a16="http://schemas.microsoft.com/office/drawing/2014/main" id="{E2C8955B-9844-06F8-F949-3E49871840E3}"/>
                  </a:ext>
                </a:extLst>
              </p:cNvPr>
              <p:cNvSpPr>
                <a:spLocks/>
              </p:cNvSpPr>
              <p:nvPr/>
            </p:nvSpPr>
            <p:spPr bwMode="auto">
              <a:xfrm>
                <a:off x="5134657" y="3077238"/>
                <a:ext cx="905800" cy="901674"/>
              </a:xfrm>
              <a:custGeom>
                <a:avLst/>
                <a:gdLst>
                  <a:gd name="T0" fmla="*/ 0 w 439"/>
                  <a:gd name="T1" fmla="*/ 0 h 437"/>
                  <a:gd name="T2" fmla="*/ 439 w 439"/>
                  <a:gd name="T3" fmla="*/ 0 h 437"/>
                  <a:gd name="T4" fmla="*/ 439 w 439"/>
                  <a:gd name="T5" fmla="*/ 437 h 437"/>
                  <a:gd name="T6" fmla="*/ 0 w 439"/>
                  <a:gd name="T7" fmla="*/ 437 h 437"/>
                  <a:gd name="T8" fmla="*/ 0 w 439"/>
                  <a:gd name="T9" fmla="*/ 0 h 437"/>
                  <a:gd name="T10" fmla="*/ 0 w 439"/>
                  <a:gd name="T11" fmla="*/ 0 h 437"/>
                </a:gdLst>
                <a:ahLst/>
                <a:cxnLst>
                  <a:cxn ang="0">
                    <a:pos x="T0" y="T1"/>
                  </a:cxn>
                  <a:cxn ang="0">
                    <a:pos x="T2" y="T3"/>
                  </a:cxn>
                  <a:cxn ang="0">
                    <a:pos x="T4" y="T5"/>
                  </a:cxn>
                  <a:cxn ang="0">
                    <a:pos x="T6" y="T7"/>
                  </a:cxn>
                  <a:cxn ang="0">
                    <a:pos x="T8" y="T9"/>
                  </a:cxn>
                  <a:cxn ang="0">
                    <a:pos x="T10" y="T11"/>
                  </a:cxn>
                </a:cxnLst>
                <a:rect l="0" t="0" r="r" b="b"/>
                <a:pathLst>
                  <a:path w="439" h="437">
                    <a:moveTo>
                      <a:pt x="0" y="0"/>
                    </a:moveTo>
                    <a:lnTo>
                      <a:pt x="439" y="0"/>
                    </a:lnTo>
                    <a:lnTo>
                      <a:pt x="439" y="437"/>
                    </a:lnTo>
                    <a:lnTo>
                      <a:pt x="0" y="437"/>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31" name="Freeform 9">
                <a:extLst>
                  <a:ext uri="{FF2B5EF4-FFF2-40B4-BE49-F238E27FC236}">
                    <a16:creationId xmlns:a16="http://schemas.microsoft.com/office/drawing/2014/main" id="{446DE84A-8533-FB29-64CC-F790862BB8F3}"/>
                  </a:ext>
                </a:extLst>
              </p:cNvPr>
              <p:cNvSpPr>
                <a:spLocks/>
              </p:cNvSpPr>
              <p:nvPr/>
            </p:nvSpPr>
            <p:spPr bwMode="auto">
              <a:xfrm>
                <a:off x="3715088" y="1804165"/>
                <a:ext cx="2067453" cy="1867311"/>
              </a:xfrm>
              <a:custGeom>
                <a:avLst/>
                <a:gdLst>
                  <a:gd name="T0" fmla="*/ 762 w 1002"/>
                  <a:gd name="T1" fmla="*/ 0 h 905"/>
                  <a:gd name="T2" fmla="*/ 1002 w 1002"/>
                  <a:gd name="T3" fmla="*/ 905 h 905"/>
                  <a:gd name="T4" fmla="*/ 0 w 1002"/>
                  <a:gd name="T5" fmla="*/ 736 h 905"/>
                  <a:gd name="T6" fmla="*/ 62 w 1002"/>
                  <a:gd name="T7" fmla="*/ 81 h 905"/>
                  <a:gd name="T8" fmla="*/ 762 w 1002"/>
                  <a:gd name="T9" fmla="*/ 0 h 905"/>
                  <a:gd name="T10" fmla="*/ 762 w 1002"/>
                  <a:gd name="T11" fmla="*/ 0 h 905"/>
                  <a:gd name="T12" fmla="*/ 762 w 1002"/>
                  <a:gd name="T13" fmla="*/ 0 h 905"/>
                </a:gdLst>
                <a:ahLst/>
                <a:cxnLst>
                  <a:cxn ang="0">
                    <a:pos x="T0" y="T1"/>
                  </a:cxn>
                  <a:cxn ang="0">
                    <a:pos x="T2" y="T3"/>
                  </a:cxn>
                  <a:cxn ang="0">
                    <a:pos x="T4" y="T5"/>
                  </a:cxn>
                  <a:cxn ang="0">
                    <a:pos x="T6" y="T7"/>
                  </a:cxn>
                  <a:cxn ang="0">
                    <a:pos x="T8" y="T9"/>
                  </a:cxn>
                  <a:cxn ang="0">
                    <a:pos x="T10" y="T11"/>
                  </a:cxn>
                  <a:cxn ang="0">
                    <a:pos x="T12" y="T13"/>
                  </a:cxn>
                </a:cxnLst>
                <a:rect l="0" t="0" r="r" b="b"/>
                <a:pathLst>
                  <a:path w="1002" h="905">
                    <a:moveTo>
                      <a:pt x="762" y="0"/>
                    </a:moveTo>
                    <a:lnTo>
                      <a:pt x="1002" y="905"/>
                    </a:lnTo>
                    <a:lnTo>
                      <a:pt x="0" y="736"/>
                    </a:lnTo>
                    <a:lnTo>
                      <a:pt x="62" y="81"/>
                    </a:lnTo>
                    <a:lnTo>
                      <a:pt x="762" y="0"/>
                    </a:lnTo>
                    <a:lnTo>
                      <a:pt x="762" y="0"/>
                    </a:lnTo>
                    <a:lnTo>
                      <a:pt x="762"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32" name="Freeform 13">
                <a:extLst>
                  <a:ext uri="{FF2B5EF4-FFF2-40B4-BE49-F238E27FC236}">
                    <a16:creationId xmlns:a16="http://schemas.microsoft.com/office/drawing/2014/main" id="{167684AF-8394-E1E2-C128-865724381352}"/>
                  </a:ext>
                </a:extLst>
              </p:cNvPr>
              <p:cNvSpPr>
                <a:spLocks/>
              </p:cNvSpPr>
              <p:nvPr/>
            </p:nvSpPr>
            <p:spPr bwMode="auto">
              <a:xfrm>
                <a:off x="5272900" y="1804165"/>
                <a:ext cx="509642" cy="1867311"/>
              </a:xfrm>
              <a:custGeom>
                <a:avLst/>
                <a:gdLst>
                  <a:gd name="T0" fmla="*/ 7 w 247"/>
                  <a:gd name="T1" fmla="*/ 0 h 905"/>
                  <a:gd name="T2" fmla="*/ 247 w 247"/>
                  <a:gd name="T3" fmla="*/ 803 h 905"/>
                  <a:gd name="T4" fmla="*/ 247 w 247"/>
                  <a:gd name="T5" fmla="*/ 905 h 905"/>
                  <a:gd name="T6" fmla="*/ 0 w 247"/>
                  <a:gd name="T7" fmla="*/ 718 h 905"/>
                  <a:gd name="T8" fmla="*/ 7 w 247"/>
                  <a:gd name="T9" fmla="*/ 0 h 905"/>
                  <a:gd name="T10" fmla="*/ 7 w 247"/>
                  <a:gd name="T11" fmla="*/ 0 h 905"/>
                  <a:gd name="T12" fmla="*/ 7 w 247"/>
                  <a:gd name="T13" fmla="*/ 0 h 905"/>
                </a:gdLst>
                <a:ahLst/>
                <a:cxnLst>
                  <a:cxn ang="0">
                    <a:pos x="T0" y="T1"/>
                  </a:cxn>
                  <a:cxn ang="0">
                    <a:pos x="T2" y="T3"/>
                  </a:cxn>
                  <a:cxn ang="0">
                    <a:pos x="T4" y="T5"/>
                  </a:cxn>
                  <a:cxn ang="0">
                    <a:pos x="T6" y="T7"/>
                  </a:cxn>
                  <a:cxn ang="0">
                    <a:pos x="T8" y="T9"/>
                  </a:cxn>
                  <a:cxn ang="0">
                    <a:pos x="T10" y="T11"/>
                  </a:cxn>
                  <a:cxn ang="0">
                    <a:pos x="T12" y="T13"/>
                  </a:cxn>
                </a:cxnLst>
                <a:rect l="0" t="0" r="r" b="b"/>
                <a:pathLst>
                  <a:path w="247" h="905">
                    <a:moveTo>
                      <a:pt x="7" y="0"/>
                    </a:moveTo>
                    <a:lnTo>
                      <a:pt x="247" y="803"/>
                    </a:lnTo>
                    <a:lnTo>
                      <a:pt x="247" y="905"/>
                    </a:lnTo>
                    <a:lnTo>
                      <a:pt x="0" y="718"/>
                    </a:lnTo>
                    <a:lnTo>
                      <a:pt x="7" y="0"/>
                    </a:lnTo>
                    <a:lnTo>
                      <a:pt x="7" y="0"/>
                    </a:lnTo>
                    <a:lnTo>
                      <a:pt x="7" y="0"/>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33" name="Freeform 14">
                <a:extLst>
                  <a:ext uri="{FF2B5EF4-FFF2-40B4-BE49-F238E27FC236}">
                    <a16:creationId xmlns:a16="http://schemas.microsoft.com/office/drawing/2014/main" id="{3C26DD8B-F2C6-4D2F-1855-E55D0531A656}"/>
                  </a:ext>
                </a:extLst>
              </p:cNvPr>
              <p:cNvSpPr>
                <a:spLocks/>
              </p:cNvSpPr>
              <p:nvPr/>
            </p:nvSpPr>
            <p:spPr bwMode="auto">
              <a:xfrm>
                <a:off x="3715088" y="3285633"/>
                <a:ext cx="2067453" cy="385842"/>
              </a:xfrm>
              <a:custGeom>
                <a:avLst/>
                <a:gdLst>
                  <a:gd name="T0" fmla="*/ 755 w 1002"/>
                  <a:gd name="T1" fmla="*/ 0 h 187"/>
                  <a:gd name="T2" fmla="*/ 1002 w 1002"/>
                  <a:gd name="T3" fmla="*/ 187 h 187"/>
                  <a:gd name="T4" fmla="*/ 894 w 1002"/>
                  <a:gd name="T5" fmla="*/ 187 h 187"/>
                  <a:gd name="T6" fmla="*/ 0 w 1002"/>
                  <a:gd name="T7" fmla="*/ 18 h 187"/>
                  <a:gd name="T8" fmla="*/ 755 w 1002"/>
                  <a:gd name="T9" fmla="*/ 0 h 187"/>
                  <a:gd name="T10" fmla="*/ 755 w 1002"/>
                  <a:gd name="T11" fmla="*/ 0 h 187"/>
                  <a:gd name="T12" fmla="*/ 755 w 1002"/>
                  <a:gd name="T13" fmla="*/ 0 h 187"/>
                </a:gdLst>
                <a:ahLst/>
                <a:cxnLst>
                  <a:cxn ang="0">
                    <a:pos x="T0" y="T1"/>
                  </a:cxn>
                  <a:cxn ang="0">
                    <a:pos x="T2" y="T3"/>
                  </a:cxn>
                  <a:cxn ang="0">
                    <a:pos x="T4" y="T5"/>
                  </a:cxn>
                  <a:cxn ang="0">
                    <a:pos x="T6" y="T7"/>
                  </a:cxn>
                  <a:cxn ang="0">
                    <a:pos x="T8" y="T9"/>
                  </a:cxn>
                  <a:cxn ang="0">
                    <a:pos x="T10" y="T11"/>
                  </a:cxn>
                  <a:cxn ang="0">
                    <a:pos x="T12" y="T13"/>
                  </a:cxn>
                </a:cxnLst>
                <a:rect l="0" t="0" r="r" b="b"/>
                <a:pathLst>
                  <a:path w="1002" h="187">
                    <a:moveTo>
                      <a:pt x="755" y="0"/>
                    </a:moveTo>
                    <a:lnTo>
                      <a:pt x="1002" y="187"/>
                    </a:lnTo>
                    <a:lnTo>
                      <a:pt x="894" y="187"/>
                    </a:lnTo>
                    <a:lnTo>
                      <a:pt x="0" y="18"/>
                    </a:lnTo>
                    <a:lnTo>
                      <a:pt x="755" y="0"/>
                    </a:lnTo>
                    <a:lnTo>
                      <a:pt x="755" y="0"/>
                    </a:lnTo>
                    <a:lnTo>
                      <a:pt x="755" y="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29" name="Graphic 28" descr="Clipboard with solid fill">
              <a:extLst>
                <a:ext uri="{FF2B5EF4-FFF2-40B4-BE49-F238E27FC236}">
                  <a16:creationId xmlns:a16="http://schemas.microsoft.com/office/drawing/2014/main" id="{2EF2802A-57B8-611C-7FD6-EF91DC5E55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28076" y="2057135"/>
              <a:ext cx="964768" cy="964768"/>
            </a:xfrm>
            <a:prstGeom prst="rect">
              <a:avLst/>
            </a:prstGeom>
          </p:spPr>
        </p:pic>
      </p:grpSp>
      <p:grpSp>
        <p:nvGrpSpPr>
          <p:cNvPr id="34" name="Group 33">
            <a:extLst>
              <a:ext uri="{FF2B5EF4-FFF2-40B4-BE49-F238E27FC236}">
                <a16:creationId xmlns:a16="http://schemas.microsoft.com/office/drawing/2014/main" id="{677DFE8C-E0C9-ED58-A528-0C8312859245}"/>
              </a:ext>
            </a:extLst>
          </p:cNvPr>
          <p:cNvGrpSpPr/>
          <p:nvPr/>
        </p:nvGrpSpPr>
        <p:grpSpPr>
          <a:xfrm>
            <a:off x="6040456" y="2199978"/>
            <a:ext cx="1896198" cy="1778934"/>
            <a:chOff x="6040456" y="2199978"/>
            <a:chExt cx="1896198" cy="1778934"/>
          </a:xfrm>
        </p:grpSpPr>
        <p:grpSp>
          <p:nvGrpSpPr>
            <p:cNvPr id="35" name="Group 34">
              <a:extLst>
                <a:ext uri="{FF2B5EF4-FFF2-40B4-BE49-F238E27FC236}">
                  <a16:creationId xmlns:a16="http://schemas.microsoft.com/office/drawing/2014/main" id="{69AC1726-9049-3B4A-B29C-1F2808E3B09C}"/>
                </a:ext>
              </a:extLst>
            </p:cNvPr>
            <p:cNvGrpSpPr/>
            <p:nvPr/>
          </p:nvGrpSpPr>
          <p:grpSpPr>
            <a:xfrm>
              <a:off x="6040456" y="2220957"/>
              <a:ext cx="1896198" cy="1757955"/>
              <a:chOff x="6040456" y="2220957"/>
              <a:chExt cx="1896198" cy="1757955"/>
            </a:xfrm>
          </p:grpSpPr>
          <p:sp>
            <p:nvSpPr>
              <p:cNvPr id="39" name="Freeform 7">
                <a:extLst>
                  <a:ext uri="{FF2B5EF4-FFF2-40B4-BE49-F238E27FC236}">
                    <a16:creationId xmlns:a16="http://schemas.microsoft.com/office/drawing/2014/main" id="{126BC716-AAC1-85CA-00E4-AC0E79113743}"/>
                  </a:ext>
                </a:extLst>
              </p:cNvPr>
              <p:cNvSpPr>
                <a:spLocks/>
              </p:cNvSpPr>
              <p:nvPr/>
            </p:nvSpPr>
            <p:spPr bwMode="auto">
              <a:xfrm>
                <a:off x="6040456" y="3077238"/>
                <a:ext cx="909927" cy="901674"/>
              </a:xfrm>
              <a:custGeom>
                <a:avLst/>
                <a:gdLst>
                  <a:gd name="T0" fmla="*/ 0 w 441"/>
                  <a:gd name="T1" fmla="*/ 0 h 437"/>
                  <a:gd name="T2" fmla="*/ 441 w 441"/>
                  <a:gd name="T3" fmla="*/ 0 h 437"/>
                  <a:gd name="T4" fmla="*/ 441 w 441"/>
                  <a:gd name="T5" fmla="*/ 437 h 437"/>
                  <a:gd name="T6" fmla="*/ 0 w 441"/>
                  <a:gd name="T7" fmla="*/ 437 h 437"/>
                  <a:gd name="T8" fmla="*/ 0 w 441"/>
                  <a:gd name="T9" fmla="*/ 0 h 437"/>
                  <a:gd name="T10" fmla="*/ 0 w 441"/>
                  <a:gd name="T11" fmla="*/ 0 h 437"/>
                </a:gdLst>
                <a:ahLst/>
                <a:cxnLst>
                  <a:cxn ang="0">
                    <a:pos x="T0" y="T1"/>
                  </a:cxn>
                  <a:cxn ang="0">
                    <a:pos x="T2" y="T3"/>
                  </a:cxn>
                  <a:cxn ang="0">
                    <a:pos x="T4" y="T5"/>
                  </a:cxn>
                  <a:cxn ang="0">
                    <a:pos x="T6" y="T7"/>
                  </a:cxn>
                  <a:cxn ang="0">
                    <a:pos x="T8" y="T9"/>
                  </a:cxn>
                  <a:cxn ang="0">
                    <a:pos x="T10" y="T11"/>
                  </a:cxn>
                </a:cxnLst>
                <a:rect l="0" t="0" r="r" b="b"/>
                <a:pathLst>
                  <a:path w="441" h="437">
                    <a:moveTo>
                      <a:pt x="0" y="0"/>
                    </a:moveTo>
                    <a:lnTo>
                      <a:pt x="441" y="0"/>
                    </a:lnTo>
                    <a:lnTo>
                      <a:pt x="441" y="437"/>
                    </a:lnTo>
                    <a:lnTo>
                      <a:pt x="0" y="437"/>
                    </a:lnTo>
                    <a:lnTo>
                      <a:pt x="0" y="0"/>
                    </a:lnTo>
                    <a:lnTo>
                      <a:pt x="0" y="0"/>
                    </a:lnTo>
                    <a:close/>
                  </a:path>
                </a:pathLst>
              </a:custGeom>
              <a:solidFill>
                <a:srgbClr val="F5802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0" name="Freeform 10">
                <a:extLst>
                  <a:ext uri="{FF2B5EF4-FFF2-40B4-BE49-F238E27FC236}">
                    <a16:creationId xmlns:a16="http://schemas.microsoft.com/office/drawing/2014/main" id="{356AEECA-EDE3-0A2B-2252-FF91AFB00792}"/>
                  </a:ext>
                </a:extLst>
              </p:cNvPr>
              <p:cNvSpPr>
                <a:spLocks/>
              </p:cNvSpPr>
              <p:nvPr/>
            </p:nvSpPr>
            <p:spPr bwMode="auto">
              <a:xfrm>
                <a:off x="6294246" y="2220957"/>
                <a:ext cx="1642408" cy="1448455"/>
              </a:xfrm>
              <a:custGeom>
                <a:avLst/>
                <a:gdLst>
                  <a:gd name="T0" fmla="*/ 775 w 796"/>
                  <a:gd name="T1" fmla="*/ 31 h 702"/>
                  <a:gd name="T2" fmla="*/ 796 w 796"/>
                  <a:gd name="T3" fmla="*/ 464 h 702"/>
                  <a:gd name="T4" fmla="*/ 0 w 796"/>
                  <a:gd name="T5" fmla="*/ 702 h 702"/>
                  <a:gd name="T6" fmla="*/ 311 w 796"/>
                  <a:gd name="T7" fmla="*/ 0 h 702"/>
                  <a:gd name="T8" fmla="*/ 775 w 796"/>
                  <a:gd name="T9" fmla="*/ 31 h 702"/>
                  <a:gd name="T10" fmla="*/ 775 w 796"/>
                  <a:gd name="T11" fmla="*/ 31 h 702"/>
                  <a:gd name="T12" fmla="*/ 775 w 796"/>
                  <a:gd name="T13" fmla="*/ 31 h 702"/>
                </a:gdLst>
                <a:ahLst/>
                <a:cxnLst>
                  <a:cxn ang="0">
                    <a:pos x="T0" y="T1"/>
                  </a:cxn>
                  <a:cxn ang="0">
                    <a:pos x="T2" y="T3"/>
                  </a:cxn>
                  <a:cxn ang="0">
                    <a:pos x="T4" y="T5"/>
                  </a:cxn>
                  <a:cxn ang="0">
                    <a:pos x="T6" y="T7"/>
                  </a:cxn>
                  <a:cxn ang="0">
                    <a:pos x="T8" y="T9"/>
                  </a:cxn>
                  <a:cxn ang="0">
                    <a:pos x="T10" y="T11"/>
                  </a:cxn>
                  <a:cxn ang="0">
                    <a:pos x="T12" y="T13"/>
                  </a:cxn>
                </a:cxnLst>
                <a:rect l="0" t="0" r="r" b="b"/>
                <a:pathLst>
                  <a:path w="796" h="702">
                    <a:moveTo>
                      <a:pt x="775" y="31"/>
                    </a:moveTo>
                    <a:lnTo>
                      <a:pt x="796" y="464"/>
                    </a:lnTo>
                    <a:lnTo>
                      <a:pt x="0" y="702"/>
                    </a:lnTo>
                    <a:lnTo>
                      <a:pt x="311" y="0"/>
                    </a:lnTo>
                    <a:lnTo>
                      <a:pt x="775" y="31"/>
                    </a:lnTo>
                    <a:lnTo>
                      <a:pt x="775" y="31"/>
                    </a:lnTo>
                    <a:lnTo>
                      <a:pt x="775" y="31"/>
                    </a:lnTo>
                    <a:close/>
                  </a:path>
                </a:pathLst>
              </a:custGeom>
              <a:solidFill>
                <a:srgbClr val="F5802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1" name="Freeform 15">
                <a:extLst>
                  <a:ext uri="{FF2B5EF4-FFF2-40B4-BE49-F238E27FC236}">
                    <a16:creationId xmlns:a16="http://schemas.microsoft.com/office/drawing/2014/main" id="{CD021831-A01A-B516-BE6B-43430B625DDC}"/>
                  </a:ext>
                </a:extLst>
              </p:cNvPr>
              <p:cNvSpPr>
                <a:spLocks/>
              </p:cNvSpPr>
              <p:nvPr/>
            </p:nvSpPr>
            <p:spPr bwMode="auto">
              <a:xfrm>
                <a:off x="6294246" y="3151517"/>
                <a:ext cx="1642408" cy="519959"/>
              </a:xfrm>
              <a:custGeom>
                <a:avLst/>
                <a:gdLst>
                  <a:gd name="T0" fmla="*/ 796 w 796"/>
                  <a:gd name="T1" fmla="*/ 13 h 252"/>
                  <a:gd name="T2" fmla="*/ 117 w 796"/>
                  <a:gd name="T3" fmla="*/ 252 h 252"/>
                  <a:gd name="T4" fmla="*/ 0 w 796"/>
                  <a:gd name="T5" fmla="*/ 251 h 252"/>
                  <a:gd name="T6" fmla="*/ 318 w 796"/>
                  <a:gd name="T7" fmla="*/ 0 h 252"/>
                  <a:gd name="T8" fmla="*/ 796 w 796"/>
                  <a:gd name="T9" fmla="*/ 13 h 252"/>
                  <a:gd name="T10" fmla="*/ 796 w 796"/>
                  <a:gd name="T11" fmla="*/ 13 h 252"/>
                  <a:gd name="T12" fmla="*/ 796 w 796"/>
                  <a:gd name="T13" fmla="*/ 13 h 252"/>
                </a:gdLst>
                <a:ahLst/>
                <a:cxnLst>
                  <a:cxn ang="0">
                    <a:pos x="T0" y="T1"/>
                  </a:cxn>
                  <a:cxn ang="0">
                    <a:pos x="T2" y="T3"/>
                  </a:cxn>
                  <a:cxn ang="0">
                    <a:pos x="T4" y="T5"/>
                  </a:cxn>
                  <a:cxn ang="0">
                    <a:pos x="T6" y="T7"/>
                  </a:cxn>
                  <a:cxn ang="0">
                    <a:pos x="T8" y="T9"/>
                  </a:cxn>
                  <a:cxn ang="0">
                    <a:pos x="T10" y="T11"/>
                  </a:cxn>
                  <a:cxn ang="0">
                    <a:pos x="T12" y="T13"/>
                  </a:cxn>
                </a:cxnLst>
                <a:rect l="0" t="0" r="r" b="b"/>
                <a:pathLst>
                  <a:path w="796" h="252">
                    <a:moveTo>
                      <a:pt x="796" y="13"/>
                    </a:moveTo>
                    <a:lnTo>
                      <a:pt x="117" y="252"/>
                    </a:lnTo>
                    <a:lnTo>
                      <a:pt x="0" y="251"/>
                    </a:lnTo>
                    <a:lnTo>
                      <a:pt x="318" y="0"/>
                    </a:lnTo>
                    <a:lnTo>
                      <a:pt x="796" y="13"/>
                    </a:lnTo>
                    <a:lnTo>
                      <a:pt x="796" y="13"/>
                    </a:lnTo>
                    <a:lnTo>
                      <a:pt x="796" y="13"/>
                    </a:lnTo>
                    <a:close/>
                  </a:path>
                </a:pathLst>
              </a:custGeom>
              <a:solidFill>
                <a:srgbClr val="AF51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42" name="Freeform 16">
                <a:extLst>
                  <a:ext uri="{FF2B5EF4-FFF2-40B4-BE49-F238E27FC236}">
                    <a16:creationId xmlns:a16="http://schemas.microsoft.com/office/drawing/2014/main" id="{1CCAB35E-A3C7-F7C3-962E-F261B6C81C01}"/>
                  </a:ext>
                </a:extLst>
              </p:cNvPr>
              <p:cNvSpPr>
                <a:spLocks/>
              </p:cNvSpPr>
              <p:nvPr/>
            </p:nvSpPr>
            <p:spPr bwMode="auto">
              <a:xfrm>
                <a:off x="6294246" y="2220957"/>
                <a:ext cx="656138" cy="1448455"/>
              </a:xfrm>
              <a:custGeom>
                <a:avLst/>
                <a:gdLst>
                  <a:gd name="T0" fmla="*/ 318 w 318"/>
                  <a:gd name="T1" fmla="*/ 451 h 702"/>
                  <a:gd name="T2" fmla="*/ 0 w 318"/>
                  <a:gd name="T3" fmla="*/ 702 h 702"/>
                  <a:gd name="T4" fmla="*/ 0 w 318"/>
                  <a:gd name="T5" fmla="*/ 598 h 702"/>
                  <a:gd name="T6" fmla="*/ 311 w 318"/>
                  <a:gd name="T7" fmla="*/ 0 h 702"/>
                  <a:gd name="T8" fmla="*/ 318 w 318"/>
                  <a:gd name="T9" fmla="*/ 451 h 702"/>
                  <a:gd name="T10" fmla="*/ 318 w 318"/>
                  <a:gd name="T11" fmla="*/ 451 h 702"/>
                  <a:gd name="T12" fmla="*/ 318 w 318"/>
                  <a:gd name="T13" fmla="*/ 451 h 702"/>
                </a:gdLst>
                <a:ahLst/>
                <a:cxnLst>
                  <a:cxn ang="0">
                    <a:pos x="T0" y="T1"/>
                  </a:cxn>
                  <a:cxn ang="0">
                    <a:pos x="T2" y="T3"/>
                  </a:cxn>
                  <a:cxn ang="0">
                    <a:pos x="T4" y="T5"/>
                  </a:cxn>
                  <a:cxn ang="0">
                    <a:pos x="T6" y="T7"/>
                  </a:cxn>
                  <a:cxn ang="0">
                    <a:pos x="T8" y="T9"/>
                  </a:cxn>
                  <a:cxn ang="0">
                    <a:pos x="T10" y="T11"/>
                  </a:cxn>
                  <a:cxn ang="0">
                    <a:pos x="T12" y="T13"/>
                  </a:cxn>
                </a:cxnLst>
                <a:rect l="0" t="0" r="r" b="b"/>
                <a:pathLst>
                  <a:path w="318" h="702">
                    <a:moveTo>
                      <a:pt x="318" y="451"/>
                    </a:moveTo>
                    <a:lnTo>
                      <a:pt x="0" y="702"/>
                    </a:lnTo>
                    <a:lnTo>
                      <a:pt x="0" y="598"/>
                    </a:lnTo>
                    <a:lnTo>
                      <a:pt x="311" y="0"/>
                    </a:lnTo>
                    <a:lnTo>
                      <a:pt x="318" y="451"/>
                    </a:lnTo>
                    <a:lnTo>
                      <a:pt x="318" y="451"/>
                    </a:lnTo>
                    <a:lnTo>
                      <a:pt x="318" y="451"/>
                    </a:lnTo>
                    <a:close/>
                  </a:path>
                </a:pathLst>
              </a:custGeom>
              <a:solidFill>
                <a:srgbClr val="E068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grpSp>
          <p:nvGrpSpPr>
            <p:cNvPr id="36" name="Group 35">
              <a:extLst>
                <a:ext uri="{FF2B5EF4-FFF2-40B4-BE49-F238E27FC236}">
                  <a16:creationId xmlns:a16="http://schemas.microsoft.com/office/drawing/2014/main" id="{77BCCD89-70E8-7121-6514-D042F90C52EA}"/>
                </a:ext>
              </a:extLst>
            </p:cNvPr>
            <p:cNvGrpSpPr/>
            <p:nvPr/>
          </p:nvGrpSpPr>
          <p:grpSpPr>
            <a:xfrm>
              <a:off x="6985442" y="2199978"/>
              <a:ext cx="914400" cy="914400"/>
              <a:chOff x="6985442" y="2199978"/>
              <a:chExt cx="914400" cy="914400"/>
            </a:xfrm>
          </p:grpSpPr>
          <p:pic>
            <p:nvPicPr>
              <p:cNvPr id="37" name="Graphic 36" descr="Umbrella outline">
                <a:extLst>
                  <a:ext uri="{FF2B5EF4-FFF2-40B4-BE49-F238E27FC236}">
                    <a16:creationId xmlns:a16="http://schemas.microsoft.com/office/drawing/2014/main" id="{D04C7E65-65D8-D921-F2A8-16B81FB4A6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442" y="2199978"/>
                <a:ext cx="914400" cy="914400"/>
              </a:xfrm>
              <a:prstGeom prst="rect">
                <a:avLst/>
              </a:prstGeom>
            </p:spPr>
          </p:pic>
          <p:pic>
            <p:nvPicPr>
              <p:cNvPr id="38" name="Graphic 37" descr="Family with girl with solid fill">
                <a:extLst>
                  <a:ext uri="{FF2B5EF4-FFF2-40B4-BE49-F238E27FC236}">
                    <a16:creationId xmlns:a16="http://schemas.microsoft.com/office/drawing/2014/main" id="{B805E8B6-8DFE-585D-A343-A982DA0345B6}"/>
                  </a:ext>
                </a:extLst>
              </p:cNvPr>
              <p:cNvPicPr>
                <a:picLocks noChangeAspect="1"/>
              </p:cNvPicPr>
              <p:nvPr/>
            </p:nvPicPr>
            <p:blipFill>
              <a:blip r:embed="rId6"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24498" y="2619574"/>
                <a:ext cx="481377" cy="481377"/>
              </a:xfrm>
              <a:prstGeom prst="rect">
                <a:avLst/>
              </a:prstGeom>
            </p:spPr>
          </p:pic>
        </p:grpSp>
      </p:grpSp>
      <p:grpSp>
        <p:nvGrpSpPr>
          <p:cNvPr id="43" name="Group 42">
            <a:extLst>
              <a:ext uri="{FF2B5EF4-FFF2-40B4-BE49-F238E27FC236}">
                <a16:creationId xmlns:a16="http://schemas.microsoft.com/office/drawing/2014/main" id="{A5B76F5A-4F95-EE16-BE2C-3D44C0CA367E}"/>
              </a:ext>
            </a:extLst>
          </p:cNvPr>
          <p:cNvGrpSpPr/>
          <p:nvPr/>
        </p:nvGrpSpPr>
        <p:grpSpPr>
          <a:xfrm>
            <a:off x="4596128" y="3978912"/>
            <a:ext cx="1444329" cy="1275134"/>
            <a:chOff x="4596128" y="3978912"/>
            <a:chExt cx="1444329" cy="1275134"/>
          </a:xfrm>
        </p:grpSpPr>
        <p:grpSp>
          <p:nvGrpSpPr>
            <p:cNvPr id="44" name="Group 43">
              <a:extLst>
                <a:ext uri="{FF2B5EF4-FFF2-40B4-BE49-F238E27FC236}">
                  <a16:creationId xmlns:a16="http://schemas.microsoft.com/office/drawing/2014/main" id="{231A9EBB-98A4-B61D-3AE9-58C9F407A8C5}"/>
                </a:ext>
              </a:extLst>
            </p:cNvPr>
            <p:cNvGrpSpPr/>
            <p:nvPr/>
          </p:nvGrpSpPr>
          <p:grpSpPr>
            <a:xfrm>
              <a:off x="4596128" y="3978912"/>
              <a:ext cx="1444329" cy="1275134"/>
              <a:chOff x="4596128" y="3978912"/>
              <a:chExt cx="1444329" cy="1275134"/>
            </a:xfrm>
          </p:grpSpPr>
          <p:sp>
            <p:nvSpPr>
              <p:cNvPr id="46" name="Freeform 6">
                <a:extLst>
                  <a:ext uri="{FF2B5EF4-FFF2-40B4-BE49-F238E27FC236}">
                    <a16:creationId xmlns:a16="http://schemas.microsoft.com/office/drawing/2014/main" id="{4B7EF22E-B764-2A54-697D-2CEB4B53556A}"/>
                  </a:ext>
                </a:extLst>
              </p:cNvPr>
              <p:cNvSpPr>
                <a:spLocks/>
              </p:cNvSpPr>
              <p:nvPr/>
            </p:nvSpPr>
            <p:spPr bwMode="auto">
              <a:xfrm>
                <a:off x="5134657" y="3978912"/>
                <a:ext cx="905800" cy="897547"/>
              </a:xfrm>
              <a:custGeom>
                <a:avLst/>
                <a:gdLst>
                  <a:gd name="T0" fmla="*/ 0 w 439"/>
                  <a:gd name="T1" fmla="*/ 0 h 435"/>
                  <a:gd name="T2" fmla="*/ 439 w 439"/>
                  <a:gd name="T3" fmla="*/ 0 h 435"/>
                  <a:gd name="T4" fmla="*/ 439 w 439"/>
                  <a:gd name="T5" fmla="*/ 435 h 435"/>
                  <a:gd name="T6" fmla="*/ 0 w 439"/>
                  <a:gd name="T7" fmla="*/ 435 h 435"/>
                  <a:gd name="T8" fmla="*/ 0 w 439"/>
                  <a:gd name="T9" fmla="*/ 0 h 435"/>
                  <a:gd name="T10" fmla="*/ 0 w 439"/>
                  <a:gd name="T11" fmla="*/ 0 h 435"/>
                </a:gdLst>
                <a:ahLst/>
                <a:cxnLst>
                  <a:cxn ang="0">
                    <a:pos x="T0" y="T1"/>
                  </a:cxn>
                  <a:cxn ang="0">
                    <a:pos x="T2" y="T3"/>
                  </a:cxn>
                  <a:cxn ang="0">
                    <a:pos x="T4" y="T5"/>
                  </a:cxn>
                  <a:cxn ang="0">
                    <a:pos x="T6" y="T7"/>
                  </a:cxn>
                  <a:cxn ang="0">
                    <a:pos x="T8" y="T9"/>
                  </a:cxn>
                  <a:cxn ang="0">
                    <a:pos x="T10" y="T11"/>
                  </a:cxn>
                </a:cxnLst>
                <a:rect l="0" t="0" r="r" b="b"/>
                <a:pathLst>
                  <a:path w="439" h="435">
                    <a:moveTo>
                      <a:pt x="0" y="0"/>
                    </a:moveTo>
                    <a:lnTo>
                      <a:pt x="439" y="0"/>
                    </a:lnTo>
                    <a:lnTo>
                      <a:pt x="439" y="435"/>
                    </a:lnTo>
                    <a:lnTo>
                      <a:pt x="0" y="435"/>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7" name="Freeform 12">
                <a:extLst>
                  <a:ext uri="{FF2B5EF4-FFF2-40B4-BE49-F238E27FC236}">
                    <a16:creationId xmlns:a16="http://schemas.microsoft.com/office/drawing/2014/main" id="{AEF333D2-27E4-EFA6-5647-65651C59591D}"/>
                  </a:ext>
                </a:extLst>
              </p:cNvPr>
              <p:cNvSpPr>
                <a:spLocks/>
              </p:cNvSpPr>
              <p:nvPr/>
            </p:nvSpPr>
            <p:spPr bwMode="auto">
              <a:xfrm>
                <a:off x="4596128" y="4257460"/>
                <a:ext cx="1186413" cy="996586"/>
              </a:xfrm>
              <a:custGeom>
                <a:avLst/>
                <a:gdLst>
                  <a:gd name="T0" fmla="*/ 575 w 575"/>
                  <a:gd name="T1" fmla="*/ 0 h 483"/>
                  <a:gd name="T2" fmla="*/ 402 w 575"/>
                  <a:gd name="T3" fmla="*/ 483 h 483"/>
                  <a:gd name="T4" fmla="*/ 12 w 575"/>
                  <a:gd name="T5" fmla="*/ 461 h 483"/>
                  <a:gd name="T6" fmla="*/ 0 w 575"/>
                  <a:gd name="T7" fmla="*/ 95 h 483"/>
                  <a:gd name="T8" fmla="*/ 575 w 575"/>
                  <a:gd name="T9" fmla="*/ 0 h 483"/>
                </a:gdLst>
                <a:ahLst/>
                <a:cxnLst>
                  <a:cxn ang="0">
                    <a:pos x="T0" y="T1"/>
                  </a:cxn>
                  <a:cxn ang="0">
                    <a:pos x="T2" y="T3"/>
                  </a:cxn>
                  <a:cxn ang="0">
                    <a:pos x="T4" y="T5"/>
                  </a:cxn>
                  <a:cxn ang="0">
                    <a:pos x="T6" y="T7"/>
                  </a:cxn>
                  <a:cxn ang="0">
                    <a:pos x="T8" y="T9"/>
                  </a:cxn>
                </a:cxnLst>
                <a:rect l="0" t="0" r="r" b="b"/>
                <a:pathLst>
                  <a:path w="575" h="483">
                    <a:moveTo>
                      <a:pt x="575" y="0"/>
                    </a:moveTo>
                    <a:lnTo>
                      <a:pt x="402" y="483"/>
                    </a:lnTo>
                    <a:lnTo>
                      <a:pt x="12" y="461"/>
                    </a:lnTo>
                    <a:lnTo>
                      <a:pt x="0" y="95"/>
                    </a:lnTo>
                    <a:lnTo>
                      <a:pt x="575"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48" name="Freeform 19">
                <a:extLst>
                  <a:ext uri="{FF2B5EF4-FFF2-40B4-BE49-F238E27FC236}">
                    <a16:creationId xmlns:a16="http://schemas.microsoft.com/office/drawing/2014/main" id="{6D16C5D4-C7DF-0B4B-C0F4-A5B8348D0914}"/>
                  </a:ext>
                </a:extLst>
              </p:cNvPr>
              <p:cNvSpPr>
                <a:spLocks/>
              </p:cNvSpPr>
              <p:nvPr/>
            </p:nvSpPr>
            <p:spPr bwMode="auto">
              <a:xfrm>
                <a:off x="5425586" y="4257460"/>
                <a:ext cx="356956" cy="996586"/>
              </a:xfrm>
              <a:custGeom>
                <a:avLst/>
                <a:gdLst>
                  <a:gd name="T0" fmla="*/ 0 w 173"/>
                  <a:gd name="T1" fmla="*/ 104 h 483"/>
                  <a:gd name="T2" fmla="*/ 173 w 173"/>
                  <a:gd name="T3" fmla="*/ 0 h 483"/>
                  <a:gd name="T4" fmla="*/ 173 w 173"/>
                  <a:gd name="T5" fmla="*/ 104 h 483"/>
                  <a:gd name="T6" fmla="*/ 0 w 173"/>
                  <a:gd name="T7" fmla="*/ 483 h 483"/>
                  <a:gd name="T8" fmla="*/ 0 w 173"/>
                  <a:gd name="T9" fmla="*/ 104 h 483"/>
                  <a:gd name="T10" fmla="*/ 0 w 173"/>
                  <a:gd name="T11" fmla="*/ 104 h 483"/>
                  <a:gd name="T12" fmla="*/ 0 w 173"/>
                  <a:gd name="T13" fmla="*/ 104 h 483"/>
                </a:gdLst>
                <a:ahLst/>
                <a:cxnLst>
                  <a:cxn ang="0">
                    <a:pos x="T0" y="T1"/>
                  </a:cxn>
                  <a:cxn ang="0">
                    <a:pos x="T2" y="T3"/>
                  </a:cxn>
                  <a:cxn ang="0">
                    <a:pos x="T4" y="T5"/>
                  </a:cxn>
                  <a:cxn ang="0">
                    <a:pos x="T6" y="T7"/>
                  </a:cxn>
                  <a:cxn ang="0">
                    <a:pos x="T8" y="T9"/>
                  </a:cxn>
                  <a:cxn ang="0">
                    <a:pos x="T10" y="T11"/>
                  </a:cxn>
                  <a:cxn ang="0">
                    <a:pos x="T12" y="T13"/>
                  </a:cxn>
                </a:cxnLst>
                <a:rect l="0" t="0" r="r" b="b"/>
                <a:pathLst>
                  <a:path w="173" h="483">
                    <a:moveTo>
                      <a:pt x="0" y="104"/>
                    </a:moveTo>
                    <a:lnTo>
                      <a:pt x="173" y="0"/>
                    </a:lnTo>
                    <a:lnTo>
                      <a:pt x="173" y="104"/>
                    </a:lnTo>
                    <a:lnTo>
                      <a:pt x="0" y="483"/>
                    </a:lnTo>
                    <a:lnTo>
                      <a:pt x="0" y="104"/>
                    </a:lnTo>
                    <a:lnTo>
                      <a:pt x="0" y="104"/>
                    </a:lnTo>
                    <a:lnTo>
                      <a:pt x="0" y="104"/>
                    </a:lnTo>
                    <a:close/>
                  </a:path>
                </a:pathLst>
              </a:custGeom>
              <a:gradFill flip="none" rotWithShape="1">
                <a:gsLst>
                  <a:gs pos="0">
                    <a:schemeClr val="accent2">
                      <a:lumMod val="65000"/>
                    </a:schemeClr>
                  </a:gs>
                  <a:gs pos="100000">
                    <a:schemeClr val="accent2">
                      <a:lumMod val="6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49" name="Freeform 20">
                <a:extLst>
                  <a:ext uri="{FF2B5EF4-FFF2-40B4-BE49-F238E27FC236}">
                    <a16:creationId xmlns:a16="http://schemas.microsoft.com/office/drawing/2014/main" id="{996638A3-3446-7A2E-50C1-FB0432B47799}"/>
                  </a:ext>
                </a:extLst>
              </p:cNvPr>
              <p:cNvSpPr>
                <a:spLocks/>
              </p:cNvSpPr>
              <p:nvPr/>
            </p:nvSpPr>
            <p:spPr bwMode="auto">
              <a:xfrm>
                <a:off x="4596128" y="4257460"/>
                <a:ext cx="1186413" cy="214586"/>
              </a:xfrm>
              <a:custGeom>
                <a:avLst/>
                <a:gdLst>
                  <a:gd name="T0" fmla="*/ 0 w 575"/>
                  <a:gd name="T1" fmla="*/ 95 h 104"/>
                  <a:gd name="T2" fmla="*/ 458 w 575"/>
                  <a:gd name="T3" fmla="*/ 0 h 104"/>
                  <a:gd name="T4" fmla="*/ 575 w 575"/>
                  <a:gd name="T5" fmla="*/ 0 h 104"/>
                  <a:gd name="T6" fmla="*/ 402 w 575"/>
                  <a:gd name="T7" fmla="*/ 104 h 104"/>
                  <a:gd name="T8" fmla="*/ 0 w 575"/>
                  <a:gd name="T9" fmla="*/ 95 h 104"/>
                  <a:gd name="T10" fmla="*/ 0 w 575"/>
                  <a:gd name="T11" fmla="*/ 95 h 104"/>
                  <a:gd name="T12" fmla="*/ 0 w 575"/>
                  <a:gd name="T13" fmla="*/ 95 h 104"/>
                </a:gdLst>
                <a:ahLst/>
                <a:cxnLst>
                  <a:cxn ang="0">
                    <a:pos x="T0" y="T1"/>
                  </a:cxn>
                  <a:cxn ang="0">
                    <a:pos x="T2" y="T3"/>
                  </a:cxn>
                  <a:cxn ang="0">
                    <a:pos x="T4" y="T5"/>
                  </a:cxn>
                  <a:cxn ang="0">
                    <a:pos x="T6" y="T7"/>
                  </a:cxn>
                  <a:cxn ang="0">
                    <a:pos x="T8" y="T9"/>
                  </a:cxn>
                  <a:cxn ang="0">
                    <a:pos x="T10" y="T11"/>
                  </a:cxn>
                  <a:cxn ang="0">
                    <a:pos x="T12" y="T13"/>
                  </a:cxn>
                </a:cxnLst>
                <a:rect l="0" t="0" r="r" b="b"/>
                <a:pathLst>
                  <a:path w="575" h="104">
                    <a:moveTo>
                      <a:pt x="0" y="95"/>
                    </a:moveTo>
                    <a:lnTo>
                      <a:pt x="458" y="0"/>
                    </a:lnTo>
                    <a:lnTo>
                      <a:pt x="575" y="0"/>
                    </a:lnTo>
                    <a:lnTo>
                      <a:pt x="402" y="104"/>
                    </a:lnTo>
                    <a:lnTo>
                      <a:pt x="0" y="95"/>
                    </a:lnTo>
                    <a:lnTo>
                      <a:pt x="0" y="95"/>
                    </a:lnTo>
                    <a:lnTo>
                      <a:pt x="0" y="95"/>
                    </a:lnTo>
                    <a:close/>
                  </a:path>
                </a:pathLst>
              </a:custGeom>
              <a:gradFill flip="none" rotWithShape="1">
                <a:gsLst>
                  <a:gs pos="0">
                    <a:schemeClr val="accent2">
                      <a:lumMod val="83000"/>
                    </a:schemeClr>
                  </a:gs>
                  <a:gs pos="100000">
                    <a:schemeClr val="accent2">
                      <a:lumMod val="83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45" name="Graphic 44" descr="Signature with solid fill">
              <a:extLst>
                <a:ext uri="{FF2B5EF4-FFF2-40B4-BE49-F238E27FC236}">
                  <a16:creationId xmlns:a16="http://schemas.microsoft.com/office/drawing/2014/main" id="{CB2B8666-8305-22FE-A86D-870B57E9CAD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41555" y="4449185"/>
              <a:ext cx="732414" cy="732414"/>
            </a:xfrm>
            <a:prstGeom prst="rect">
              <a:avLst/>
            </a:prstGeom>
          </p:spPr>
        </p:pic>
      </p:grpSp>
      <p:grpSp>
        <p:nvGrpSpPr>
          <p:cNvPr id="50" name="Group 49">
            <a:extLst>
              <a:ext uri="{FF2B5EF4-FFF2-40B4-BE49-F238E27FC236}">
                <a16:creationId xmlns:a16="http://schemas.microsoft.com/office/drawing/2014/main" id="{B005CD85-24F7-C942-7769-54D5DB81FEBC}"/>
              </a:ext>
            </a:extLst>
          </p:cNvPr>
          <p:cNvGrpSpPr/>
          <p:nvPr/>
        </p:nvGrpSpPr>
        <p:grpSpPr>
          <a:xfrm>
            <a:off x="6040456" y="3978912"/>
            <a:ext cx="2164430" cy="2046819"/>
            <a:chOff x="6040456" y="3978912"/>
            <a:chExt cx="2164430" cy="2046819"/>
          </a:xfrm>
        </p:grpSpPr>
        <p:grpSp>
          <p:nvGrpSpPr>
            <p:cNvPr id="51" name="Group 50">
              <a:extLst>
                <a:ext uri="{FF2B5EF4-FFF2-40B4-BE49-F238E27FC236}">
                  <a16:creationId xmlns:a16="http://schemas.microsoft.com/office/drawing/2014/main" id="{D94BEFE5-57E4-A1DA-C913-8C251F26D26D}"/>
                </a:ext>
              </a:extLst>
            </p:cNvPr>
            <p:cNvGrpSpPr/>
            <p:nvPr/>
          </p:nvGrpSpPr>
          <p:grpSpPr>
            <a:xfrm>
              <a:off x="6040456" y="3978912"/>
              <a:ext cx="2164430" cy="2046819"/>
              <a:chOff x="6040456" y="3978912"/>
              <a:chExt cx="2164430" cy="2046819"/>
            </a:xfrm>
          </p:grpSpPr>
          <p:sp>
            <p:nvSpPr>
              <p:cNvPr id="53" name="Freeform 5">
                <a:extLst>
                  <a:ext uri="{FF2B5EF4-FFF2-40B4-BE49-F238E27FC236}">
                    <a16:creationId xmlns:a16="http://schemas.microsoft.com/office/drawing/2014/main" id="{A54E807D-5DAE-0AD6-B288-C7791A67C156}"/>
                  </a:ext>
                </a:extLst>
              </p:cNvPr>
              <p:cNvSpPr>
                <a:spLocks/>
              </p:cNvSpPr>
              <p:nvPr/>
            </p:nvSpPr>
            <p:spPr bwMode="auto">
              <a:xfrm>
                <a:off x="6040456" y="3978912"/>
                <a:ext cx="909927" cy="897547"/>
              </a:xfrm>
              <a:custGeom>
                <a:avLst/>
                <a:gdLst>
                  <a:gd name="T0" fmla="*/ 0 w 441"/>
                  <a:gd name="T1" fmla="*/ 0 h 435"/>
                  <a:gd name="T2" fmla="*/ 441 w 441"/>
                  <a:gd name="T3" fmla="*/ 0 h 435"/>
                  <a:gd name="T4" fmla="*/ 441 w 441"/>
                  <a:gd name="T5" fmla="*/ 435 h 435"/>
                  <a:gd name="T6" fmla="*/ 0 w 441"/>
                  <a:gd name="T7" fmla="*/ 435 h 435"/>
                  <a:gd name="T8" fmla="*/ 0 w 441"/>
                  <a:gd name="T9" fmla="*/ 0 h 435"/>
                  <a:gd name="T10" fmla="*/ 0 w 441"/>
                  <a:gd name="T11" fmla="*/ 0 h 435"/>
                </a:gdLst>
                <a:ahLst/>
                <a:cxnLst>
                  <a:cxn ang="0">
                    <a:pos x="T0" y="T1"/>
                  </a:cxn>
                  <a:cxn ang="0">
                    <a:pos x="T2" y="T3"/>
                  </a:cxn>
                  <a:cxn ang="0">
                    <a:pos x="T4" y="T5"/>
                  </a:cxn>
                  <a:cxn ang="0">
                    <a:pos x="T6" y="T7"/>
                  </a:cxn>
                  <a:cxn ang="0">
                    <a:pos x="T8" y="T9"/>
                  </a:cxn>
                  <a:cxn ang="0">
                    <a:pos x="T10" y="T11"/>
                  </a:cxn>
                </a:cxnLst>
                <a:rect l="0" t="0" r="r" b="b"/>
                <a:pathLst>
                  <a:path w="441" h="435">
                    <a:moveTo>
                      <a:pt x="0" y="0"/>
                    </a:moveTo>
                    <a:lnTo>
                      <a:pt x="441" y="0"/>
                    </a:lnTo>
                    <a:lnTo>
                      <a:pt x="441" y="435"/>
                    </a:lnTo>
                    <a:lnTo>
                      <a:pt x="0" y="435"/>
                    </a:lnTo>
                    <a:lnTo>
                      <a:pt x="0" y="0"/>
                    </a:lnTo>
                    <a:lnTo>
                      <a:pt x="0" y="0"/>
                    </a:lnTo>
                    <a:close/>
                  </a:path>
                </a:pathLst>
              </a:custGeom>
              <a:solidFill>
                <a:srgbClr val="1B429A"/>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54" name="Freeform 11">
                <a:extLst>
                  <a:ext uri="{FF2B5EF4-FFF2-40B4-BE49-F238E27FC236}">
                    <a16:creationId xmlns:a16="http://schemas.microsoft.com/office/drawing/2014/main" id="{8A4F5460-13E1-1FD0-9D0F-A26B2B7C644C}"/>
                  </a:ext>
                </a:extLst>
              </p:cNvPr>
              <p:cNvSpPr>
                <a:spLocks/>
              </p:cNvSpPr>
              <p:nvPr/>
            </p:nvSpPr>
            <p:spPr bwMode="auto">
              <a:xfrm>
                <a:off x="6294246" y="4257460"/>
                <a:ext cx="1910640" cy="1768271"/>
              </a:xfrm>
              <a:custGeom>
                <a:avLst/>
                <a:gdLst>
                  <a:gd name="T0" fmla="*/ 540 w 540"/>
                  <a:gd name="T1" fmla="*/ 71 h 502"/>
                  <a:gd name="T2" fmla="*/ 503 w 540"/>
                  <a:gd name="T3" fmla="*/ 453 h 502"/>
                  <a:gd name="T4" fmla="*/ 97 w 540"/>
                  <a:gd name="T5" fmla="*/ 502 h 502"/>
                  <a:gd name="T6" fmla="*/ 0 w 540"/>
                  <a:gd name="T7" fmla="*/ 0 h 502"/>
                  <a:gd name="T8" fmla="*/ 540 w 540"/>
                  <a:gd name="T9" fmla="*/ 71 h 502"/>
                  <a:gd name="T10" fmla="*/ 540 w 540"/>
                  <a:gd name="T11" fmla="*/ 71 h 502"/>
                </a:gdLst>
                <a:ahLst/>
                <a:cxnLst>
                  <a:cxn ang="0">
                    <a:pos x="T0" y="T1"/>
                  </a:cxn>
                  <a:cxn ang="0">
                    <a:pos x="T2" y="T3"/>
                  </a:cxn>
                  <a:cxn ang="0">
                    <a:pos x="T4" y="T5"/>
                  </a:cxn>
                  <a:cxn ang="0">
                    <a:pos x="T6" y="T7"/>
                  </a:cxn>
                  <a:cxn ang="0">
                    <a:pos x="T8" y="T9"/>
                  </a:cxn>
                  <a:cxn ang="0">
                    <a:pos x="T10" y="T11"/>
                  </a:cxn>
                </a:cxnLst>
                <a:rect l="0" t="0" r="r" b="b"/>
                <a:pathLst>
                  <a:path w="540" h="502">
                    <a:moveTo>
                      <a:pt x="540" y="71"/>
                    </a:moveTo>
                    <a:cubicBezTo>
                      <a:pt x="528" y="192"/>
                      <a:pt x="515" y="331"/>
                      <a:pt x="503" y="453"/>
                    </a:cubicBezTo>
                    <a:cubicBezTo>
                      <a:pt x="97" y="502"/>
                      <a:pt x="97" y="502"/>
                      <a:pt x="97" y="502"/>
                    </a:cubicBezTo>
                    <a:cubicBezTo>
                      <a:pt x="0" y="0"/>
                      <a:pt x="0" y="0"/>
                      <a:pt x="0" y="0"/>
                    </a:cubicBezTo>
                    <a:cubicBezTo>
                      <a:pt x="540" y="71"/>
                      <a:pt x="540" y="71"/>
                      <a:pt x="540" y="71"/>
                    </a:cubicBezTo>
                    <a:cubicBezTo>
                      <a:pt x="540" y="71"/>
                      <a:pt x="540" y="71"/>
                      <a:pt x="540" y="71"/>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Verdana"/>
                  <a:ea typeface="+mn-ea"/>
                  <a:cs typeface="+mn-cs"/>
                </a:endParaRPr>
              </a:p>
            </p:txBody>
          </p:sp>
          <p:sp>
            <p:nvSpPr>
              <p:cNvPr id="55" name="Freeform 17">
                <a:extLst>
                  <a:ext uri="{FF2B5EF4-FFF2-40B4-BE49-F238E27FC236}">
                    <a16:creationId xmlns:a16="http://schemas.microsoft.com/office/drawing/2014/main" id="{E9FA64CB-B108-A415-AD2D-9FBAE5D8EB1B}"/>
                  </a:ext>
                </a:extLst>
              </p:cNvPr>
              <p:cNvSpPr>
                <a:spLocks/>
              </p:cNvSpPr>
              <p:nvPr/>
            </p:nvSpPr>
            <p:spPr bwMode="auto">
              <a:xfrm>
                <a:off x="6294246" y="4257460"/>
                <a:ext cx="350766" cy="1768271"/>
              </a:xfrm>
              <a:custGeom>
                <a:avLst/>
                <a:gdLst>
                  <a:gd name="T0" fmla="*/ 167 w 170"/>
                  <a:gd name="T1" fmla="*/ 857 h 857"/>
                  <a:gd name="T2" fmla="*/ 0 w 170"/>
                  <a:gd name="T3" fmla="*/ 107 h 857"/>
                  <a:gd name="T4" fmla="*/ 0 w 170"/>
                  <a:gd name="T5" fmla="*/ 0 h 857"/>
                  <a:gd name="T6" fmla="*/ 170 w 170"/>
                  <a:gd name="T7" fmla="*/ 138 h 857"/>
                  <a:gd name="T8" fmla="*/ 167 w 170"/>
                  <a:gd name="T9" fmla="*/ 857 h 857"/>
                  <a:gd name="T10" fmla="*/ 167 w 170"/>
                  <a:gd name="T11" fmla="*/ 857 h 857"/>
                  <a:gd name="T12" fmla="*/ 167 w 170"/>
                  <a:gd name="T13" fmla="*/ 857 h 857"/>
                </a:gdLst>
                <a:ahLst/>
                <a:cxnLst>
                  <a:cxn ang="0">
                    <a:pos x="T0" y="T1"/>
                  </a:cxn>
                  <a:cxn ang="0">
                    <a:pos x="T2" y="T3"/>
                  </a:cxn>
                  <a:cxn ang="0">
                    <a:pos x="T4" y="T5"/>
                  </a:cxn>
                  <a:cxn ang="0">
                    <a:pos x="T6" y="T7"/>
                  </a:cxn>
                  <a:cxn ang="0">
                    <a:pos x="T8" y="T9"/>
                  </a:cxn>
                  <a:cxn ang="0">
                    <a:pos x="T10" y="T11"/>
                  </a:cxn>
                  <a:cxn ang="0">
                    <a:pos x="T12" y="T13"/>
                  </a:cxn>
                </a:cxnLst>
                <a:rect l="0" t="0" r="r" b="b"/>
                <a:pathLst>
                  <a:path w="170" h="857">
                    <a:moveTo>
                      <a:pt x="167" y="857"/>
                    </a:moveTo>
                    <a:lnTo>
                      <a:pt x="0" y="107"/>
                    </a:lnTo>
                    <a:lnTo>
                      <a:pt x="0" y="0"/>
                    </a:lnTo>
                    <a:lnTo>
                      <a:pt x="170" y="138"/>
                    </a:lnTo>
                    <a:lnTo>
                      <a:pt x="167" y="857"/>
                    </a:lnTo>
                    <a:lnTo>
                      <a:pt x="167" y="857"/>
                    </a:lnTo>
                    <a:lnTo>
                      <a:pt x="167" y="857"/>
                    </a:lnTo>
                    <a:close/>
                  </a:path>
                </a:pathLst>
              </a:custGeom>
              <a:solidFill>
                <a:srgbClr val="1431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sp>
            <p:nvSpPr>
              <p:cNvPr id="56" name="Freeform 18">
                <a:extLst>
                  <a:ext uri="{FF2B5EF4-FFF2-40B4-BE49-F238E27FC236}">
                    <a16:creationId xmlns:a16="http://schemas.microsoft.com/office/drawing/2014/main" id="{253DE760-DF73-D93F-CD8A-BDE8E2CB17F6}"/>
                  </a:ext>
                </a:extLst>
              </p:cNvPr>
              <p:cNvSpPr>
                <a:spLocks/>
              </p:cNvSpPr>
              <p:nvPr/>
            </p:nvSpPr>
            <p:spPr bwMode="auto">
              <a:xfrm>
                <a:off x="6294246" y="4257460"/>
                <a:ext cx="1910640" cy="284739"/>
              </a:xfrm>
              <a:custGeom>
                <a:avLst/>
                <a:gdLst>
                  <a:gd name="T0" fmla="*/ 170 w 926"/>
                  <a:gd name="T1" fmla="*/ 138 h 138"/>
                  <a:gd name="T2" fmla="*/ 0 w 926"/>
                  <a:gd name="T3" fmla="*/ 0 h 138"/>
                  <a:gd name="T4" fmla="*/ 103 w 926"/>
                  <a:gd name="T5" fmla="*/ 0 h 138"/>
                  <a:gd name="T6" fmla="*/ 926 w 926"/>
                  <a:gd name="T7" fmla="*/ 121 h 138"/>
                  <a:gd name="T8" fmla="*/ 170 w 926"/>
                  <a:gd name="T9" fmla="*/ 138 h 138"/>
                  <a:gd name="T10" fmla="*/ 170 w 926"/>
                  <a:gd name="T11" fmla="*/ 138 h 138"/>
                  <a:gd name="T12" fmla="*/ 170 w 926"/>
                  <a:gd name="T13" fmla="*/ 138 h 138"/>
                </a:gdLst>
                <a:ahLst/>
                <a:cxnLst>
                  <a:cxn ang="0">
                    <a:pos x="T0" y="T1"/>
                  </a:cxn>
                  <a:cxn ang="0">
                    <a:pos x="T2" y="T3"/>
                  </a:cxn>
                  <a:cxn ang="0">
                    <a:pos x="T4" y="T5"/>
                  </a:cxn>
                  <a:cxn ang="0">
                    <a:pos x="T6" y="T7"/>
                  </a:cxn>
                  <a:cxn ang="0">
                    <a:pos x="T8" y="T9"/>
                  </a:cxn>
                  <a:cxn ang="0">
                    <a:pos x="T10" y="T11"/>
                  </a:cxn>
                  <a:cxn ang="0">
                    <a:pos x="T12" y="T13"/>
                  </a:cxn>
                </a:cxnLst>
                <a:rect l="0" t="0" r="r" b="b"/>
                <a:pathLst>
                  <a:path w="926" h="138">
                    <a:moveTo>
                      <a:pt x="170" y="138"/>
                    </a:moveTo>
                    <a:lnTo>
                      <a:pt x="0" y="0"/>
                    </a:lnTo>
                    <a:lnTo>
                      <a:pt x="103" y="0"/>
                    </a:lnTo>
                    <a:lnTo>
                      <a:pt x="926" y="121"/>
                    </a:lnTo>
                    <a:lnTo>
                      <a:pt x="170" y="138"/>
                    </a:lnTo>
                    <a:lnTo>
                      <a:pt x="170" y="138"/>
                    </a:lnTo>
                    <a:lnTo>
                      <a:pt x="170" y="138"/>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a:ea typeface="+mn-ea"/>
                  <a:cs typeface="+mn-cs"/>
                </a:endParaRPr>
              </a:p>
            </p:txBody>
          </p:sp>
        </p:grpSp>
        <p:pic>
          <p:nvPicPr>
            <p:cNvPr id="52" name="Graphic 51" descr="Open hand with plant with solid fill">
              <a:extLst>
                <a:ext uri="{FF2B5EF4-FFF2-40B4-BE49-F238E27FC236}">
                  <a16:creationId xmlns:a16="http://schemas.microsoft.com/office/drawing/2014/main" id="{5B1B5370-1F10-40B6-3B20-49E101C9A13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14390" y="4690774"/>
              <a:ext cx="1038371" cy="1038371"/>
            </a:xfrm>
            <a:prstGeom prst="rect">
              <a:avLst/>
            </a:prstGeom>
          </p:spPr>
        </p:pic>
      </p:grpSp>
    </p:spTree>
    <p:extLst>
      <p:ext uri="{BB962C8B-B14F-4D97-AF65-F5344CB8AC3E}">
        <p14:creationId xmlns:p14="http://schemas.microsoft.com/office/powerpoint/2010/main" val="350605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52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750" fill="hold"/>
                                        <p:tgtEl>
                                          <p:spTgt spid="27"/>
                                        </p:tgtEl>
                                        <p:attrNameLst>
                                          <p:attrName>ppt_w</p:attrName>
                                        </p:attrNameLst>
                                      </p:cBhvr>
                                      <p:tavLst>
                                        <p:tav tm="0">
                                          <p:val>
                                            <p:fltVal val="0"/>
                                          </p:val>
                                        </p:tav>
                                        <p:tav tm="100000">
                                          <p:val>
                                            <p:strVal val="#ppt_w"/>
                                          </p:val>
                                        </p:tav>
                                      </p:tavLst>
                                    </p:anim>
                                    <p:anim calcmode="lin" valueType="num">
                                      <p:cBhvr>
                                        <p:cTn id="8" dur="750" fill="hold"/>
                                        <p:tgtEl>
                                          <p:spTgt spid="27"/>
                                        </p:tgtEl>
                                        <p:attrNameLst>
                                          <p:attrName>ppt_h</p:attrName>
                                        </p:attrNameLst>
                                      </p:cBhvr>
                                      <p:tavLst>
                                        <p:tav tm="0">
                                          <p:val>
                                            <p:fltVal val="0"/>
                                          </p:val>
                                        </p:tav>
                                        <p:tav tm="100000">
                                          <p:val>
                                            <p:strVal val="#ppt_h"/>
                                          </p:val>
                                        </p:tav>
                                      </p:tavLst>
                                    </p:anim>
                                    <p:animEffect transition="in" filter="fade">
                                      <p:cBhvr>
                                        <p:cTn id="9" dur="750"/>
                                        <p:tgtEl>
                                          <p:spTgt spid="27"/>
                                        </p:tgtEl>
                                      </p:cBhvr>
                                    </p:animEffect>
                                    <p:anim calcmode="lin" valueType="num">
                                      <p:cBhvr>
                                        <p:cTn id="10" dur="750" fill="hold"/>
                                        <p:tgtEl>
                                          <p:spTgt spid="27"/>
                                        </p:tgtEl>
                                        <p:attrNameLst>
                                          <p:attrName>ppt_x</p:attrName>
                                        </p:attrNameLst>
                                      </p:cBhvr>
                                      <p:tavLst>
                                        <p:tav tm="0">
                                          <p:val>
                                            <p:fltVal val="0.5"/>
                                          </p:val>
                                        </p:tav>
                                        <p:tav tm="100000">
                                          <p:val>
                                            <p:strVal val="#ppt_x"/>
                                          </p:val>
                                        </p:tav>
                                      </p:tavLst>
                                    </p:anim>
                                    <p:anim calcmode="lin" valueType="num">
                                      <p:cBhvr>
                                        <p:cTn id="11" dur="750" fill="hold"/>
                                        <p:tgtEl>
                                          <p:spTgt spid="27"/>
                                        </p:tgtEl>
                                        <p:attrNameLst>
                                          <p:attrName>ppt_y</p:attrName>
                                        </p:attrNameLst>
                                      </p:cBhvr>
                                      <p:tavLst>
                                        <p:tav tm="0">
                                          <p:val>
                                            <p:fltVal val="0.5"/>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fade">
                                      <p:cBhvr>
                                        <p:cTn id="15" dur="750"/>
                                        <p:tgtEl>
                                          <p:spTgt spid="4">
                                            <p:bg/>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fade">
                                      <p:cBhvr>
                                        <p:cTn id="18" dur="75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p:cTn id="23" dur="750" fill="hold"/>
                                        <p:tgtEl>
                                          <p:spTgt spid="34"/>
                                        </p:tgtEl>
                                        <p:attrNameLst>
                                          <p:attrName>ppt_w</p:attrName>
                                        </p:attrNameLst>
                                      </p:cBhvr>
                                      <p:tavLst>
                                        <p:tav tm="0">
                                          <p:val>
                                            <p:fltVal val="0"/>
                                          </p:val>
                                        </p:tav>
                                        <p:tav tm="100000">
                                          <p:val>
                                            <p:strVal val="#ppt_w"/>
                                          </p:val>
                                        </p:tav>
                                      </p:tavLst>
                                    </p:anim>
                                    <p:anim calcmode="lin" valueType="num">
                                      <p:cBhvr>
                                        <p:cTn id="24" dur="750" fill="hold"/>
                                        <p:tgtEl>
                                          <p:spTgt spid="34"/>
                                        </p:tgtEl>
                                        <p:attrNameLst>
                                          <p:attrName>ppt_h</p:attrName>
                                        </p:attrNameLst>
                                      </p:cBhvr>
                                      <p:tavLst>
                                        <p:tav tm="0">
                                          <p:val>
                                            <p:fltVal val="0"/>
                                          </p:val>
                                        </p:tav>
                                        <p:tav tm="100000">
                                          <p:val>
                                            <p:strVal val="#ppt_h"/>
                                          </p:val>
                                        </p:tav>
                                      </p:tavLst>
                                    </p:anim>
                                    <p:animEffect transition="in" filter="fade">
                                      <p:cBhvr>
                                        <p:cTn id="25" dur="750"/>
                                        <p:tgtEl>
                                          <p:spTgt spid="34"/>
                                        </p:tgtEl>
                                      </p:cBhvr>
                                    </p:animEffect>
                                    <p:anim calcmode="lin" valueType="num">
                                      <p:cBhvr>
                                        <p:cTn id="26" dur="750" fill="hold"/>
                                        <p:tgtEl>
                                          <p:spTgt spid="34"/>
                                        </p:tgtEl>
                                        <p:attrNameLst>
                                          <p:attrName>ppt_x</p:attrName>
                                        </p:attrNameLst>
                                      </p:cBhvr>
                                      <p:tavLst>
                                        <p:tav tm="0">
                                          <p:val>
                                            <p:fltVal val="0.5"/>
                                          </p:val>
                                        </p:tav>
                                        <p:tav tm="100000">
                                          <p:val>
                                            <p:strVal val="#ppt_x"/>
                                          </p:val>
                                        </p:tav>
                                      </p:tavLst>
                                    </p:anim>
                                    <p:anim calcmode="lin" valueType="num">
                                      <p:cBhvr>
                                        <p:cTn id="27" dur="750" fill="hold"/>
                                        <p:tgtEl>
                                          <p:spTgt spid="34"/>
                                        </p:tgtEl>
                                        <p:attrNameLst>
                                          <p:attrName>ppt_y</p:attrName>
                                        </p:attrNameLst>
                                      </p:cBhvr>
                                      <p:tavLst>
                                        <p:tav tm="0">
                                          <p:val>
                                            <p:fltVal val="0.5"/>
                                          </p:val>
                                        </p:tav>
                                        <p:tav tm="100000">
                                          <p:val>
                                            <p:strVal val="#ppt_y"/>
                                          </p:val>
                                        </p:tav>
                                      </p:tavLst>
                                    </p:anim>
                                  </p:childTnLst>
                                </p:cTn>
                              </p:par>
                            </p:childTnLst>
                          </p:cTn>
                        </p:par>
                        <p:par>
                          <p:cTn id="28" fill="hold">
                            <p:stCondLst>
                              <p:cond delay="750"/>
                            </p:stCondLst>
                            <p:childTnLst>
                              <p:par>
                                <p:cTn id="29" presetID="10" presetClass="entr" presetSubtype="0"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75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528" fill="hold" nodeType="click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p:cTn id="36" dur="750" fill="hold"/>
                                        <p:tgtEl>
                                          <p:spTgt spid="43"/>
                                        </p:tgtEl>
                                        <p:attrNameLst>
                                          <p:attrName>ppt_w</p:attrName>
                                        </p:attrNameLst>
                                      </p:cBhvr>
                                      <p:tavLst>
                                        <p:tav tm="0">
                                          <p:val>
                                            <p:fltVal val="0"/>
                                          </p:val>
                                        </p:tav>
                                        <p:tav tm="100000">
                                          <p:val>
                                            <p:strVal val="#ppt_w"/>
                                          </p:val>
                                        </p:tav>
                                      </p:tavLst>
                                    </p:anim>
                                    <p:anim calcmode="lin" valueType="num">
                                      <p:cBhvr>
                                        <p:cTn id="37" dur="750" fill="hold"/>
                                        <p:tgtEl>
                                          <p:spTgt spid="43"/>
                                        </p:tgtEl>
                                        <p:attrNameLst>
                                          <p:attrName>ppt_h</p:attrName>
                                        </p:attrNameLst>
                                      </p:cBhvr>
                                      <p:tavLst>
                                        <p:tav tm="0">
                                          <p:val>
                                            <p:fltVal val="0"/>
                                          </p:val>
                                        </p:tav>
                                        <p:tav tm="100000">
                                          <p:val>
                                            <p:strVal val="#ppt_h"/>
                                          </p:val>
                                        </p:tav>
                                      </p:tavLst>
                                    </p:anim>
                                    <p:animEffect transition="in" filter="fade">
                                      <p:cBhvr>
                                        <p:cTn id="38" dur="750"/>
                                        <p:tgtEl>
                                          <p:spTgt spid="43"/>
                                        </p:tgtEl>
                                      </p:cBhvr>
                                    </p:animEffect>
                                    <p:anim calcmode="lin" valueType="num">
                                      <p:cBhvr>
                                        <p:cTn id="39" dur="750" fill="hold"/>
                                        <p:tgtEl>
                                          <p:spTgt spid="43"/>
                                        </p:tgtEl>
                                        <p:attrNameLst>
                                          <p:attrName>ppt_x</p:attrName>
                                        </p:attrNameLst>
                                      </p:cBhvr>
                                      <p:tavLst>
                                        <p:tav tm="0">
                                          <p:val>
                                            <p:fltVal val="0.5"/>
                                          </p:val>
                                        </p:tav>
                                        <p:tav tm="100000">
                                          <p:val>
                                            <p:strVal val="#ppt_x"/>
                                          </p:val>
                                        </p:tav>
                                      </p:tavLst>
                                    </p:anim>
                                    <p:anim calcmode="lin" valueType="num">
                                      <p:cBhvr>
                                        <p:cTn id="40" dur="750" fill="hold"/>
                                        <p:tgtEl>
                                          <p:spTgt spid="43"/>
                                        </p:tgtEl>
                                        <p:attrNameLst>
                                          <p:attrName>ppt_y</p:attrName>
                                        </p:attrNameLst>
                                      </p:cBhvr>
                                      <p:tavLst>
                                        <p:tav tm="0">
                                          <p:val>
                                            <p:fltVal val="0.5"/>
                                          </p:val>
                                        </p:tav>
                                        <p:tav tm="100000">
                                          <p:val>
                                            <p:strVal val="#ppt_y"/>
                                          </p:val>
                                        </p:tav>
                                      </p:tavLst>
                                    </p:anim>
                                  </p:childTnLst>
                                </p:cTn>
                              </p:par>
                            </p:childTnLst>
                          </p:cTn>
                        </p:par>
                        <p:par>
                          <p:cTn id="41" fill="hold">
                            <p:stCondLst>
                              <p:cond delay="75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75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528"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 calcmode="lin" valueType="num">
                                      <p:cBhvr>
                                        <p:cTn id="49" dur="750" fill="hold"/>
                                        <p:tgtEl>
                                          <p:spTgt spid="50"/>
                                        </p:tgtEl>
                                        <p:attrNameLst>
                                          <p:attrName>ppt_w</p:attrName>
                                        </p:attrNameLst>
                                      </p:cBhvr>
                                      <p:tavLst>
                                        <p:tav tm="0">
                                          <p:val>
                                            <p:fltVal val="0"/>
                                          </p:val>
                                        </p:tav>
                                        <p:tav tm="100000">
                                          <p:val>
                                            <p:strVal val="#ppt_w"/>
                                          </p:val>
                                        </p:tav>
                                      </p:tavLst>
                                    </p:anim>
                                    <p:anim calcmode="lin" valueType="num">
                                      <p:cBhvr>
                                        <p:cTn id="50" dur="750" fill="hold"/>
                                        <p:tgtEl>
                                          <p:spTgt spid="50"/>
                                        </p:tgtEl>
                                        <p:attrNameLst>
                                          <p:attrName>ppt_h</p:attrName>
                                        </p:attrNameLst>
                                      </p:cBhvr>
                                      <p:tavLst>
                                        <p:tav tm="0">
                                          <p:val>
                                            <p:fltVal val="0"/>
                                          </p:val>
                                        </p:tav>
                                        <p:tav tm="100000">
                                          <p:val>
                                            <p:strVal val="#ppt_h"/>
                                          </p:val>
                                        </p:tav>
                                      </p:tavLst>
                                    </p:anim>
                                    <p:animEffect transition="in" filter="fade">
                                      <p:cBhvr>
                                        <p:cTn id="51" dur="750"/>
                                        <p:tgtEl>
                                          <p:spTgt spid="50"/>
                                        </p:tgtEl>
                                      </p:cBhvr>
                                    </p:animEffect>
                                    <p:anim calcmode="lin" valueType="num">
                                      <p:cBhvr>
                                        <p:cTn id="52" dur="750" fill="hold"/>
                                        <p:tgtEl>
                                          <p:spTgt spid="50"/>
                                        </p:tgtEl>
                                        <p:attrNameLst>
                                          <p:attrName>ppt_x</p:attrName>
                                        </p:attrNameLst>
                                      </p:cBhvr>
                                      <p:tavLst>
                                        <p:tav tm="0">
                                          <p:val>
                                            <p:fltVal val="0.5"/>
                                          </p:val>
                                        </p:tav>
                                        <p:tav tm="100000">
                                          <p:val>
                                            <p:strVal val="#ppt_x"/>
                                          </p:val>
                                        </p:tav>
                                      </p:tavLst>
                                    </p:anim>
                                    <p:anim calcmode="lin" valueType="num">
                                      <p:cBhvr>
                                        <p:cTn id="53" dur="750" fill="hold"/>
                                        <p:tgtEl>
                                          <p:spTgt spid="50"/>
                                        </p:tgtEl>
                                        <p:attrNameLst>
                                          <p:attrName>ppt_y</p:attrName>
                                        </p:attrNameLst>
                                      </p:cBhvr>
                                      <p:tavLst>
                                        <p:tav tm="0">
                                          <p:val>
                                            <p:fltVal val="0.5"/>
                                          </p:val>
                                        </p:tav>
                                        <p:tav tm="100000">
                                          <p:val>
                                            <p:strVal val="#ppt_y"/>
                                          </p:val>
                                        </p:tav>
                                      </p:tavLst>
                                    </p:anim>
                                  </p:childTnLst>
                                </p:cTn>
                              </p:par>
                            </p:childTnLst>
                          </p:cTn>
                        </p:par>
                        <p:par>
                          <p:cTn id="54" fill="hold">
                            <p:stCondLst>
                              <p:cond delay="750"/>
                            </p:stCondLst>
                            <p:childTnLst>
                              <p:par>
                                <p:cTn id="55" presetID="10" presetClass="entr" presetSubtype="0" fill="hold" grpId="0" nodeType="afterEffect">
                                  <p:stCondLst>
                                    <p:cond delay="0"/>
                                  </p:stCondLst>
                                  <p:childTnLst>
                                    <p:set>
                                      <p:cBhvr>
                                        <p:cTn id="56" dur="1" fill="hold">
                                          <p:stCondLst>
                                            <p:cond delay="0"/>
                                          </p:stCondLst>
                                        </p:cTn>
                                        <p:tgtEl>
                                          <p:spTgt spid="3">
                                            <p:bg/>
                                          </p:spTgt>
                                        </p:tgtEl>
                                        <p:attrNameLst>
                                          <p:attrName>style.visibility</p:attrName>
                                        </p:attrNameLst>
                                      </p:cBhvr>
                                      <p:to>
                                        <p:strVal val="visible"/>
                                      </p:to>
                                    </p:set>
                                    <p:animEffect transition="in" filter="fade">
                                      <p:cBhvr>
                                        <p:cTn id="57" dur="750"/>
                                        <p:tgtEl>
                                          <p:spTgt spid="3">
                                            <p:bg/>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
                                            <p:txEl>
                                              <p:pRg st="0" end="0"/>
                                            </p:txEl>
                                          </p:spTgt>
                                        </p:tgtEl>
                                        <p:attrNameLst>
                                          <p:attrName>style.visibility</p:attrName>
                                        </p:attrNameLst>
                                      </p:cBhvr>
                                      <p:to>
                                        <p:strVal val="visible"/>
                                      </p:to>
                                    </p:set>
                                    <p:animEffect transition="in" filter="fade">
                                      <p:cBhvr>
                                        <p:cTn id="60"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Recap: What is risk?</a:t>
            </a:r>
          </a:p>
        </p:txBody>
      </p:sp>
      <p:sp>
        <p:nvSpPr>
          <p:cNvPr id="3" name="Content Placeholder 1">
            <a:extLst>
              <a:ext uri="{FF2B5EF4-FFF2-40B4-BE49-F238E27FC236}">
                <a16:creationId xmlns:a16="http://schemas.microsoft.com/office/drawing/2014/main" id="{42BF7D5F-80A8-257B-F83D-8400FE130F3B}"/>
              </a:ext>
            </a:extLst>
          </p:cNvPr>
          <p:cNvSpPr txBox="1">
            <a:spLocks/>
          </p:cNvSpPr>
          <p:nvPr/>
        </p:nvSpPr>
        <p:spPr>
          <a:xfrm>
            <a:off x="609600" y="1742749"/>
            <a:ext cx="5036235" cy="3763108"/>
          </a:xfrm>
          <a:prstGeom prst="roundRect">
            <a:avLst>
              <a:gd name="adj" fmla="val 7600"/>
            </a:avLst>
          </a:prstGeom>
          <a:solidFill>
            <a:schemeClr val="bg1"/>
          </a:solidFill>
          <a:ln>
            <a:solidFill>
              <a:schemeClr val="accent1"/>
            </a:solidFill>
          </a:ln>
        </p:spPr>
        <p:txBody>
          <a:bodyPr anchor="ctr">
            <a:noAutofit/>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IN" sz="1400" b="1" dirty="0"/>
            </a:br>
            <a:r>
              <a:rPr lang="en-US" sz="1400" b="1" dirty="0"/>
              <a:t>Risk is defined as the possibility or chance of loss due to occurrence of an event.</a:t>
            </a:r>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dirty="0"/>
              <a:t>For example, while driving to work each day, you may have an automobile accident. Or you might accidentally slip, fall, and injure yourself while running on your treadmill. </a:t>
            </a:r>
          </a:p>
          <a:p>
            <a:pPr marL="0" indent="0">
              <a:buNone/>
            </a:pPr>
            <a:endParaRPr lang="en-US" sz="1400" dirty="0"/>
          </a:p>
          <a:p>
            <a:pPr marL="0" indent="0">
              <a:buNone/>
            </a:pPr>
            <a:r>
              <a:rPr lang="en-US" sz="1400" dirty="0"/>
              <a:t>It is uncertain if either of these accidents will occur—but the possibility (risk) does exist.</a:t>
            </a:r>
          </a:p>
          <a:p>
            <a:pPr marL="0" indent="0" algn="ctr">
              <a:buFont typeface="Arial" panose="020B0604020202020204" pitchFamily="34" charset="0"/>
              <a:buNone/>
            </a:pPr>
            <a:endParaRPr lang="en-IN" sz="1400" b="1" dirty="0"/>
          </a:p>
        </p:txBody>
      </p:sp>
      <p:pic>
        <p:nvPicPr>
          <p:cNvPr id="6" name="Picture 5">
            <a:extLst>
              <a:ext uri="{FF2B5EF4-FFF2-40B4-BE49-F238E27FC236}">
                <a16:creationId xmlns:a16="http://schemas.microsoft.com/office/drawing/2014/main" id="{335745CD-D511-0509-FADC-ED429A2A0F63}"/>
              </a:ext>
            </a:extLst>
          </p:cNvPr>
          <p:cNvPicPr>
            <a:picLocks noChangeAspect="1"/>
          </p:cNvPicPr>
          <p:nvPr/>
        </p:nvPicPr>
        <p:blipFill rotWithShape="1">
          <a:blip r:embed="rId2"/>
          <a:srcRect l="1521" t="8685" r="3653" b="9297"/>
          <a:stretch/>
        </p:blipFill>
        <p:spPr>
          <a:xfrm>
            <a:off x="6305597" y="2667000"/>
            <a:ext cx="5656262" cy="3056206"/>
          </a:xfrm>
          <a:prstGeom prst="rect">
            <a:avLst/>
          </a:prstGeom>
        </p:spPr>
      </p:pic>
    </p:spTree>
    <p:extLst>
      <p:ext uri="{BB962C8B-B14F-4D97-AF65-F5344CB8AC3E}">
        <p14:creationId xmlns:p14="http://schemas.microsoft.com/office/powerpoint/2010/main" val="345639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Recap: </a:t>
            </a:r>
            <a:r>
              <a:rPr lang="en-IN" dirty="0"/>
              <a:t>What are the different types of Risk ? </a:t>
            </a:r>
            <a:endParaRPr lang="en-US" dirty="0"/>
          </a:p>
        </p:txBody>
      </p:sp>
      <p:pic>
        <p:nvPicPr>
          <p:cNvPr id="4" name="Picture 2" descr="Decision making concept illustration Premium Vector">
            <a:extLst>
              <a:ext uri="{FF2B5EF4-FFF2-40B4-BE49-F238E27FC236}">
                <a16:creationId xmlns:a16="http://schemas.microsoft.com/office/drawing/2014/main" id="{E58915D4-D25D-C01B-92A5-8F704D98DC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26" t="3929" r="3867" b="7383"/>
          <a:stretch/>
        </p:blipFill>
        <p:spPr bwMode="auto">
          <a:xfrm>
            <a:off x="4260911" y="2467753"/>
            <a:ext cx="3970638" cy="3059801"/>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C6301FEA-4D97-8A0E-60B7-62154B24B058}"/>
              </a:ext>
            </a:extLst>
          </p:cNvPr>
          <p:cNvSpPr txBox="1">
            <a:spLocks/>
          </p:cNvSpPr>
          <p:nvPr/>
        </p:nvSpPr>
        <p:spPr>
          <a:xfrm>
            <a:off x="1373117" y="1600200"/>
            <a:ext cx="2090335" cy="448115"/>
          </a:xfrm>
          <a:prstGeom prst="roundRect">
            <a:avLst>
              <a:gd name="adj" fmla="val 9350"/>
            </a:avLst>
          </a:prstGeom>
          <a:solidFill>
            <a:schemeClr val="accent1"/>
          </a:solidFill>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sz="1600" b="1">
                <a:solidFill>
                  <a:schemeClr val="bg1"/>
                </a:solidFill>
              </a:rPr>
              <a:t>Pure Risk </a:t>
            </a:r>
          </a:p>
        </p:txBody>
      </p:sp>
      <p:sp>
        <p:nvSpPr>
          <p:cNvPr id="7" name="Text Placeholder 3">
            <a:extLst>
              <a:ext uri="{FF2B5EF4-FFF2-40B4-BE49-F238E27FC236}">
                <a16:creationId xmlns:a16="http://schemas.microsoft.com/office/drawing/2014/main" id="{9D61F19C-26DF-6CEB-96ED-C19F8E426A7C}"/>
              </a:ext>
            </a:extLst>
          </p:cNvPr>
          <p:cNvSpPr txBox="1">
            <a:spLocks/>
          </p:cNvSpPr>
          <p:nvPr/>
        </p:nvSpPr>
        <p:spPr>
          <a:xfrm>
            <a:off x="8904722" y="1600200"/>
            <a:ext cx="2090335" cy="448115"/>
          </a:xfrm>
          <a:prstGeom prst="roundRect">
            <a:avLst>
              <a:gd name="adj" fmla="val 9350"/>
            </a:avLst>
          </a:prstGeom>
          <a:solidFill>
            <a:schemeClr val="accent1"/>
          </a:solidFill>
        </p:spPr>
        <p:txBody>
          <a:bodyPr vert="horz" lIns="72000" tIns="36000" rIns="72000" bIns="36000" rtlCol="0" anchor="ctr">
            <a:noAutofit/>
          </a:bodyPr>
          <a:lstStyle>
            <a:lvl1pPr indent="0" algn="ctr">
              <a:lnSpc>
                <a:spcPct val="120000"/>
              </a:lnSpc>
              <a:spcBef>
                <a:spcPts val="0"/>
              </a:spcBef>
              <a:buFont typeface="Verdana" panose="020B0604030504040204" pitchFamily="34" charset="0"/>
              <a:buNone/>
              <a:defRPr sz="1600" b="1">
                <a:solidFill>
                  <a:schemeClr val="bg1"/>
                </a:solidFill>
              </a:defRPr>
            </a:lvl1pPr>
            <a:lvl2pPr marL="360000" indent="-180000">
              <a:lnSpc>
                <a:spcPct val="120000"/>
              </a:lnSpc>
              <a:spcBef>
                <a:spcPts val="0"/>
              </a:spcBef>
              <a:buFont typeface="Verdana" panose="020B0604030504040204" pitchFamily="34" charset="0"/>
              <a:buChar char="‒"/>
              <a:defRPr sz="1100" b="1">
                <a:solidFill>
                  <a:schemeClr val="bg1"/>
                </a:solidFill>
              </a:defRPr>
            </a:lvl2pPr>
            <a:lvl3pPr marL="540000" indent="-180000">
              <a:lnSpc>
                <a:spcPct val="120000"/>
              </a:lnSpc>
              <a:spcBef>
                <a:spcPts val="0"/>
              </a:spcBef>
              <a:buFont typeface="Arial" panose="020B0604020202020204" pitchFamily="34" charset="0"/>
              <a:buChar char="•"/>
              <a:defRPr sz="1050" b="1">
                <a:solidFill>
                  <a:schemeClr val="bg1"/>
                </a:solidFill>
              </a:defRPr>
            </a:lvl3pPr>
            <a:lvl4pPr marL="720000" indent="-180000">
              <a:lnSpc>
                <a:spcPct val="120000"/>
              </a:lnSpc>
              <a:spcBef>
                <a:spcPts val="0"/>
              </a:spcBef>
              <a:buFont typeface="Verdana" panose="020B0604030504040204" pitchFamily="34" charset="0"/>
              <a:buChar char="‒"/>
              <a:defRPr sz="1000" b="1">
                <a:solidFill>
                  <a:schemeClr val="bg1"/>
                </a:solidFill>
              </a:defRPr>
            </a:lvl4pPr>
            <a:lvl5pPr marL="900000" indent="-180000">
              <a:lnSpc>
                <a:spcPct val="120000"/>
              </a:lnSpc>
              <a:spcBef>
                <a:spcPts val="0"/>
              </a:spcBef>
              <a:buFont typeface="Verdana" panose="020B0604030504040204" pitchFamily="34" charset="0"/>
              <a:buChar char="›"/>
              <a:defRPr sz="1000" b="1">
                <a:solidFill>
                  <a:schemeClr val="bg1"/>
                </a:solidFill>
              </a:defRPr>
            </a:lvl5pPr>
            <a:lvl6pPr marL="2514600" indent="-228600">
              <a:spcBef>
                <a:spcPct val="20000"/>
              </a:spcBef>
              <a:buFont typeface="Arial"/>
              <a:buChar char="•"/>
              <a:defRPr sz="2000"/>
            </a:lvl6pPr>
            <a:lvl7pPr marL="2971800" indent="-228600">
              <a:spcBef>
                <a:spcPct val="20000"/>
              </a:spcBef>
              <a:buFont typeface="Arial"/>
              <a:buChar char="•"/>
              <a:defRPr sz="2000"/>
            </a:lvl7pPr>
            <a:lvl8pPr marL="3429000" indent="-228600">
              <a:spcBef>
                <a:spcPct val="20000"/>
              </a:spcBef>
              <a:buFont typeface="Arial"/>
              <a:buChar char="•"/>
              <a:defRPr sz="2000"/>
            </a:lvl8pPr>
            <a:lvl9pPr marL="3886200" indent="-228600">
              <a:spcBef>
                <a:spcPct val="20000"/>
              </a:spcBef>
              <a:buFont typeface="Arial"/>
              <a:buChar char="•"/>
              <a:defRPr sz="2000"/>
            </a:lvl9pPr>
          </a:lstStyle>
          <a:p>
            <a:r>
              <a:rPr lang="en-IN" dirty="0"/>
              <a:t>Speculative Risk </a:t>
            </a:r>
          </a:p>
        </p:txBody>
      </p:sp>
      <p:sp>
        <p:nvSpPr>
          <p:cNvPr id="8" name="TextBox 7">
            <a:extLst>
              <a:ext uri="{FF2B5EF4-FFF2-40B4-BE49-F238E27FC236}">
                <a16:creationId xmlns:a16="http://schemas.microsoft.com/office/drawing/2014/main" id="{5A665F0C-3DCA-73C2-7298-1B0717470627}"/>
              </a:ext>
            </a:extLst>
          </p:cNvPr>
          <p:cNvSpPr txBox="1"/>
          <p:nvPr/>
        </p:nvSpPr>
        <p:spPr>
          <a:xfrm>
            <a:off x="595347" y="2497106"/>
            <a:ext cx="3645877" cy="3323987"/>
          </a:xfrm>
          <a:prstGeom prst="rect">
            <a:avLst/>
          </a:prstGeom>
          <a:noFill/>
        </p:spPr>
        <p:txBody>
          <a:bodyPr wrap="square">
            <a:spAutoFit/>
          </a:bodyPr>
          <a:lstStyle/>
          <a:p>
            <a:pPr marL="285750" indent="-285750">
              <a:buFont typeface="Wingdings" panose="05000000000000000000" pitchFamily="2" charset="2"/>
              <a:buChar char="Ø"/>
            </a:pPr>
            <a:r>
              <a:rPr lang="en-IN" sz="1400" dirty="0"/>
              <a:t>Situation where there are possibilities of only loss or no loss</a:t>
            </a:r>
          </a:p>
          <a:p>
            <a:endParaRPr lang="en-IN" sz="1400" dirty="0"/>
          </a:p>
          <a:p>
            <a:pPr marL="285750" indent="-285750">
              <a:buFont typeface="Wingdings" panose="05000000000000000000" pitchFamily="2" charset="2"/>
              <a:buChar char="Ø"/>
            </a:pPr>
            <a:r>
              <a:rPr lang="en-IN" sz="1400" dirty="0"/>
              <a:t>There is no possibility of any gain or profit in Pure risks. </a:t>
            </a:r>
          </a:p>
          <a:p>
            <a:pPr marL="285750" indent="-285750">
              <a:buFont typeface="Wingdings" panose="05000000000000000000" pitchFamily="2" charset="2"/>
              <a:buChar char="Ø"/>
            </a:pPr>
            <a:endParaRPr lang="en-IN" sz="1400" dirty="0"/>
          </a:p>
          <a:p>
            <a:r>
              <a:rPr lang="en-IN" sz="1400" dirty="0"/>
              <a:t>For Example, </a:t>
            </a:r>
          </a:p>
          <a:p>
            <a:r>
              <a:rPr lang="en-US" sz="1400" dirty="0"/>
              <a:t>Joe has a hot year playing cards and decides to buy a new house. Joe reaches out to an Insurance agent to buy a homeowner’s policy and additional life insurance. </a:t>
            </a:r>
          </a:p>
          <a:p>
            <a:r>
              <a:rPr lang="en-US" sz="1400" dirty="0"/>
              <a:t>The insurance on Joe's house and his life are considered pure risk</a:t>
            </a:r>
            <a:endParaRPr lang="en-IN" sz="1400" dirty="0"/>
          </a:p>
          <a:p>
            <a:endParaRPr lang="en-IN" sz="1400" dirty="0"/>
          </a:p>
        </p:txBody>
      </p:sp>
      <p:sp>
        <p:nvSpPr>
          <p:cNvPr id="9" name="TextBox 8">
            <a:extLst>
              <a:ext uri="{FF2B5EF4-FFF2-40B4-BE49-F238E27FC236}">
                <a16:creationId xmlns:a16="http://schemas.microsoft.com/office/drawing/2014/main" id="{4EE3F0EE-7EA4-6939-CF34-61BF7648DD00}"/>
              </a:ext>
            </a:extLst>
          </p:cNvPr>
          <p:cNvSpPr txBox="1"/>
          <p:nvPr/>
        </p:nvSpPr>
        <p:spPr>
          <a:xfrm>
            <a:off x="8251236" y="2497106"/>
            <a:ext cx="3397309" cy="3970318"/>
          </a:xfrm>
          <a:prstGeom prst="rect">
            <a:avLst/>
          </a:prstGeom>
          <a:noFill/>
        </p:spPr>
        <p:txBody>
          <a:bodyPr wrap="square">
            <a:spAutoFit/>
          </a:bodyPr>
          <a:lstStyle/>
          <a:p>
            <a:pPr marL="285750" indent="-285750">
              <a:buFont typeface="Wingdings" panose="05000000000000000000" pitchFamily="2" charset="2"/>
              <a:buChar char="Ø"/>
            </a:pPr>
            <a:r>
              <a:rPr lang="en-IN" sz="1400" dirty="0"/>
              <a:t>Situation where there are possibilities of loss, gain or no change</a:t>
            </a:r>
          </a:p>
          <a:p>
            <a:pPr marL="285750" indent="-285750">
              <a:buFont typeface="Wingdings" panose="05000000000000000000" pitchFamily="2" charset="2"/>
              <a:buChar char="Ø"/>
            </a:pPr>
            <a:endParaRPr lang="en-IN" sz="1400" dirty="0"/>
          </a:p>
          <a:p>
            <a:pPr marL="285750" indent="-285750">
              <a:buFont typeface="Wingdings" panose="05000000000000000000" pitchFamily="2" charset="2"/>
              <a:buChar char="Ø"/>
            </a:pPr>
            <a:r>
              <a:rPr lang="en-IN" sz="1400" dirty="0"/>
              <a:t>There is a possibility of gain</a:t>
            </a:r>
          </a:p>
          <a:p>
            <a:pPr marL="285750" indent="-285750">
              <a:buFont typeface="Wingdings" panose="05000000000000000000" pitchFamily="2" charset="2"/>
              <a:buChar char="Ø"/>
            </a:pPr>
            <a:endParaRPr lang="en-IN" sz="1400" dirty="0"/>
          </a:p>
          <a:p>
            <a:pPr marL="1657350" lvl="3" indent="-285750">
              <a:buFont typeface="Wingdings" panose="05000000000000000000" pitchFamily="2" charset="2"/>
              <a:buChar char="Ø"/>
            </a:pPr>
            <a:endParaRPr lang="en-IN" sz="1400" dirty="0"/>
          </a:p>
          <a:p>
            <a:pPr marL="0" indent="0">
              <a:buNone/>
            </a:pPr>
            <a:r>
              <a:rPr lang="en-IN" sz="1400" dirty="0"/>
              <a:t>For example,</a:t>
            </a:r>
          </a:p>
          <a:p>
            <a:pPr marL="0" indent="0">
              <a:buNone/>
            </a:pPr>
            <a:r>
              <a:rPr lang="en-US" sz="1400" dirty="0"/>
              <a:t>Joe plays cards and bets a small sum of money on each hand for the chance of winning or gaining a large sum of money. He may win or lose depending on the outcome of his poker skills.</a:t>
            </a:r>
          </a:p>
          <a:p>
            <a:pPr marL="0" indent="0">
              <a:buNone/>
            </a:pPr>
            <a:r>
              <a:rPr lang="en-US" sz="1400" dirty="0"/>
              <a:t> Since this has an opportunity of profit/gain, hence this is a speculative risk</a:t>
            </a:r>
            <a:endParaRPr lang="en-IN" sz="1400" dirty="0"/>
          </a:p>
          <a:p>
            <a:r>
              <a:rPr lang="en-IN" sz="1400" dirty="0"/>
              <a:t> </a:t>
            </a:r>
          </a:p>
        </p:txBody>
      </p:sp>
    </p:spTree>
    <p:extLst>
      <p:ext uri="{BB962C8B-B14F-4D97-AF65-F5344CB8AC3E}">
        <p14:creationId xmlns:p14="http://schemas.microsoft.com/office/powerpoint/2010/main" val="134458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additive="base">
                                        <p:cTn id="7" dur="750" fill="hold"/>
                                        <p:tgtEl>
                                          <p:spTgt spid="5">
                                            <p:bg/>
                                          </p:spTgt>
                                        </p:tgtEl>
                                        <p:attrNameLst>
                                          <p:attrName>ppt_x</p:attrName>
                                        </p:attrNameLst>
                                      </p:cBhvr>
                                      <p:tavLst>
                                        <p:tav tm="0">
                                          <p:val>
                                            <p:strVal val="#ppt_x"/>
                                          </p:val>
                                        </p:tav>
                                        <p:tav tm="100000">
                                          <p:val>
                                            <p:strVal val="#ppt_x"/>
                                          </p:val>
                                        </p:tav>
                                      </p:tavLst>
                                    </p:anim>
                                    <p:anim calcmode="lin" valueType="num">
                                      <p:cBhvr additive="base">
                                        <p:cTn id="8" dur="750" fill="hold"/>
                                        <p:tgtEl>
                                          <p:spTgt spid="5">
                                            <p:bg/>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additive="base">
                                        <p:cTn id="11" dur="7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750" fill="hold"/>
                                        <p:tgtEl>
                                          <p:spTgt spid="8"/>
                                        </p:tgtEl>
                                        <p:attrNameLst>
                                          <p:attrName>ppt_x</p:attrName>
                                        </p:attrNameLst>
                                      </p:cBhvr>
                                      <p:tavLst>
                                        <p:tav tm="0">
                                          <p:val>
                                            <p:strVal val="#ppt_x"/>
                                          </p:val>
                                        </p:tav>
                                        <p:tav tm="100000">
                                          <p:val>
                                            <p:strVal val="#ppt_x"/>
                                          </p:val>
                                        </p:tav>
                                      </p:tavLst>
                                    </p:anim>
                                    <p:anim calcmode="lin" valueType="num">
                                      <p:cBhvr additive="base">
                                        <p:cTn id="18" dur="75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7">
                                            <p:bg/>
                                          </p:spTgt>
                                        </p:tgtEl>
                                        <p:attrNameLst>
                                          <p:attrName>style.visibility</p:attrName>
                                        </p:attrNameLst>
                                      </p:cBhvr>
                                      <p:to>
                                        <p:strVal val="visible"/>
                                      </p:to>
                                    </p:set>
                                    <p:anim calcmode="lin" valueType="num">
                                      <p:cBhvr additive="base">
                                        <p:cTn id="23" dur="750" fill="hold"/>
                                        <p:tgtEl>
                                          <p:spTgt spid="7">
                                            <p:bg/>
                                          </p:spTgt>
                                        </p:tgtEl>
                                        <p:attrNameLst>
                                          <p:attrName>ppt_x</p:attrName>
                                        </p:attrNameLst>
                                      </p:cBhvr>
                                      <p:tavLst>
                                        <p:tav tm="0">
                                          <p:val>
                                            <p:strVal val="#ppt_x"/>
                                          </p:val>
                                        </p:tav>
                                        <p:tav tm="100000">
                                          <p:val>
                                            <p:strVal val="#ppt_x"/>
                                          </p:val>
                                        </p:tav>
                                      </p:tavLst>
                                    </p:anim>
                                    <p:anim calcmode="lin" valueType="num">
                                      <p:cBhvr additive="base">
                                        <p:cTn id="24" dur="750" fill="hold"/>
                                        <p:tgtEl>
                                          <p:spTgt spid="7">
                                            <p:bg/>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 calcmode="lin" valueType="num">
                                      <p:cBhvr additive="base">
                                        <p:cTn id="27" dur="75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8" dur="75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750" fill="hold"/>
                                        <p:tgtEl>
                                          <p:spTgt spid="9"/>
                                        </p:tgtEl>
                                        <p:attrNameLst>
                                          <p:attrName>ppt_x</p:attrName>
                                        </p:attrNameLst>
                                      </p:cBhvr>
                                      <p:tavLst>
                                        <p:tav tm="0">
                                          <p:val>
                                            <p:strVal val="#ppt_x"/>
                                          </p:val>
                                        </p:tav>
                                        <p:tav tm="100000">
                                          <p:val>
                                            <p:strVal val="#ppt_x"/>
                                          </p:val>
                                        </p:tav>
                                      </p:tavLst>
                                    </p:anim>
                                    <p:anim calcmode="lin" valueType="num">
                                      <p:cBhvr additive="base">
                                        <p:cTn id="34" dur="75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Recap: </a:t>
            </a:r>
            <a:r>
              <a:rPr lang="en-IN" dirty="0"/>
              <a:t>Risk Management</a:t>
            </a:r>
            <a:endParaRPr lang="en-US" dirty="0"/>
          </a:p>
        </p:txBody>
      </p:sp>
      <p:sp>
        <p:nvSpPr>
          <p:cNvPr id="3" name="Text Placeholder 30">
            <a:extLst>
              <a:ext uri="{FF2B5EF4-FFF2-40B4-BE49-F238E27FC236}">
                <a16:creationId xmlns:a16="http://schemas.microsoft.com/office/drawing/2014/main" id="{6D5A477C-1A72-5831-C8A0-06A1F3609B6C}"/>
              </a:ext>
            </a:extLst>
          </p:cNvPr>
          <p:cNvSpPr txBox="1">
            <a:spLocks/>
          </p:cNvSpPr>
          <p:nvPr/>
        </p:nvSpPr>
        <p:spPr>
          <a:xfrm>
            <a:off x="10023475" y="2504209"/>
            <a:ext cx="1282700" cy="658802"/>
          </a:xfrm>
          <a:prstGeom prst="rect">
            <a:avLst/>
          </a:prstGeom>
          <a:solidFill>
            <a:schemeClr val="accent5"/>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IN" sz="1400"/>
              <a:t>Retain Risk </a:t>
            </a:r>
          </a:p>
        </p:txBody>
      </p:sp>
      <p:sp>
        <p:nvSpPr>
          <p:cNvPr id="6" name="Text Placeholder 30">
            <a:extLst>
              <a:ext uri="{FF2B5EF4-FFF2-40B4-BE49-F238E27FC236}">
                <a16:creationId xmlns:a16="http://schemas.microsoft.com/office/drawing/2014/main" id="{946ECC8F-4EBA-7E5F-E436-18DF9171BAF9}"/>
              </a:ext>
            </a:extLst>
          </p:cNvPr>
          <p:cNvSpPr txBox="1">
            <a:spLocks/>
          </p:cNvSpPr>
          <p:nvPr/>
        </p:nvSpPr>
        <p:spPr>
          <a:xfrm>
            <a:off x="7814128" y="2504209"/>
            <a:ext cx="1282700" cy="658802"/>
          </a:xfrm>
          <a:prstGeom prst="rect">
            <a:avLst/>
          </a:prstGeom>
          <a:solidFill>
            <a:schemeClr val="accent4"/>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IN" sz="1400"/>
              <a:t>Reduce Risk </a:t>
            </a:r>
          </a:p>
        </p:txBody>
      </p:sp>
      <p:sp>
        <p:nvSpPr>
          <p:cNvPr id="10" name="Text Placeholder 30">
            <a:extLst>
              <a:ext uri="{FF2B5EF4-FFF2-40B4-BE49-F238E27FC236}">
                <a16:creationId xmlns:a16="http://schemas.microsoft.com/office/drawing/2014/main" id="{9E777A79-E60E-6A5A-792F-83D35E5E093B}"/>
              </a:ext>
            </a:extLst>
          </p:cNvPr>
          <p:cNvSpPr txBox="1">
            <a:spLocks/>
          </p:cNvSpPr>
          <p:nvPr/>
        </p:nvSpPr>
        <p:spPr>
          <a:xfrm>
            <a:off x="5604781" y="2504209"/>
            <a:ext cx="1282700" cy="658802"/>
          </a:xfrm>
          <a:prstGeom prst="rect">
            <a:avLst/>
          </a:prstGeom>
          <a:solidFill>
            <a:schemeClr val="accent5"/>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IN" sz="1400"/>
              <a:t>Avoid Risk </a:t>
            </a:r>
          </a:p>
        </p:txBody>
      </p:sp>
      <p:sp>
        <p:nvSpPr>
          <p:cNvPr id="11" name="Text Placeholder 30">
            <a:extLst>
              <a:ext uri="{FF2B5EF4-FFF2-40B4-BE49-F238E27FC236}">
                <a16:creationId xmlns:a16="http://schemas.microsoft.com/office/drawing/2014/main" id="{3D27E798-D969-E48B-EED7-A640B04A1891}"/>
              </a:ext>
            </a:extLst>
          </p:cNvPr>
          <p:cNvSpPr txBox="1">
            <a:spLocks/>
          </p:cNvSpPr>
          <p:nvPr/>
        </p:nvSpPr>
        <p:spPr>
          <a:xfrm>
            <a:off x="3395434" y="2504209"/>
            <a:ext cx="1282700" cy="658802"/>
          </a:xfrm>
          <a:prstGeom prst="rect">
            <a:avLst/>
          </a:prstGeom>
          <a:solidFill>
            <a:schemeClr val="accent4"/>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IN" sz="1400"/>
              <a:t>Transfer Risk </a:t>
            </a:r>
          </a:p>
        </p:txBody>
      </p:sp>
      <p:sp>
        <p:nvSpPr>
          <p:cNvPr id="12" name="Text Placeholder 30">
            <a:extLst>
              <a:ext uri="{FF2B5EF4-FFF2-40B4-BE49-F238E27FC236}">
                <a16:creationId xmlns:a16="http://schemas.microsoft.com/office/drawing/2014/main" id="{D603B628-1FB0-CB6D-57AE-8875E905F0F0}"/>
              </a:ext>
            </a:extLst>
          </p:cNvPr>
          <p:cNvSpPr txBox="1">
            <a:spLocks/>
          </p:cNvSpPr>
          <p:nvPr/>
        </p:nvSpPr>
        <p:spPr>
          <a:xfrm>
            <a:off x="1192893" y="2504209"/>
            <a:ext cx="1282700" cy="658802"/>
          </a:xfrm>
          <a:prstGeom prst="rect">
            <a:avLst/>
          </a:prstGeom>
          <a:solidFill>
            <a:schemeClr val="accent5"/>
          </a:solidFill>
        </p:spPr>
        <p:txBody>
          <a:bodyPr lIns="36000" tIns="36000" rIns="36000" bIns="36000" anchor="ctr">
            <a:noAutofit/>
          </a:bodyPr>
          <a:lstStyle>
            <a:lvl1pPr marL="0" indent="0" algn="ctr" defTabSz="457200" rtl="0" eaLnBrk="1" latinLnBrk="0" hangingPunct="1">
              <a:lnSpc>
                <a:spcPct val="120000"/>
              </a:lnSpc>
              <a:spcBef>
                <a:spcPts val="0"/>
              </a:spcBef>
              <a:buFont typeface="Verdana" panose="020B0604030504040204" pitchFamily="34" charset="0"/>
              <a:buNone/>
              <a:defRPr sz="110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200" kern="1200">
                <a:solidFill>
                  <a:schemeClr val="bg1"/>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100" kern="1200">
                <a:solidFill>
                  <a:schemeClr val="bg1"/>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5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IN" sz="1400" dirty="0"/>
              <a:t>Sharing Risk</a:t>
            </a:r>
          </a:p>
        </p:txBody>
      </p:sp>
      <p:sp>
        <p:nvSpPr>
          <p:cNvPr id="13" name="TextBox 12">
            <a:extLst>
              <a:ext uri="{FF2B5EF4-FFF2-40B4-BE49-F238E27FC236}">
                <a16:creationId xmlns:a16="http://schemas.microsoft.com/office/drawing/2014/main" id="{DC9C25FA-EA26-D092-B03D-F4992B5B81A9}"/>
              </a:ext>
            </a:extLst>
          </p:cNvPr>
          <p:cNvSpPr txBox="1"/>
          <p:nvPr/>
        </p:nvSpPr>
        <p:spPr>
          <a:xfrm>
            <a:off x="1025525" y="1460497"/>
            <a:ext cx="10279970" cy="584775"/>
          </a:xfrm>
          <a:prstGeom prst="rect">
            <a:avLst/>
          </a:prstGeom>
          <a:noFill/>
        </p:spPr>
        <p:txBody>
          <a:bodyPr wrap="square">
            <a:spAutoFit/>
          </a:bodyPr>
          <a:lstStyle/>
          <a:p>
            <a:pPr marL="0" indent="0">
              <a:buNone/>
            </a:pPr>
            <a:r>
              <a:rPr lang="en-US" sz="1600" dirty="0"/>
              <a:t>Risk management refers to the methods you can use to deal with the uncertainty of loss (risk). It is the process of handling pure risk by the way of reduction, elimination or transfer of risk. Methods to manage risk are : </a:t>
            </a:r>
            <a:endParaRPr lang="en-IN" sz="1600" dirty="0"/>
          </a:p>
        </p:txBody>
      </p:sp>
      <p:grpSp>
        <p:nvGrpSpPr>
          <p:cNvPr id="14" name="Group 13">
            <a:extLst>
              <a:ext uri="{FF2B5EF4-FFF2-40B4-BE49-F238E27FC236}">
                <a16:creationId xmlns:a16="http://schemas.microsoft.com/office/drawing/2014/main" id="{F5C69B1D-DB84-1120-18EF-2A6D52BDF7AA}"/>
              </a:ext>
            </a:extLst>
          </p:cNvPr>
          <p:cNvGrpSpPr/>
          <p:nvPr/>
        </p:nvGrpSpPr>
        <p:grpSpPr>
          <a:xfrm>
            <a:off x="1191305" y="3242214"/>
            <a:ext cx="1282700" cy="1282700"/>
            <a:chOff x="1191305" y="3334979"/>
            <a:chExt cx="1282700" cy="1282700"/>
          </a:xfrm>
        </p:grpSpPr>
        <p:sp>
          <p:nvSpPr>
            <p:cNvPr id="15" name="Flowchart: Off-page Connector 14">
              <a:extLst>
                <a:ext uri="{FF2B5EF4-FFF2-40B4-BE49-F238E27FC236}">
                  <a16:creationId xmlns:a16="http://schemas.microsoft.com/office/drawing/2014/main" id="{B5653A5D-60E3-E67B-7ED2-96026C49F23F}"/>
                </a:ext>
              </a:extLst>
            </p:cNvPr>
            <p:cNvSpPr/>
            <p:nvPr/>
          </p:nvSpPr>
          <p:spPr>
            <a:xfrm>
              <a:off x="1191305" y="3334979"/>
              <a:ext cx="1282700" cy="1282700"/>
            </a:xfrm>
            <a:prstGeom prst="flowChartOffpageConnector">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1200">
                <a:solidFill>
                  <a:schemeClr val="bg1"/>
                </a:solidFill>
                <a:latin typeface="simple-line-icons" panose="02000503000000000000" pitchFamily="2" charset="0"/>
              </a:endParaRPr>
            </a:p>
          </p:txBody>
        </p:sp>
        <p:pic>
          <p:nvPicPr>
            <p:cNvPr id="16" name="Graphic 15" descr="Share with solid fill">
              <a:extLst>
                <a:ext uri="{FF2B5EF4-FFF2-40B4-BE49-F238E27FC236}">
                  <a16:creationId xmlns:a16="http://schemas.microsoft.com/office/drawing/2014/main" id="{F9DCCD32-0BC9-55CE-855E-11A36F5839E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2359" y="3356772"/>
              <a:ext cx="1099230" cy="1099230"/>
            </a:xfrm>
            <a:prstGeom prst="rect">
              <a:avLst/>
            </a:prstGeom>
          </p:spPr>
        </p:pic>
      </p:grpSp>
      <p:grpSp>
        <p:nvGrpSpPr>
          <p:cNvPr id="17" name="Group 16">
            <a:extLst>
              <a:ext uri="{FF2B5EF4-FFF2-40B4-BE49-F238E27FC236}">
                <a16:creationId xmlns:a16="http://schemas.microsoft.com/office/drawing/2014/main" id="{F915A648-9CEF-0E3E-A221-2F0B37289F62}"/>
              </a:ext>
            </a:extLst>
          </p:cNvPr>
          <p:cNvGrpSpPr/>
          <p:nvPr/>
        </p:nvGrpSpPr>
        <p:grpSpPr>
          <a:xfrm>
            <a:off x="3399971" y="3242214"/>
            <a:ext cx="1281113" cy="1282700"/>
            <a:chOff x="3399971" y="3334979"/>
            <a:chExt cx="1281113" cy="1282700"/>
          </a:xfrm>
        </p:grpSpPr>
        <p:sp>
          <p:nvSpPr>
            <p:cNvPr id="18" name="Flowchart: Off-page Connector 17">
              <a:extLst>
                <a:ext uri="{FF2B5EF4-FFF2-40B4-BE49-F238E27FC236}">
                  <a16:creationId xmlns:a16="http://schemas.microsoft.com/office/drawing/2014/main" id="{3CE27266-B603-61B6-A28B-941CFA93926B}"/>
                </a:ext>
              </a:extLst>
            </p:cNvPr>
            <p:cNvSpPr/>
            <p:nvPr/>
          </p:nvSpPr>
          <p:spPr>
            <a:xfrm>
              <a:off x="3399971" y="3334979"/>
              <a:ext cx="1281113" cy="1282700"/>
            </a:xfrm>
            <a:prstGeom prst="flowChartOffpageConnector">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4800">
                <a:solidFill>
                  <a:schemeClr val="bg1"/>
                </a:solidFill>
                <a:latin typeface="simple-line-icons" panose="02000503000000000000" pitchFamily="2" charset="0"/>
              </a:endParaRPr>
            </a:p>
          </p:txBody>
        </p:sp>
        <p:pic>
          <p:nvPicPr>
            <p:cNvPr id="19" name="Graphic 18" descr="Share with solid fill">
              <a:extLst>
                <a:ext uri="{FF2B5EF4-FFF2-40B4-BE49-F238E27FC236}">
                  <a16:creationId xmlns:a16="http://schemas.microsoft.com/office/drawing/2014/main" id="{6B666215-AB58-0352-9555-710CE1C0BE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93839" y="3466070"/>
              <a:ext cx="782373" cy="782373"/>
            </a:xfrm>
            <a:prstGeom prst="rect">
              <a:avLst/>
            </a:prstGeom>
          </p:spPr>
        </p:pic>
      </p:grpSp>
      <p:grpSp>
        <p:nvGrpSpPr>
          <p:cNvPr id="20" name="Group 19">
            <a:extLst>
              <a:ext uri="{FF2B5EF4-FFF2-40B4-BE49-F238E27FC236}">
                <a16:creationId xmlns:a16="http://schemas.microsoft.com/office/drawing/2014/main" id="{A498F09A-7812-ADC2-EBCD-47589B199FD3}"/>
              </a:ext>
            </a:extLst>
          </p:cNvPr>
          <p:cNvGrpSpPr/>
          <p:nvPr/>
        </p:nvGrpSpPr>
        <p:grpSpPr>
          <a:xfrm>
            <a:off x="5607050" y="3242214"/>
            <a:ext cx="1282700" cy="1282700"/>
            <a:chOff x="5607050" y="3334979"/>
            <a:chExt cx="1282700" cy="1282700"/>
          </a:xfrm>
        </p:grpSpPr>
        <p:sp>
          <p:nvSpPr>
            <p:cNvPr id="21" name="Flowchart: Off-page Connector 20">
              <a:extLst>
                <a:ext uri="{FF2B5EF4-FFF2-40B4-BE49-F238E27FC236}">
                  <a16:creationId xmlns:a16="http://schemas.microsoft.com/office/drawing/2014/main" id="{BECB1025-1DDD-AD84-5779-935958DB48FE}"/>
                </a:ext>
              </a:extLst>
            </p:cNvPr>
            <p:cNvSpPr/>
            <p:nvPr/>
          </p:nvSpPr>
          <p:spPr>
            <a:xfrm>
              <a:off x="5607050" y="3334979"/>
              <a:ext cx="1282700" cy="1282700"/>
            </a:xfrm>
            <a:prstGeom prst="flowChartOffpageConnector">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4800">
                <a:latin typeface="simple-line-icons" panose="02000503000000000000" pitchFamily="2" charset="0"/>
              </a:endParaRPr>
            </a:p>
          </p:txBody>
        </p:sp>
        <p:pic>
          <p:nvPicPr>
            <p:cNvPr id="22" name="Graphic 21" descr="No Touch with solid fill">
              <a:extLst>
                <a:ext uri="{FF2B5EF4-FFF2-40B4-BE49-F238E27FC236}">
                  <a16:creationId xmlns:a16="http://schemas.microsoft.com/office/drawing/2014/main" id="{E00CA786-0E32-F004-DCD3-CAB87B40A98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9885" y="3454255"/>
              <a:ext cx="819443" cy="819443"/>
            </a:xfrm>
            <a:prstGeom prst="rect">
              <a:avLst/>
            </a:prstGeom>
          </p:spPr>
        </p:pic>
      </p:grpSp>
      <p:grpSp>
        <p:nvGrpSpPr>
          <p:cNvPr id="23" name="Group 22">
            <a:extLst>
              <a:ext uri="{FF2B5EF4-FFF2-40B4-BE49-F238E27FC236}">
                <a16:creationId xmlns:a16="http://schemas.microsoft.com/office/drawing/2014/main" id="{DC236316-0DA7-79DC-50CC-97AD0FEBB612}"/>
              </a:ext>
            </a:extLst>
          </p:cNvPr>
          <p:cNvGrpSpPr/>
          <p:nvPr/>
        </p:nvGrpSpPr>
        <p:grpSpPr>
          <a:xfrm>
            <a:off x="7815716" y="3242214"/>
            <a:ext cx="1281112" cy="1282700"/>
            <a:chOff x="7815716" y="3334979"/>
            <a:chExt cx="1281112" cy="1282700"/>
          </a:xfrm>
        </p:grpSpPr>
        <p:sp>
          <p:nvSpPr>
            <p:cNvPr id="24" name="Flowchart: Off-page Connector 23">
              <a:extLst>
                <a:ext uri="{FF2B5EF4-FFF2-40B4-BE49-F238E27FC236}">
                  <a16:creationId xmlns:a16="http://schemas.microsoft.com/office/drawing/2014/main" id="{0BA0EAE4-61A7-68D4-D9EB-5F216D37ACEC}"/>
                </a:ext>
              </a:extLst>
            </p:cNvPr>
            <p:cNvSpPr/>
            <p:nvPr/>
          </p:nvSpPr>
          <p:spPr>
            <a:xfrm>
              <a:off x="7815716" y="3334979"/>
              <a:ext cx="1281112" cy="1282700"/>
            </a:xfrm>
            <a:prstGeom prst="flowChartOffpageConnector">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4800">
                <a:solidFill>
                  <a:schemeClr val="bg1"/>
                </a:solidFill>
                <a:latin typeface="simple-line-icons" panose="02000503000000000000" pitchFamily="2" charset="0"/>
              </a:endParaRPr>
            </a:p>
          </p:txBody>
        </p:sp>
        <p:pic>
          <p:nvPicPr>
            <p:cNvPr id="25" name="Graphic 24" descr="Downstairs with solid fill">
              <a:extLst>
                <a:ext uri="{FF2B5EF4-FFF2-40B4-BE49-F238E27FC236}">
                  <a16:creationId xmlns:a16="http://schemas.microsoft.com/office/drawing/2014/main" id="{F5C75AC4-9E34-6E6F-DFA7-7D0109ADBD8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096753" y="3466070"/>
              <a:ext cx="726572" cy="726572"/>
            </a:xfrm>
            <a:prstGeom prst="rect">
              <a:avLst/>
            </a:prstGeom>
          </p:spPr>
        </p:pic>
      </p:grpSp>
      <p:grpSp>
        <p:nvGrpSpPr>
          <p:cNvPr id="26" name="Group 25">
            <a:extLst>
              <a:ext uri="{FF2B5EF4-FFF2-40B4-BE49-F238E27FC236}">
                <a16:creationId xmlns:a16="http://schemas.microsoft.com/office/drawing/2014/main" id="{F55EFB37-3657-A518-D1DC-806F11E61988}"/>
              </a:ext>
            </a:extLst>
          </p:cNvPr>
          <p:cNvGrpSpPr/>
          <p:nvPr/>
        </p:nvGrpSpPr>
        <p:grpSpPr>
          <a:xfrm>
            <a:off x="10022795" y="3242214"/>
            <a:ext cx="1282700" cy="1282700"/>
            <a:chOff x="10022795" y="3334979"/>
            <a:chExt cx="1282700" cy="1282700"/>
          </a:xfrm>
        </p:grpSpPr>
        <p:sp>
          <p:nvSpPr>
            <p:cNvPr id="27" name="Flowchart: Off-page Connector 26">
              <a:extLst>
                <a:ext uri="{FF2B5EF4-FFF2-40B4-BE49-F238E27FC236}">
                  <a16:creationId xmlns:a16="http://schemas.microsoft.com/office/drawing/2014/main" id="{FACADB63-EE2D-AD84-CCD4-3DBD671E0492}"/>
                </a:ext>
              </a:extLst>
            </p:cNvPr>
            <p:cNvSpPr/>
            <p:nvPr/>
          </p:nvSpPr>
          <p:spPr>
            <a:xfrm>
              <a:off x="10022795" y="3334979"/>
              <a:ext cx="1282700" cy="1282700"/>
            </a:xfrm>
            <a:prstGeom prst="flowChartOffpageConnector">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sz="4800">
                <a:solidFill>
                  <a:schemeClr val="bg1"/>
                </a:solidFill>
                <a:latin typeface="simple-line-icons" panose="02000503000000000000" pitchFamily="2" charset="0"/>
              </a:endParaRPr>
            </a:p>
          </p:txBody>
        </p:sp>
        <p:pic>
          <p:nvPicPr>
            <p:cNvPr id="28" name="Graphic 27" descr="Loan with solid fill">
              <a:extLst>
                <a:ext uri="{FF2B5EF4-FFF2-40B4-BE49-F238E27FC236}">
                  <a16:creationId xmlns:a16="http://schemas.microsoft.com/office/drawing/2014/main" id="{4D498D64-A6A9-308E-F930-DBABDF59BD7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314691" y="3481112"/>
              <a:ext cx="792586" cy="792586"/>
            </a:xfrm>
            <a:prstGeom prst="rect">
              <a:avLst/>
            </a:prstGeom>
          </p:spPr>
        </p:pic>
      </p:grpSp>
      <p:sp>
        <p:nvSpPr>
          <p:cNvPr id="29" name="Rectangle: Rounded Corners 28">
            <a:extLst>
              <a:ext uri="{FF2B5EF4-FFF2-40B4-BE49-F238E27FC236}">
                <a16:creationId xmlns:a16="http://schemas.microsoft.com/office/drawing/2014/main" id="{4DB3B2B5-BE5E-F9C9-A5A7-F8BF6F8AA090}"/>
              </a:ext>
            </a:extLst>
          </p:cNvPr>
          <p:cNvSpPr/>
          <p:nvPr/>
        </p:nvSpPr>
        <p:spPr>
          <a:xfrm>
            <a:off x="883254" y="4735208"/>
            <a:ext cx="1932137" cy="1055992"/>
          </a:xfrm>
          <a:prstGeom prst="round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marL="0" indent="0" algn="ctr">
              <a:buNone/>
            </a:pPr>
            <a:r>
              <a:rPr lang="en-IN" sz="1400">
                <a:solidFill>
                  <a:schemeClr val="tx1">
                    <a:lumMod val="50000"/>
                  </a:schemeClr>
                </a:solidFill>
              </a:rPr>
              <a:t>Distribution of risk among a particular number of individuals </a:t>
            </a:r>
          </a:p>
        </p:txBody>
      </p:sp>
      <p:sp>
        <p:nvSpPr>
          <p:cNvPr id="30" name="Rectangle: Rounded Corners 29">
            <a:extLst>
              <a:ext uri="{FF2B5EF4-FFF2-40B4-BE49-F238E27FC236}">
                <a16:creationId xmlns:a16="http://schemas.microsoft.com/office/drawing/2014/main" id="{2A8ADA2D-3734-D9F0-14DF-C1DA4C5DAFC3}"/>
              </a:ext>
            </a:extLst>
          </p:cNvPr>
          <p:cNvSpPr/>
          <p:nvPr/>
        </p:nvSpPr>
        <p:spPr>
          <a:xfrm>
            <a:off x="3061641" y="4735208"/>
            <a:ext cx="1932137" cy="1055992"/>
          </a:xfrm>
          <a:prstGeom prst="roundRect">
            <a:avLst/>
          </a:prstGeom>
          <a:solidFill>
            <a:schemeClr val="bg1"/>
          </a:solidFill>
          <a:ln>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solidFill>
                  <a:schemeClr val="tx1">
                    <a:lumMod val="50000"/>
                  </a:schemeClr>
                </a:solidFill>
              </a:rPr>
              <a:t>Transfer the risk to another party, for example: Insurance </a:t>
            </a:r>
          </a:p>
        </p:txBody>
      </p:sp>
      <p:sp>
        <p:nvSpPr>
          <p:cNvPr id="31" name="Rectangle: Rounded Corners 30">
            <a:extLst>
              <a:ext uri="{FF2B5EF4-FFF2-40B4-BE49-F238E27FC236}">
                <a16:creationId xmlns:a16="http://schemas.microsoft.com/office/drawing/2014/main" id="{21A3A6E1-5B2E-5DB3-4607-774F6B737C00}"/>
              </a:ext>
            </a:extLst>
          </p:cNvPr>
          <p:cNvSpPr/>
          <p:nvPr/>
        </p:nvSpPr>
        <p:spPr>
          <a:xfrm>
            <a:off x="5302780" y="4729675"/>
            <a:ext cx="1932137" cy="1061525"/>
          </a:xfrm>
          <a:prstGeom prst="round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solidFill>
                  <a:schemeClr val="tx1">
                    <a:lumMod val="50000"/>
                  </a:schemeClr>
                </a:solidFill>
              </a:rPr>
              <a:t>Involves not doing the activity that could carry the risk</a:t>
            </a:r>
          </a:p>
        </p:txBody>
      </p:sp>
      <p:sp>
        <p:nvSpPr>
          <p:cNvPr id="32" name="Rectangle: Rounded Corners 31">
            <a:extLst>
              <a:ext uri="{FF2B5EF4-FFF2-40B4-BE49-F238E27FC236}">
                <a16:creationId xmlns:a16="http://schemas.microsoft.com/office/drawing/2014/main" id="{DC6B0C41-B1AF-EAE0-BDCB-FF8EFEDDCBC0}"/>
              </a:ext>
            </a:extLst>
          </p:cNvPr>
          <p:cNvSpPr/>
          <p:nvPr/>
        </p:nvSpPr>
        <p:spPr>
          <a:xfrm>
            <a:off x="7489409" y="4729675"/>
            <a:ext cx="1932137" cy="1061525"/>
          </a:xfrm>
          <a:prstGeom prst="roundRect">
            <a:avLst/>
          </a:prstGeom>
          <a:solidFill>
            <a:schemeClr val="bg1"/>
          </a:solidFill>
          <a:ln>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solidFill>
                  <a:schemeClr val="tx1">
                    <a:lumMod val="50000"/>
                  </a:schemeClr>
                </a:solidFill>
              </a:rPr>
              <a:t>Taking steps to prevent or reduce the loss</a:t>
            </a:r>
          </a:p>
        </p:txBody>
      </p:sp>
      <p:sp>
        <p:nvSpPr>
          <p:cNvPr id="33" name="Rectangle: Rounded Corners 32">
            <a:extLst>
              <a:ext uri="{FF2B5EF4-FFF2-40B4-BE49-F238E27FC236}">
                <a16:creationId xmlns:a16="http://schemas.microsoft.com/office/drawing/2014/main" id="{5CEA90A1-01C1-A16F-341B-BCAE376F2F68}"/>
              </a:ext>
            </a:extLst>
          </p:cNvPr>
          <p:cNvSpPr/>
          <p:nvPr/>
        </p:nvSpPr>
        <p:spPr>
          <a:xfrm>
            <a:off x="9744915" y="4719963"/>
            <a:ext cx="1932137" cy="1071237"/>
          </a:xfrm>
          <a:prstGeom prst="round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a:solidFill>
                  <a:schemeClr val="tx1">
                    <a:lumMod val="50000"/>
                  </a:schemeClr>
                </a:solidFill>
              </a:rPr>
              <a:t>Accept the risk by assuming all financial responsibilities for that risk </a:t>
            </a:r>
          </a:p>
        </p:txBody>
      </p:sp>
    </p:spTree>
    <p:extLst>
      <p:ext uri="{BB962C8B-B14F-4D97-AF65-F5344CB8AC3E}">
        <p14:creationId xmlns:p14="http://schemas.microsoft.com/office/powerpoint/2010/main" val="35292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750" fill="hold"/>
                                        <p:tgtEl>
                                          <p:spTgt spid="12"/>
                                        </p:tgtEl>
                                        <p:attrNameLst>
                                          <p:attrName>ppt_x</p:attrName>
                                        </p:attrNameLst>
                                      </p:cBhvr>
                                      <p:tavLst>
                                        <p:tav tm="0">
                                          <p:val>
                                            <p:strVal val="#ppt_x"/>
                                          </p:val>
                                        </p:tav>
                                        <p:tav tm="100000">
                                          <p:val>
                                            <p:strVal val="#ppt_x"/>
                                          </p:val>
                                        </p:tav>
                                      </p:tavLst>
                                    </p:anim>
                                    <p:anim calcmode="lin" valueType="num">
                                      <p:cBhvr additive="base">
                                        <p:cTn id="8" dur="75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ppt_x"/>
                                          </p:val>
                                        </p:tav>
                                        <p:tav tm="100000">
                                          <p:val>
                                            <p:strVal val="#ppt_x"/>
                                          </p:val>
                                        </p:tav>
                                      </p:tavLst>
                                    </p:anim>
                                    <p:anim calcmode="lin" valueType="num">
                                      <p:cBhvr additive="base">
                                        <p:cTn id="12" dur="750" fill="hold"/>
                                        <p:tgtEl>
                                          <p:spTgt spid="14"/>
                                        </p:tgtEl>
                                        <p:attrNameLst>
                                          <p:attrName>ppt_y</p:attrName>
                                        </p:attrNameLst>
                                      </p:cBhvr>
                                      <p:tavLst>
                                        <p:tav tm="0">
                                          <p:val>
                                            <p:strVal val="0-#ppt_h/2"/>
                                          </p:val>
                                        </p:tav>
                                        <p:tav tm="100000">
                                          <p:val>
                                            <p:strVal val="#ppt_y"/>
                                          </p:val>
                                        </p:tav>
                                      </p:tavLst>
                                    </p:anim>
                                  </p:childTnLst>
                                </p:cTn>
                              </p:par>
                            </p:childTnLst>
                          </p:cTn>
                        </p:par>
                        <p:par>
                          <p:cTn id="13" fill="hold">
                            <p:stCondLst>
                              <p:cond delay="750"/>
                            </p:stCondLst>
                            <p:childTnLst>
                              <p:par>
                                <p:cTn id="14" presetID="2" presetClass="entr" presetSubtype="1"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750" fill="hold"/>
                                        <p:tgtEl>
                                          <p:spTgt spid="29"/>
                                        </p:tgtEl>
                                        <p:attrNameLst>
                                          <p:attrName>ppt_x</p:attrName>
                                        </p:attrNameLst>
                                      </p:cBhvr>
                                      <p:tavLst>
                                        <p:tav tm="0">
                                          <p:val>
                                            <p:strVal val="#ppt_x"/>
                                          </p:val>
                                        </p:tav>
                                        <p:tav tm="100000">
                                          <p:val>
                                            <p:strVal val="#ppt_x"/>
                                          </p:val>
                                        </p:tav>
                                      </p:tavLst>
                                    </p:anim>
                                    <p:anim calcmode="lin" valueType="num">
                                      <p:cBhvr additive="base">
                                        <p:cTn id="17" dur="750" fill="hold"/>
                                        <p:tgtEl>
                                          <p:spTgt spid="29"/>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ppt_x"/>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par>
                                <p:cTn id="24" presetID="2" presetClass="entr" presetSubtype="1"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750" fill="hold"/>
                                        <p:tgtEl>
                                          <p:spTgt spid="17"/>
                                        </p:tgtEl>
                                        <p:attrNameLst>
                                          <p:attrName>ppt_x</p:attrName>
                                        </p:attrNameLst>
                                      </p:cBhvr>
                                      <p:tavLst>
                                        <p:tav tm="0">
                                          <p:val>
                                            <p:strVal val="#ppt_x"/>
                                          </p:val>
                                        </p:tav>
                                        <p:tav tm="100000">
                                          <p:val>
                                            <p:strVal val="#ppt_x"/>
                                          </p:val>
                                        </p:tav>
                                      </p:tavLst>
                                    </p:anim>
                                    <p:anim calcmode="lin" valueType="num">
                                      <p:cBhvr additive="base">
                                        <p:cTn id="27" dur="750" fill="hold"/>
                                        <p:tgtEl>
                                          <p:spTgt spid="17"/>
                                        </p:tgtEl>
                                        <p:attrNameLst>
                                          <p:attrName>ppt_y</p:attrName>
                                        </p:attrNameLst>
                                      </p:cBhvr>
                                      <p:tavLst>
                                        <p:tav tm="0">
                                          <p:val>
                                            <p:strVal val="0-#ppt_h/2"/>
                                          </p:val>
                                        </p:tav>
                                        <p:tav tm="100000">
                                          <p:val>
                                            <p:strVal val="#ppt_y"/>
                                          </p:val>
                                        </p:tav>
                                      </p:tavLst>
                                    </p:anim>
                                  </p:childTnLst>
                                </p:cTn>
                              </p:par>
                            </p:childTnLst>
                          </p:cTn>
                        </p:par>
                        <p:par>
                          <p:cTn id="28" fill="hold">
                            <p:stCondLst>
                              <p:cond delay="750"/>
                            </p:stCondLst>
                            <p:childTnLst>
                              <p:par>
                                <p:cTn id="29" presetID="2" presetClass="entr" presetSubtype="1"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750" fill="hold"/>
                                        <p:tgtEl>
                                          <p:spTgt spid="30"/>
                                        </p:tgtEl>
                                        <p:attrNameLst>
                                          <p:attrName>ppt_x</p:attrName>
                                        </p:attrNameLst>
                                      </p:cBhvr>
                                      <p:tavLst>
                                        <p:tav tm="0">
                                          <p:val>
                                            <p:strVal val="#ppt_x"/>
                                          </p:val>
                                        </p:tav>
                                        <p:tav tm="100000">
                                          <p:val>
                                            <p:strVal val="#ppt_x"/>
                                          </p:val>
                                        </p:tav>
                                      </p:tavLst>
                                    </p:anim>
                                    <p:anim calcmode="lin" valueType="num">
                                      <p:cBhvr additive="base">
                                        <p:cTn id="32" dur="750" fill="hold"/>
                                        <p:tgtEl>
                                          <p:spTgt spid="30"/>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750" fill="hold"/>
                                        <p:tgtEl>
                                          <p:spTgt spid="10"/>
                                        </p:tgtEl>
                                        <p:attrNameLst>
                                          <p:attrName>ppt_x</p:attrName>
                                        </p:attrNameLst>
                                      </p:cBhvr>
                                      <p:tavLst>
                                        <p:tav tm="0">
                                          <p:val>
                                            <p:strVal val="#ppt_x"/>
                                          </p:val>
                                        </p:tav>
                                        <p:tav tm="100000">
                                          <p:val>
                                            <p:strVal val="#ppt_x"/>
                                          </p:val>
                                        </p:tav>
                                      </p:tavLst>
                                    </p:anim>
                                    <p:anim calcmode="lin" valueType="num">
                                      <p:cBhvr additive="base">
                                        <p:cTn id="38" dur="750" fill="hold"/>
                                        <p:tgtEl>
                                          <p:spTgt spid="10"/>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750" fill="hold"/>
                                        <p:tgtEl>
                                          <p:spTgt spid="20"/>
                                        </p:tgtEl>
                                        <p:attrNameLst>
                                          <p:attrName>ppt_x</p:attrName>
                                        </p:attrNameLst>
                                      </p:cBhvr>
                                      <p:tavLst>
                                        <p:tav tm="0">
                                          <p:val>
                                            <p:strVal val="#ppt_x"/>
                                          </p:val>
                                        </p:tav>
                                        <p:tav tm="100000">
                                          <p:val>
                                            <p:strVal val="#ppt_x"/>
                                          </p:val>
                                        </p:tav>
                                      </p:tavLst>
                                    </p:anim>
                                    <p:anim calcmode="lin" valueType="num">
                                      <p:cBhvr additive="base">
                                        <p:cTn id="42" dur="750" fill="hold"/>
                                        <p:tgtEl>
                                          <p:spTgt spid="20"/>
                                        </p:tgtEl>
                                        <p:attrNameLst>
                                          <p:attrName>ppt_y</p:attrName>
                                        </p:attrNameLst>
                                      </p:cBhvr>
                                      <p:tavLst>
                                        <p:tav tm="0">
                                          <p:val>
                                            <p:strVal val="0-#ppt_h/2"/>
                                          </p:val>
                                        </p:tav>
                                        <p:tav tm="100000">
                                          <p:val>
                                            <p:strVal val="#ppt_y"/>
                                          </p:val>
                                        </p:tav>
                                      </p:tavLst>
                                    </p:anim>
                                  </p:childTnLst>
                                </p:cTn>
                              </p:par>
                            </p:childTnLst>
                          </p:cTn>
                        </p:par>
                        <p:par>
                          <p:cTn id="43" fill="hold">
                            <p:stCondLst>
                              <p:cond delay="750"/>
                            </p:stCondLst>
                            <p:childTnLst>
                              <p:par>
                                <p:cTn id="44" presetID="2" presetClass="entr" presetSubtype="1" fill="hold" grpId="0" nodeType="after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additive="base">
                                        <p:cTn id="46" dur="750" fill="hold"/>
                                        <p:tgtEl>
                                          <p:spTgt spid="31"/>
                                        </p:tgtEl>
                                        <p:attrNameLst>
                                          <p:attrName>ppt_x</p:attrName>
                                        </p:attrNameLst>
                                      </p:cBhvr>
                                      <p:tavLst>
                                        <p:tav tm="0">
                                          <p:val>
                                            <p:strVal val="#ppt_x"/>
                                          </p:val>
                                        </p:tav>
                                        <p:tav tm="100000">
                                          <p:val>
                                            <p:strVal val="#ppt_x"/>
                                          </p:val>
                                        </p:tav>
                                      </p:tavLst>
                                    </p:anim>
                                    <p:anim calcmode="lin" valueType="num">
                                      <p:cBhvr additive="base">
                                        <p:cTn id="47" dur="75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750" fill="hold"/>
                                        <p:tgtEl>
                                          <p:spTgt spid="6"/>
                                        </p:tgtEl>
                                        <p:attrNameLst>
                                          <p:attrName>ppt_x</p:attrName>
                                        </p:attrNameLst>
                                      </p:cBhvr>
                                      <p:tavLst>
                                        <p:tav tm="0">
                                          <p:val>
                                            <p:strVal val="#ppt_x"/>
                                          </p:val>
                                        </p:tav>
                                        <p:tav tm="100000">
                                          <p:val>
                                            <p:strVal val="#ppt_x"/>
                                          </p:val>
                                        </p:tav>
                                      </p:tavLst>
                                    </p:anim>
                                    <p:anim calcmode="lin" valueType="num">
                                      <p:cBhvr additive="base">
                                        <p:cTn id="53" dur="750" fill="hold"/>
                                        <p:tgtEl>
                                          <p:spTgt spid="6"/>
                                        </p:tgtEl>
                                        <p:attrNameLst>
                                          <p:attrName>ppt_y</p:attrName>
                                        </p:attrNameLst>
                                      </p:cBhvr>
                                      <p:tavLst>
                                        <p:tav tm="0">
                                          <p:val>
                                            <p:strVal val="0-#ppt_h/2"/>
                                          </p:val>
                                        </p:tav>
                                        <p:tav tm="100000">
                                          <p:val>
                                            <p:strVal val="#ppt_y"/>
                                          </p:val>
                                        </p:tav>
                                      </p:tavLst>
                                    </p:anim>
                                  </p:childTnLst>
                                </p:cTn>
                              </p:par>
                              <p:par>
                                <p:cTn id="54" presetID="2" presetClass="entr" presetSubtype="1"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 calcmode="lin" valueType="num">
                                      <p:cBhvr additive="base">
                                        <p:cTn id="56" dur="750" fill="hold"/>
                                        <p:tgtEl>
                                          <p:spTgt spid="23"/>
                                        </p:tgtEl>
                                        <p:attrNameLst>
                                          <p:attrName>ppt_x</p:attrName>
                                        </p:attrNameLst>
                                      </p:cBhvr>
                                      <p:tavLst>
                                        <p:tav tm="0">
                                          <p:val>
                                            <p:strVal val="#ppt_x"/>
                                          </p:val>
                                        </p:tav>
                                        <p:tav tm="100000">
                                          <p:val>
                                            <p:strVal val="#ppt_x"/>
                                          </p:val>
                                        </p:tav>
                                      </p:tavLst>
                                    </p:anim>
                                    <p:anim calcmode="lin" valueType="num">
                                      <p:cBhvr additive="base">
                                        <p:cTn id="57" dur="750" fill="hold"/>
                                        <p:tgtEl>
                                          <p:spTgt spid="23"/>
                                        </p:tgtEl>
                                        <p:attrNameLst>
                                          <p:attrName>ppt_y</p:attrName>
                                        </p:attrNameLst>
                                      </p:cBhvr>
                                      <p:tavLst>
                                        <p:tav tm="0">
                                          <p:val>
                                            <p:strVal val="0-#ppt_h/2"/>
                                          </p:val>
                                        </p:tav>
                                        <p:tav tm="100000">
                                          <p:val>
                                            <p:strVal val="#ppt_y"/>
                                          </p:val>
                                        </p:tav>
                                      </p:tavLst>
                                    </p:anim>
                                  </p:childTnLst>
                                </p:cTn>
                              </p:par>
                            </p:childTnLst>
                          </p:cTn>
                        </p:par>
                        <p:par>
                          <p:cTn id="58" fill="hold">
                            <p:stCondLst>
                              <p:cond delay="750"/>
                            </p:stCondLst>
                            <p:childTnLst>
                              <p:par>
                                <p:cTn id="59" presetID="2" presetClass="entr" presetSubtype="1" fill="hold" grpId="0" nodeType="afterEffect">
                                  <p:stCondLst>
                                    <p:cond delay="0"/>
                                  </p:stCondLst>
                                  <p:childTnLst>
                                    <p:set>
                                      <p:cBhvr>
                                        <p:cTn id="60" dur="1" fill="hold">
                                          <p:stCondLst>
                                            <p:cond delay="0"/>
                                          </p:stCondLst>
                                        </p:cTn>
                                        <p:tgtEl>
                                          <p:spTgt spid="32"/>
                                        </p:tgtEl>
                                        <p:attrNameLst>
                                          <p:attrName>style.visibility</p:attrName>
                                        </p:attrNameLst>
                                      </p:cBhvr>
                                      <p:to>
                                        <p:strVal val="visible"/>
                                      </p:to>
                                    </p:set>
                                    <p:anim calcmode="lin" valueType="num">
                                      <p:cBhvr additive="base">
                                        <p:cTn id="61" dur="750" fill="hold"/>
                                        <p:tgtEl>
                                          <p:spTgt spid="32"/>
                                        </p:tgtEl>
                                        <p:attrNameLst>
                                          <p:attrName>ppt_x</p:attrName>
                                        </p:attrNameLst>
                                      </p:cBhvr>
                                      <p:tavLst>
                                        <p:tav tm="0">
                                          <p:val>
                                            <p:strVal val="#ppt_x"/>
                                          </p:val>
                                        </p:tav>
                                        <p:tav tm="100000">
                                          <p:val>
                                            <p:strVal val="#ppt_x"/>
                                          </p:val>
                                        </p:tav>
                                      </p:tavLst>
                                    </p:anim>
                                    <p:anim calcmode="lin" valueType="num">
                                      <p:cBhvr additive="base">
                                        <p:cTn id="62" dur="750" fill="hold"/>
                                        <p:tgtEl>
                                          <p:spTgt spid="32"/>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1" fill="hold" grpId="0" nodeType="clickEffect">
                                  <p:stCondLst>
                                    <p:cond delay="0"/>
                                  </p:stCondLst>
                                  <p:childTnLst>
                                    <p:set>
                                      <p:cBhvr>
                                        <p:cTn id="66" dur="1" fill="hold">
                                          <p:stCondLst>
                                            <p:cond delay="0"/>
                                          </p:stCondLst>
                                        </p:cTn>
                                        <p:tgtEl>
                                          <p:spTgt spid="3"/>
                                        </p:tgtEl>
                                        <p:attrNameLst>
                                          <p:attrName>style.visibility</p:attrName>
                                        </p:attrNameLst>
                                      </p:cBhvr>
                                      <p:to>
                                        <p:strVal val="visible"/>
                                      </p:to>
                                    </p:set>
                                    <p:anim calcmode="lin" valueType="num">
                                      <p:cBhvr additive="base">
                                        <p:cTn id="67" dur="750" fill="hold"/>
                                        <p:tgtEl>
                                          <p:spTgt spid="3"/>
                                        </p:tgtEl>
                                        <p:attrNameLst>
                                          <p:attrName>ppt_x</p:attrName>
                                        </p:attrNameLst>
                                      </p:cBhvr>
                                      <p:tavLst>
                                        <p:tav tm="0">
                                          <p:val>
                                            <p:strVal val="#ppt_x"/>
                                          </p:val>
                                        </p:tav>
                                        <p:tav tm="100000">
                                          <p:val>
                                            <p:strVal val="#ppt_x"/>
                                          </p:val>
                                        </p:tav>
                                      </p:tavLst>
                                    </p:anim>
                                    <p:anim calcmode="lin" valueType="num">
                                      <p:cBhvr additive="base">
                                        <p:cTn id="68" dur="750" fill="hold"/>
                                        <p:tgtEl>
                                          <p:spTgt spid="3"/>
                                        </p:tgtEl>
                                        <p:attrNameLst>
                                          <p:attrName>ppt_y</p:attrName>
                                        </p:attrNameLst>
                                      </p:cBhvr>
                                      <p:tavLst>
                                        <p:tav tm="0">
                                          <p:val>
                                            <p:strVal val="0-#ppt_h/2"/>
                                          </p:val>
                                        </p:tav>
                                        <p:tav tm="100000">
                                          <p:val>
                                            <p:strVal val="#ppt_y"/>
                                          </p:val>
                                        </p:tav>
                                      </p:tavLst>
                                    </p:anim>
                                  </p:childTnLst>
                                </p:cTn>
                              </p:par>
                              <p:par>
                                <p:cTn id="69" presetID="2" presetClass="entr" presetSubtype="1"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750" fill="hold"/>
                                        <p:tgtEl>
                                          <p:spTgt spid="26"/>
                                        </p:tgtEl>
                                        <p:attrNameLst>
                                          <p:attrName>ppt_x</p:attrName>
                                        </p:attrNameLst>
                                      </p:cBhvr>
                                      <p:tavLst>
                                        <p:tav tm="0">
                                          <p:val>
                                            <p:strVal val="#ppt_x"/>
                                          </p:val>
                                        </p:tav>
                                        <p:tav tm="100000">
                                          <p:val>
                                            <p:strVal val="#ppt_x"/>
                                          </p:val>
                                        </p:tav>
                                      </p:tavLst>
                                    </p:anim>
                                    <p:anim calcmode="lin" valueType="num">
                                      <p:cBhvr additive="base">
                                        <p:cTn id="72" dur="750" fill="hold"/>
                                        <p:tgtEl>
                                          <p:spTgt spid="26"/>
                                        </p:tgtEl>
                                        <p:attrNameLst>
                                          <p:attrName>ppt_y</p:attrName>
                                        </p:attrNameLst>
                                      </p:cBhvr>
                                      <p:tavLst>
                                        <p:tav tm="0">
                                          <p:val>
                                            <p:strVal val="0-#ppt_h/2"/>
                                          </p:val>
                                        </p:tav>
                                        <p:tav tm="100000">
                                          <p:val>
                                            <p:strVal val="#ppt_y"/>
                                          </p:val>
                                        </p:tav>
                                      </p:tavLst>
                                    </p:anim>
                                  </p:childTnLst>
                                </p:cTn>
                              </p:par>
                            </p:childTnLst>
                          </p:cTn>
                        </p:par>
                        <p:par>
                          <p:cTn id="73" fill="hold">
                            <p:stCondLst>
                              <p:cond delay="750"/>
                            </p:stCondLst>
                            <p:childTnLst>
                              <p:par>
                                <p:cTn id="74" presetID="2" presetClass="entr" presetSubtype="1" fill="hold" grpId="0" nodeType="after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750" fill="hold"/>
                                        <p:tgtEl>
                                          <p:spTgt spid="33"/>
                                        </p:tgtEl>
                                        <p:attrNameLst>
                                          <p:attrName>ppt_x</p:attrName>
                                        </p:attrNameLst>
                                      </p:cBhvr>
                                      <p:tavLst>
                                        <p:tav tm="0">
                                          <p:val>
                                            <p:strVal val="#ppt_x"/>
                                          </p:val>
                                        </p:tav>
                                        <p:tav tm="100000">
                                          <p:val>
                                            <p:strVal val="#ppt_x"/>
                                          </p:val>
                                        </p:tav>
                                      </p:tavLst>
                                    </p:anim>
                                    <p:anim calcmode="lin" valueType="num">
                                      <p:cBhvr additive="base">
                                        <p:cTn id="77" dur="750" fill="hold"/>
                                        <p:tgtEl>
                                          <p:spTgt spid="3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0" grpId="0" animBg="1"/>
      <p:bldP spid="11" grpId="0" animBg="1"/>
      <p:bldP spid="12" grpId="0" animBg="1"/>
      <p:bldP spid="29" grpId="0" animBg="1"/>
      <p:bldP spid="30" grpId="0" animBg="1"/>
      <p:bldP spid="31"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Let us check your understanding</a:t>
            </a:r>
          </a:p>
        </p:txBody>
      </p:sp>
      <p:pic>
        <p:nvPicPr>
          <p:cNvPr id="4" name="Picture 4" descr="Businessmans hand holding question mark. person asking for answer, help and support flat vector illustration. faq, interrogation, difficulty concept for banner, website design or landing web page Free Vector">
            <a:extLst>
              <a:ext uri="{FF2B5EF4-FFF2-40B4-BE49-F238E27FC236}">
                <a16:creationId xmlns:a16="http://schemas.microsoft.com/office/drawing/2014/main" id="{C110D408-34EE-D77D-DB02-5F78DFC59E57}"/>
              </a:ext>
            </a:extLst>
          </p:cNvPr>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l="7453" t="5463" r="6196" b="5639"/>
          <a:stretch/>
        </p:blipFill>
        <p:spPr bwMode="auto">
          <a:xfrm>
            <a:off x="4524533" y="2890743"/>
            <a:ext cx="3109535" cy="21324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8D358D-18E8-BD75-51FE-D475F4159E7C}"/>
              </a:ext>
            </a:extLst>
          </p:cNvPr>
          <p:cNvSpPr txBox="1"/>
          <p:nvPr/>
        </p:nvSpPr>
        <p:spPr>
          <a:xfrm>
            <a:off x="1353429" y="1420423"/>
            <a:ext cx="9485141" cy="338554"/>
          </a:xfrm>
          <a:prstGeom prst="rect">
            <a:avLst/>
          </a:prstGeom>
          <a:noFill/>
        </p:spPr>
        <p:txBody>
          <a:bodyPr wrap="square">
            <a:spAutoFit/>
          </a:bodyPr>
          <a:lstStyle/>
          <a:p>
            <a:pPr marL="0" indent="0">
              <a:buNone/>
            </a:pPr>
            <a:r>
              <a:rPr lang="en-IN" sz="1600" b="1" dirty="0">
                <a:solidFill>
                  <a:schemeClr val="accent1"/>
                </a:solidFill>
              </a:rPr>
              <a:t>Please read the examples below and select the correct risk management method  </a:t>
            </a:r>
          </a:p>
        </p:txBody>
      </p:sp>
      <p:sp>
        <p:nvSpPr>
          <p:cNvPr id="7" name="TextBox 6">
            <a:extLst>
              <a:ext uri="{FF2B5EF4-FFF2-40B4-BE49-F238E27FC236}">
                <a16:creationId xmlns:a16="http://schemas.microsoft.com/office/drawing/2014/main" id="{82C6422B-E12D-FED6-A11B-E3E41701463E}"/>
              </a:ext>
            </a:extLst>
          </p:cNvPr>
          <p:cNvSpPr txBox="1"/>
          <p:nvPr/>
        </p:nvSpPr>
        <p:spPr>
          <a:xfrm>
            <a:off x="376310" y="2153274"/>
            <a:ext cx="4181622" cy="1446550"/>
          </a:xfrm>
          <a:prstGeom prst="rect">
            <a:avLst/>
          </a:prstGeom>
          <a:noFill/>
        </p:spPr>
        <p:txBody>
          <a:bodyPr wrap="square">
            <a:spAutoFit/>
          </a:bodyPr>
          <a:lstStyle/>
          <a:p>
            <a:r>
              <a:rPr lang="en-IN" b="1" dirty="0">
                <a:solidFill>
                  <a:schemeClr val="tx1">
                    <a:lumMod val="50000"/>
                  </a:schemeClr>
                </a:solidFill>
              </a:rPr>
              <a:t>01 </a:t>
            </a:r>
            <a:r>
              <a:rPr lang="en-IN" sz="1400" dirty="0">
                <a:solidFill>
                  <a:schemeClr val="tx1">
                    <a:lumMod val="50000"/>
                  </a:schemeClr>
                </a:solidFill>
              </a:rPr>
              <a:t>Mary and Tim jointly buy a boat and pay $5000 each for the same. They decided to self-insure the boat and take responsibility in case any loss occurs.</a:t>
            </a:r>
          </a:p>
          <a:p>
            <a:endParaRPr lang="en-IN" sz="1400" dirty="0">
              <a:solidFill>
                <a:schemeClr val="tx1">
                  <a:lumMod val="50000"/>
                </a:schemeClr>
              </a:solidFill>
            </a:endParaRPr>
          </a:p>
          <a:p>
            <a:r>
              <a:rPr lang="en-IN" sz="1400" b="1" dirty="0">
                <a:solidFill>
                  <a:schemeClr val="accent5"/>
                </a:solidFill>
              </a:rPr>
              <a:t>Answer: Sharing risk </a:t>
            </a:r>
            <a:endParaRPr lang="en-US" sz="1400" b="1" dirty="0">
              <a:solidFill>
                <a:schemeClr val="accent5"/>
              </a:solidFill>
            </a:endParaRPr>
          </a:p>
        </p:txBody>
      </p:sp>
      <p:sp>
        <p:nvSpPr>
          <p:cNvPr id="8" name="TextBox 7">
            <a:extLst>
              <a:ext uri="{FF2B5EF4-FFF2-40B4-BE49-F238E27FC236}">
                <a16:creationId xmlns:a16="http://schemas.microsoft.com/office/drawing/2014/main" id="{F435B5E5-B523-EF89-12FD-A565F4AA56C7}"/>
              </a:ext>
            </a:extLst>
          </p:cNvPr>
          <p:cNvSpPr txBox="1"/>
          <p:nvPr/>
        </p:nvSpPr>
        <p:spPr>
          <a:xfrm>
            <a:off x="376310" y="4007574"/>
            <a:ext cx="4181622" cy="1015663"/>
          </a:xfrm>
          <a:prstGeom prst="rect">
            <a:avLst/>
          </a:prstGeom>
          <a:noFill/>
        </p:spPr>
        <p:txBody>
          <a:bodyPr wrap="square">
            <a:spAutoFit/>
          </a:bodyPr>
          <a:lstStyle/>
          <a:p>
            <a:r>
              <a:rPr lang="en-IN" b="1" dirty="0">
                <a:solidFill>
                  <a:schemeClr val="tx1">
                    <a:lumMod val="50000"/>
                  </a:schemeClr>
                </a:solidFill>
              </a:rPr>
              <a:t>02 </a:t>
            </a:r>
            <a:r>
              <a:rPr lang="en-IN" sz="1400" dirty="0">
                <a:solidFill>
                  <a:schemeClr val="tx1">
                    <a:lumMod val="50000"/>
                  </a:schemeClr>
                </a:solidFill>
              </a:rPr>
              <a:t>Rick has bought a homeowner’s policy to cover the risk of loss to his house.</a:t>
            </a:r>
          </a:p>
          <a:p>
            <a:endParaRPr lang="en-IN" sz="1400" dirty="0">
              <a:solidFill>
                <a:schemeClr val="tx1">
                  <a:lumMod val="50000"/>
                </a:schemeClr>
              </a:solidFill>
            </a:endParaRPr>
          </a:p>
          <a:p>
            <a:r>
              <a:rPr lang="en-IN" sz="1400" b="1" dirty="0">
                <a:solidFill>
                  <a:schemeClr val="accent5"/>
                </a:solidFill>
              </a:rPr>
              <a:t>Answer: Transfer risk </a:t>
            </a:r>
            <a:endParaRPr lang="en-US" sz="1400" b="1" dirty="0">
              <a:solidFill>
                <a:schemeClr val="accent5"/>
              </a:solidFill>
            </a:endParaRPr>
          </a:p>
        </p:txBody>
      </p:sp>
      <p:sp>
        <p:nvSpPr>
          <p:cNvPr id="9" name="TextBox 8">
            <a:extLst>
              <a:ext uri="{FF2B5EF4-FFF2-40B4-BE49-F238E27FC236}">
                <a16:creationId xmlns:a16="http://schemas.microsoft.com/office/drawing/2014/main" id="{3A8BA9FD-992D-AE44-473E-DFE913BA830F}"/>
              </a:ext>
            </a:extLst>
          </p:cNvPr>
          <p:cNvSpPr txBox="1"/>
          <p:nvPr/>
        </p:nvSpPr>
        <p:spPr>
          <a:xfrm>
            <a:off x="376310" y="5425282"/>
            <a:ext cx="4181622" cy="1015663"/>
          </a:xfrm>
          <a:prstGeom prst="rect">
            <a:avLst/>
          </a:prstGeom>
          <a:noFill/>
        </p:spPr>
        <p:txBody>
          <a:bodyPr wrap="square">
            <a:spAutoFit/>
          </a:bodyPr>
          <a:lstStyle/>
          <a:p>
            <a:r>
              <a:rPr lang="en-IN" b="1" dirty="0">
                <a:solidFill>
                  <a:schemeClr val="tx1">
                    <a:lumMod val="50000"/>
                  </a:schemeClr>
                </a:solidFill>
              </a:rPr>
              <a:t>03 </a:t>
            </a:r>
            <a:r>
              <a:rPr lang="en-IN" sz="1400" dirty="0">
                <a:solidFill>
                  <a:schemeClr val="tx1">
                    <a:lumMod val="50000"/>
                  </a:schemeClr>
                </a:solidFill>
              </a:rPr>
              <a:t>Jack does not go for scuba diving since he fears the risk of drowning.</a:t>
            </a:r>
          </a:p>
          <a:p>
            <a:endParaRPr lang="en-IN" sz="1400" dirty="0">
              <a:solidFill>
                <a:schemeClr val="tx1">
                  <a:lumMod val="50000"/>
                </a:schemeClr>
              </a:solidFill>
            </a:endParaRPr>
          </a:p>
          <a:p>
            <a:r>
              <a:rPr lang="en-IN" sz="1400" b="1" dirty="0">
                <a:solidFill>
                  <a:schemeClr val="accent5"/>
                </a:solidFill>
              </a:rPr>
              <a:t>Answer: Avoid risk </a:t>
            </a:r>
            <a:endParaRPr lang="en-US" sz="1400" b="1" dirty="0">
              <a:solidFill>
                <a:schemeClr val="accent5"/>
              </a:solidFill>
            </a:endParaRPr>
          </a:p>
        </p:txBody>
      </p:sp>
      <p:sp>
        <p:nvSpPr>
          <p:cNvPr id="10" name="TextBox 9">
            <a:extLst>
              <a:ext uri="{FF2B5EF4-FFF2-40B4-BE49-F238E27FC236}">
                <a16:creationId xmlns:a16="http://schemas.microsoft.com/office/drawing/2014/main" id="{066C93E1-E717-32C3-8641-03F49FD5D2A6}"/>
              </a:ext>
            </a:extLst>
          </p:cNvPr>
          <p:cNvSpPr txBox="1"/>
          <p:nvPr/>
        </p:nvSpPr>
        <p:spPr>
          <a:xfrm>
            <a:off x="7634068" y="2116325"/>
            <a:ext cx="4181622" cy="1446550"/>
          </a:xfrm>
          <a:prstGeom prst="rect">
            <a:avLst/>
          </a:prstGeom>
          <a:noFill/>
        </p:spPr>
        <p:txBody>
          <a:bodyPr wrap="square">
            <a:spAutoFit/>
          </a:bodyPr>
          <a:lstStyle/>
          <a:p>
            <a:r>
              <a:rPr lang="en-IN" b="1" dirty="0">
                <a:solidFill>
                  <a:schemeClr val="tx1">
                    <a:lumMod val="50000"/>
                  </a:schemeClr>
                </a:solidFill>
              </a:rPr>
              <a:t>04</a:t>
            </a:r>
            <a:r>
              <a:rPr lang="en-IN" sz="1400" dirty="0">
                <a:solidFill>
                  <a:schemeClr val="tx1">
                    <a:lumMod val="50000"/>
                  </a:schemeClr>
                </a:solidFill>
              </a:rPr>
              <a:t> Post his retirement, Rob made all the investments with fixed rate investments for the fear of riskier investments where he could bear losses .</a:t>
            </a:r>
          </a:p>
          <a:p>
            <a:endParaRPr lang="en-IN" sz="1400" dirty="0">
              <a:solidFill>
                <a:schemeClr val="tx1">
                  <a:lumMod val="50000"/>
                </a:schemeClr>
              </a:solidFill>
            </a:endParaRPr>
          </a:p>
          <a:p>
            <a:r>
              <a:rPr lang="en-IN" sz="1400" b="1" dirty="0">
                <a:solidFill>
                  <a:schemeClr val="accent5"/>
                </a:solidFill>
              </a:rPr>
              <a:t>Answer: Avoid risk </a:t>
            </a:r>
            <a:endParaRPr lang="en-US" sz="1400" b="1" dirty="0">
              <a:solidFill>
                <a:schemeClr val="accent5"/>
              </a:solidFill>
            </a:endParaRPr>
          </a:p>
        </p:txBody>
      </p:sp>
      <p:sp>
        <p:nvSpPr>
          <p:cNvPr id="11" name="TextBox 10">
            <a:extLst>
              <a:ext uri="{FF2B5EF4-FFF2-40B4-BE49-F238E27FC236}">
                <a16:creationId xmlns:a16="http://schemas.microsoft.com/office/drawing/2014/main" id="{E2386800-57FE-1FB4-F577-1AB9199C9377}"/>
              </a:ext>
            </a:extLst>
          </p:cNvPr>
          <p:cNvSpPr txBox="1"/>
          <p:nvPr/>
        </p:nvSpPr>
        <p:spPr>
          <a:xfrm>
            <a:off x="7651653" y="3857199"/>
            <a:ext cx="4181622" cy="1231106"/>
          </a:xfrm>
          <a:prstGeom prst="rect">
            <a:avLst/>
          </a:prstGeom>
          <a:noFill/>
        </p:spPr>
        <p:txBody>
          <a:bodyPr wrap="square" lIns="91440" tIns="45720" rIns="91440" bIns="45720" anchor="t">
            <a:spAutoFit/>
          </a:bodyPr>
          <a:lstStyle/>
          <a:p>
            <a:r>
              <a:rPr lang="en-IN" b="1" dirty="0">
                <a:solidFill>
                  <a:schemeClr val="tx1">
                    <a:lumMod val="50000"/>
                  </a:schemeClr>
                </a:solidFill>
              </a:rPr>
              <a:t>05 </a:t>
            </a:r>
            <a:r>
              <a:rPr lang="en-IN" sz="1400" dirty="0">
                <a:solidFill>
                  <a:schemeClr val="tx1">
                    <a:lumMod val="50000"/>
                  </a:schemeClr>
                </a:solidFill>
              </a:rPr>
              <a:t>Martin gave up his hobby of sky diving as he was worried that there was a risk of him dying from a sky diving accident.</a:t>
            </a:r>
          </a:p>
          <a:p>
            <a:endParaRPr lang="en-IN" sz="1400" dirty="0">
              <a:solidFill>
                <a:schemeClr val="tx1">
                  <a:lumMod val="50000"/>
                </a:schemeClr>
              </a:solidFill>
            </a:endParaRPr>
          </a:p>
          <a:p>
            <a:r>
              <a:rPr lang="en-IN" sz="1400" b="1" dirty="0">
                <a:solidFill>
                  <a:schemeClr val="accent5"/>
                </a:solidFill>
              </a:rPr>
              <a:t>Answer: Avoid risk </a:t>
            </a:r>
            <a:endParaRPr lang="en-US" sz="1400" b="1" dirty="0">
              <a:solidFill>
                <a:schemeClr val="accent5"/>
              </a:solidFill>
            </a:endParaRPr>
          </a:p>
        </p:txBody>
      </p:sp>
      <p:sp>
        <p:nvSpPr>
          <p:cNvPr id="12" name="TextBox 11">
            <a:extLst>
              <a:ext uri="{FF2B5EF4-FFF2-40B4-BE49-F238E27FC236}">
                <a16:creationId xmlns:a16="http://schemas.microsoft.com/office/drawing/2014/main" id="{16543EC5-DC59-32B4-0B04-F4748E25C46A}"/>
              </a:ext>
            </a:extLst>
          </p:cNvPr>
          <p:cNvSpPr txBox="1"/>
          <p:nvPr/>
        </p:nvSpPr>
        <p:spPr>
          <a:xfrm>
            <a:off x="7634068" y="5317561"/>
            <a:ext cx="4181622" cy="1231106"/>
          </a:xfrm>
          <a:prstGeom prst="rect">
            <a:avLst/>
          </a:prstGeom>
          <a:noFill/>
        </p:spPr>
        <p:txBody>
          <a:bodyPr wrap="square">
            <a:spAutoFit/>
          </a:bodyPr>
          <a:lstStyle/>
          <a:p>
            <a:r>
              <a:rPr lang="en-IN" b="1" dirty="0">
                <a:solidFill>
                  <a:schemeClr val="tx1">
                    <a:lumMod val="50000"/>
                  </a:schemeClr>
                </a:solidFill>
              </a:rPr>
              <a:t>03 </a:t>
            </a:r>
            <a:r>
              <a:rPr lang="en-IN" sz="1400" dirty="0">
                <a:solidFill>
                  <a:schemeClr val="tx1">
                    <a:lumMod val="50000"/>
                  </a:schemeClr>
                </a:solidFill>
              </a:rPr>
              <a:t>John installed a fire suppression system in his house to prevent </a:t>
            </a:r>
            <a:r>
              <a:rPr lang="en-US" sz="1400" dirty="0">
                <a:solidFill>
                  <a:schemeClr val="tx1">
                    <a:lumMod val="50000"/>
                  </a:schemeClr>
                </a:solidFill>
              </a:rPr>
              <a:t>the possibility or severity of a fire</a:t>
            </a:r>
            <a:r>
              <a:rPr lang="en-IN" sz="1400" dirty="0">
                <a:solidFill>
                  <a:schemeClr val="tx1">
                    <a:lumMod val="50000"/>
                  </a:schemeClr>
                </a:solidFill>
              </a:rPr>
              <a:t>.</a:t>
            </a:r>
          </a:p>
          <a:p>
            <a:endParaRPr lang="en-IN" sz="1400" dirty="0">
              <a:solidFill>
                <a:schemeClr val="tx1">
                  <a:lumMod val="50000"/>
                </a:schemeClr>
              </a:solidFill>
            </a:endParaRPr>
          </a:p>
          <a:p>
            <a:r>
              <a:rPr lang="en-IN" sz="1400" b="1" dirty="0">
                <a:solidFill>
                  <a:schemeClr val="accent5"/>
                </a:solidFill>
              </a:rPr>
              <a:t>Answer: Reduce risk </a:t>
            </a:r>
            <a:endParaRPr lang="en-US" sz="1400" b="1" dirty="0">
              <a:solidFill>
                <a:schemeClr val="accent5"/>
              </a:solidFill>
            </a:endParaRPr>
          </a:p>
        </p:txBody>
      </p:sp>
    </p:spTree>
    <p:extLst>
      <p:ext uri="{BB962C8B-B14F-4D97-AF65-F5344CB8AC3E}">
        <p14:creationId xmlns:p14="http://schemas.microsoft.com/office/powerpoint/2010/main" val="391084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750"/>
                                        <p:tgtEl>
                                          <p:spTgt spid="7">
                                            <p:txEl>
                                              <p:pRg st="0" end="0"/>
                                            </p:txEl>
                                          </p:spTgt>
                                        </p:tgtEl>
                                      </p:cBhvr>
                                    </p:animEffect>
                                    <p:anim calcmode="lin" valueType="num">
                                      <p:cBhvr>
                                        <p:cTn id="8" dur="75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75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750"/>
                                        <p:tgtEl>
                                          <p:spTgt spid="7">
                                            <p:txEl>
                                              <p:pRg st="2" end="2"/>
                                            </p:txEl>
                                          </p:spTgt>
                                        </p:tgtEl>
                                      </p:cBhvr>
                                    </p:animEffect>
                                    <p:anim calcmode="lin" valueType="num">
                                      <p:cBhvr>
                                        <p:cTn id="15" dur="75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75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fade">
                                      <p:cBhvr>
                                        <p:cTn id="21" dur="750"/>
                                        <p:tgtEl>
                                          <p:spTgt spid="8">
                                            <p:txEl>
                                              <p:pRg st="0" end="0"/>
                                            </p:txEl>
                                          </p:spTgt>
                                        </p:tgtEl>
                                      </p:cBhvr>
                                    </p:animEffect>
                                    <p:anim calcmode="lin" valueType="num">
                                      <p:cBhvr>
                                        <p:cTn id="22"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23" dur="7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750"/>
                                        <p:tgtEl>
                                          <p:spTgt spid="8">
                                            <p:txEl>
                                              <p:pRg st="2" end="2"/>
                                            </p:txEl>
                                          </p:spTgt>
                                        </p:tgtEl>
                                      </p:cBhvr>
                                    </p:animEffect>
                                    <p:anim calcmode="lin" valueType="num">
                                      <p:cBhvr>
                                        <p:cTn id="29" dur="7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0" dur="75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fade">
                                      <p:cBhvr>
                                        <p:cTn id="35" dur="750"/>
                                        <p:tgtEl>
                                          <p:spTgt spid="9">
                                            <p:txEl>
                                              <p:pRg st="0" end="0"/>
                                            </p:txEl>
                                          </p:spTgt>
                                        </p:tgtEl>
                                      </p:cBhvr>
                                    </p:animEffect>
                                    <p:anim calcmode="lin" valueType="num">
                                      <p:cBhvr>
                                        <p:cTn id="36" dur="75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7" dur="75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xEl>
                                              <p:pRg st="2" end="2"/>
                                            </p:txEl>
                                          </p:spTgt>
                                        </p:tgtEl>
                                        <p:attrNameLst>
                                          <p:attrName>style.visibility</p:attrName>
                                        </p:attrNameLst>
                                      </p:cBhvr>
                                      <p:to>
                                        <p:strVal val="visible"/>
                                      </p:to>
                                    </p:set>
                                    <p:animEffect transition="in" filter="fade">
                                      <p:cBhvr>
                                        <p:cTn id="42" dur="750"/>
                                        <p:tgtEl>
                                          <p:spTgt spid="9">
                                            <p:txEl>
                                              <p:pRg st="2" end="2"/>
                                            </p:txEl>
                                          </p:spTgt>
                                        </p:tgtEl>
                                      </p:cBhvr>
                                    </p:animEffect>
                                    <p:anim calcmode="lin" valueType="num">
                                      <p:cBhvr>
                                        <p:cTn id="43" dur="75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44" dur="75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Effect transition="in" filter="fade">
                                      <p:cBhvr>
                                        <p:cTn id="49" dur="750"/>
                                        <p:tgtEl>
                                          <p:spTgt spid="10">
                                            <p:txEl>
                                              <p:pRg st="0" end="0"/>
                                            </p:txEl>
                                          </p:spTgt>
                                        </p:tgtEl>
                                      </p:cBhvr>
                                    </p:animEffect>
                                    <p:anim calcmode="lin" valueType="num">
                                      <p:cBhvr>
                                        <p:cTn id="50" dur="75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51" dur="75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0">
                                            <p:txEl>
                                              <p:pRg st="2" end="2"/>
                                            </p:txEl>
                                          </p:spTgt>
                                        </p:tgtEl>
                                        <p:attrNameLst>
                                          <p:attrName>style.visibility</p:attrName>
                                        </p:attrNameLst>
                                      </p:cBhvr>
                                      <p:to>
                                        <p:strVal val="visible"/>
                                      </p:to>
                                    </p:set>
                                    <p:animEffect transition="in" filter="fade">
                                      <p:cBhvr>
                                        <p:cTn id="56" dur="750"/>
                                        <p:tgtEl>
                                          <p:spTgt spid="10">
                                            <p:txEl>
                                              <p:pRg st="2" end="2"/>
                                            </p:txEl>
                                          </p:spTgt>
                                        </p:tgtEl>
                                      </p:cBhvr>
                                    </p:animEffect>
                                    <p:anim calcmode="lin" valueType="num">
                                      <p:cBhvr>
                                        <p:cTn id="57" dur="75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58" dur="75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1">
                                            <p:txEl>
                                              <p:pRg st="0" end="0"/>
                                            </p:txEl>
                                          </p:spTgt>
                                        </p:tgtEl>
                                        <p:attrNameLst>
                                          <p:attrName>style.visibility</p:attrName>
                                        </p:attrNameLst>
                                      </p:cBhvr>
                                      <p:to>
                                        <p:strVal val="visible"/>
                                      </p:to>
                                    </p:set>
                                    <p:animEffect transition="in" filter="fade">
                                      <p:cBhvr>
                                        <p:cTn id="63" dur="750"/>
                                        <p:tgtEl>
                                          <p:spTgt spid="11">
                                            <p:txEl>
                                              <p:pRg st="0" end="0"/>
                                            </p:txEl>
                                          </p:spTgt>
                                        </p:tgtEl>
                                      </p:cBhvr>
                                    </p:animEffect>
                                    <p:anim calcmode="lin" valueType="num">
                                      <p:cBhvr>
                                        <p:cTn id="64" dur="75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65" dur="75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1">
                                            <p:txEl>
                                              <p:pRg st="2" end="2"/>
                                            </p:txEl>
                                          </p:spTgt>
                                        </p:tgtEl>
                                        <p:attrNameLst>
                                          <p:attrName>style.visibility</p:attrName>
                                        </p:attrNameLst>
                                      </p:cBhvr>
                                      <p:to>
                                        <p:strVal val="visible"/>
                                      </p:to>
                                    </p:set>
                                    <p:animEffect transition="in" filter="fade">
                                      <p:cBhvr>
                                        <p:cTn id="70" dur="750"/>
                                        <p:tgtEl>
                                          <p:spTgt spid="11">
                                            <p:txEl>
                                              <p:pRg st="2" end="2"/>
                                            </p:txEl>
                                          </p:spTgt>
                                        </p:tgtEl>
                                      </p:cBhvr>
                                    </p:animEffect>
                                    <p:anim calcmode="lin" valueType="num">
                                      <p:cBhvr>
                                        <p:cTn id="71" dur="75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72" dur="75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2">
                                            <p:txEl>
                                              <p:pRg st="0" end="0"/>
                                            </p:txEl>
                                          </p:spTgt>
                                        </p:tgtEl>
                                        <p:attrNameLst>
                                          <p:attrName>style.visibility</p:attrName>
                                        </p:attrNameLst>
                                      </p:cBhvr>
                                      <p:to>
                                        <p:strVal val="visible"/>
                                      </p:to>
                                    </p:set>
                                    <p:animEffect transition="in" filter="fade">
                                      <p:cBhvr>
                                        <p:cTn id="77" dur="750"/>
                                        <p:tgtEl>
                                          <p:spTgt spid="12">
                                            <p:txEl>
                                              <p:pRg st="0" end="0"/>
                                            </p:txEl>
                                          </p:spTgt>
                                        </p:tgtEl>
                                      </p:cBhvr>
                                    </p:animEffect>
                                    <p:anim calcmode="lin" valueType="num">
                                      <p:cBhvr>
                                        <p:cTn id="78" dur="75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79" dur="75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2">
                                            <p:txEl>
                                              <p:pRg st="2" end="2"/>
                                            </p:txEl>
                                          </p:spTgt>
                                        </p:tgtEl>
                                        <p:attrNameLst>
                                          <p:attrName>style.visibility</p:attrName>
                                        </p:attrNameLst>
                                      </p:cBhvr>
                                      <p:to>
                                        <p:strVal val="visible"/>
                                      </p:to>
                                    </p:set>
                                    <p:animEffect transition="in" filter="fade">
                                      <p:cBhvr>
                                        <p:cTn id="84" dur="750"/>
                                        <p:tgtEl>
                                          <p:spTgt spid="12">
                                            <p:txEl>
                                              <p:pRg st="2" end="2"/>
                                            </p:txEl>
                                          </p:spTgt>
                                        </p:tgtEl>
                                      </p:cBhvr>
                                    </p:animEffect>
                                    <p:anim calcmode="lin" valueType="num">
                                      <p:cBhvr>
                                        <p:cTn id="85" dur="75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86" dur="75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Recap: What is insurance?</a:t>
            </a:r>
          </a:p>
        </p:txBody>
      </p:sp>
      <p:grpSp>
        <p:nvGrpSpPr>
          <p:cNvPr id="3" name="Group 2">
            <a:extLst>
              <a:ext uri="{FF2B5EF4-FFF2-40B4-BE49-F238E27FC236}">
                <a16:creationId xmlns:a16="http://schemas.microsoft.com/office/drawing/2014/main" id="{84293C83-FC19-500F-5A51-29C9D2BE94C0}"/>
              </a:ext>
            </a:extLst>
          </p:cNvPr>
          <p:cNvGrpSpPr/>
          <p:nvPr/>
        </p:nvGrpSpPr>
        <p:grpSpPr>
          <a:xfrm>
            <a:off x="796691" y="2101800"/>
            <a:ext cx="2294415" cy="3048754"/>
            <a:chOff x="927652" y="1828800"/>
            <a:chExt cx="2676939" cy="3519693"/>
          </a:xfrm>
        </p:grpSpPr>
        <p:sp>
          <p:nvSpPr>
            <p:cNvPr id="6" name="Rectangle 5" descr="Dollar">
              <a:extLst>
                <a:ext uri="{FF2B5EF4-FFF2-40B4-BE49-F238E27FC236}">
                  <a16:creationId xmlns:a16="http://schemas.microsoft.com/office/drawing/2014/main" id="{3FEA3156-0A21-27D8-EC43-43E76D057A5D}"/>
                </a:ext>
              </a:extLst>
            </p:cNvPr>
            <p:cNvSpPr/>
            <p:nvPr/>
          </p:nvSpPr>
          <p:spPr>
            <a:xfrm>
              <a:off x="1121539" y="3829297"/>
              <a:ext cx="2301774" cy="1220388"/>
            </a:xfrm>
            <a:prstGeom prst="rect">
              <a:avLst/>
            </a:prstGeom>
            <a: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algn="ctr"/>
              <a:r>
                <a:rPr lang="en-US" sz="1400">
                  <a:solidFill>
                    <a:schemeClr val="tx1">
                      <a:lumMod val="50000"/>
                    </a:schemeClr>
                  </a:solidFill>
                </a:rPr>
                <a:t>Insurance is a protection against financial loss arising from an unexpected event.</a:t>
              </a:r>
            </a:p>
            <a:p>
              <a:endParaRPr lang="en-US">
                <a:solidFill>
                  <a:schemeClr val="tx1">
                    <a:lumMod val="50000"/>
                  </a:schemeClr>
                </a:solidFill>
              </a:endParaRPr>
            </a:p>
          </p:txBody>
        </p:sp>
        <p:sp>
          <p:nvSpPr>
            <p:cNvPr id="13" name="Rectangle: Rounded Corners 12">
              <a:extLst>
                <a:ext uri="{FF2B5EF4-FFF2-40B4-BE49-F238E27FC236}">
                  <a16:creationId xmlns:a16="http://schemas.microsoft.com/office/drawing/2014/main" id="{3663A3E5-E206-D0F1-55A3-5BD292719304}"/>
                </a:ext>
              </a:extLst>
            </p:cNvPr>
            <p:cNvSpPr/>
            <p:nvPr/>
          </p:nvSpPr>
          <p:spPr>
            <a:xfrm>
              <a:off x="927652" y="1828800"/>
              <a:ext cx="2676939" cy="3519693"/>
            </a:xfrm>
            <a:prstGeom prst="round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4" name="Picture 2" descr="Insurance, protection from financial loss. risk management. health, life, property, income insurance.">
              <a:extLst>
                <a:ext uri="{FF2B5EF4-FFF2-40B4-BE49-F238E27FC236}">
                  <a16:creationId xmlns:a16="http://schemas.microsoft.com/office/drawing/2014/main" id="{A301FC55-E3CD-1D5F-A68E-4673354EAB22}"/>
                </a:ext>
              </a:extLst>
            </p:cNvPr>
            <p:cNvPicPr>
              <a:picLocks noChangeAspect="1" noChangeArrowheads="1"/>
            </p:cNvPicPr>
            <p:nvPr/>
          </p:nvPicPr>
          <p:blipFill rotWithShape="1">
            <a:blip r:embed="rId4" cstate="screen">
              <a:extLst>
                <a:ext uri="{28A0092B-C50C-407E-A947-70E740481C1C}">
                  <a14:useLocalDpi xmlns:a14="http://schemas.microsoft.com/office/drawing/2010/main" val="0"/>
                </a:ext>
              </a:extLst>
            </a:blip>
            <a:srcRect l="11321" t="10495" r="11550" b="10561"/>
            <a:stretch/>
          </p:blipFill>
          <p:spPr bwMode="auto">
            <a:xfrm>
              <a:off x="1421040" y="1943503"/>
              <a:ext cx="1730333" cy="1771091"/>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1A6B3EF5-5397-EC68-1A84-0AA0A269FFB6}"/>
              </a:ext>
            </a:extLst>
          </p:cNvPr>
          <p:cNvGrpSpPr/>
          <p:nvPr/>
        </p:nvGrpSpPr>
        <p:grpSpPr>
          <a:xfrm>
            <a:off x="3542243" y="2135713"/>
            <a:ext cx="2294415" cy="3048754"/>
            <a:chOff x="3595894" y="2135940"/>
            <a:chExt cx="2294415" cy="3048754"/>
          </a:xfrm>
        </p:grpSpPr>
        <p:sp>
          <p:nvSpPr>
            <p:cNvPr id="16" name="Rectangle: Rounded Corners 15">
              <a:extLst>
                <a:ext uri="{FF2B5EF4-FFF2-40B4-BE49-F238E27FC236}">
                  <a16:creationId xmlns:a16="http://schemas.microsoft.com/office/drawing/2014/main" id="{A23C219C-1315-F826-0A77-5BDC15C045E1}"/>
                </a:ext>
              </a:extLst>
            </p:cNvPr>
            <p:cNvSpPr/>
            <p:nvPr/>
          </p:nvSpPr>
          <p:spPr>
            <a:xfrm>
              <a:off x="3595894" y="2135940"/>
              <a:ext cx="2294415" cy="3048754"/>
            </a:xfrm>
            <a:prstGeom prst="round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 name="Rectangle 16" descr="Dollar">
              <a:extLst>
                <a:ext uri="{FF2B5EF4-FFF2-40B4-BE49-F238E27FC236}">
                  <a16:creationId xmlns:a16="http://schemas.microsoft.com/office/drawing/2014/main" id="{0420F404-5DBB-A56A-85B0-058D2791684A}"/>
                </a:ext>
              </a:extLst>
            </p:cNvPr>
            <p:cNvSpPr/>
            <p:nvPr/>
          </p:nvSpPr>
          <p:spPr>
            <a:xfrm>
              <a:off x="3756671" y="3834628"/>
              <a:ext cx="1972860" cy="1275512"/>
            </a:xfrm>
            <a:prstGeom prst="rect">
              <a:avLst/>
            </a:prstGeom>
            <a: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lvl="0" algn="ctr"/>
              <a:r>
                <a:rPr lang="en-US" sz="1400">
                  <a:solidFill>
                    <a:schemeClr val="tx1">
                      <a:lumMod val="50000"/>
                    </a:schemeClr>
                  </a:solidFill>
                </a:rPr>
                <a:t>Insurance companies/Insurers collect premiums to provide for this  protection.</a:t>
              </a:r>
            </a:p>
          </p:txBody>
        </p:sp>
        <p:pic>
          <p:nvPicPr>
            <p:cNvPr id="18" name="Picture 4" descr="Passive earning. personal bank account. forex exchange. crowdfunding, fund raising, investment transfer. receiving income online. payback with internet. vector isolated concept metaphor illustration.">
              <a:extLst>
                <a:ext uri="{FF2B5EF4-FFF2-40B4-BE49-F238E27FC236}">
                  <a16:creationId xmlns:a16="http://schemas.microsoft.com/office/drawing/2014/main" id="{908DC4D9-EF7F-40E7-3304-0AF96CB4138F}"/>
                </a:ext>
              </a:extLst>
            </p:cNvPr>
            <p:cNvPicPr>
              <a:picLocks noChangeAspect="1" noChangeArrowheads="1"/>
            </p:cNvPicPr>
            <p:nvPr/>
          </p:nvPicPr>
          <p:blipFill rotWithShape="1">
            <a:blip r:embed="rId5" cstate="screen">
              <a:extLst>
                <a:ext uri="{28A0092B-C50C-407E-A947-70E740481C1C}">
                  <a14:useLocalDpi xmlns:a14="http://schemas.microsoft.com/office/drawing/2010/main" val="0"/>
                </a:ext>
              </a:extLst>
            </a:blip>
            <a:srcRect l="10767" t="9383" r="8074" b="8161"/>
            <a:stretch/>
          </p:blipFill>
          <p:spPr bwMode="auto">
            <a:xfrm>
              <a:off x="4012827" y="2175885"/>
              <a:ext cx="1559276" cy="158418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3A3A3E01-3A99-2238-9417-3ADEE76D0CCA}"/>
              </a:ext>
            </a:extLst>
          </p:cNvPr>
          <p:cNvGrpSpPr/>
          <p:nvPr/>
        </p:nvGrpSpPr>
        <p:grpSpPr>
          <a:xfrm>
            <a:off x="6355342" y="2129599"/>
            <a:ext cx="2294415" cy="3048754"/>
            <a:chOff x="6348394" y="2145453"/>
            <a:chExt cx="2294415" cy="3048754"/>
          </a:xfrm>
        </p:grpSpPr>
        <p:sp>
          <p:nvSpPr>
            <p:cNvPr id="20" name="Rectangle: Rounded Corners 19">
              <a:extLst>
                <a:ext uri="{FF2B5EF4-FFF2-40B4-BE49-F238E27FC236}">
                  <a16:creationId xmlns:a16="http://schemas.microsoft.com/office/drawing/2014/main" id="{BB34A473-9BA7-E535-04A2-4AE2FDCC1083}"/>
                </a:ext>
              </a:extLst>
            </p:cNvPr>
            <p:cNvSpPr/>
            <p:nvPr/>
          </p:nvSpPr>
          <p:spPr>
            <a:xfrm>
              <a:off x="6348394" y="2145453"/>
              <a:ext cx="2294415" cy="3048754"/>
            </a:xfrm>
            <a:prstGeom prst="round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descr="Dollar">
              <a:extLst>
                <a:ext uri="{FF2B5EF4-FFF2-40B4-BE49-F238E27FC236}">
                  <a16:creationId xmlns:a16="http://schemas.microsoft.com/office/drawing/2014/main" id="{403D85D0-B2E0-31CB-2744-5314E9081C2C}"/>
                </a:ext>
              </a:extLst>
            </p:cNvPr>
            <p:cNvSpPr/>
            <p:nvPr/>
          </p:nvSpPr>
          <p:spPr>
            <a:xfrm>
              <a:off x="6509171" y="3834628"/>
              <a:ext cx="1972860" cy="1275512"/>
            </a:xfrm>
            <a:prstGeom prst="rect">
              <a:avLst/>
            </a:prstGeom>
            <a: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lvl="0" algn="ctr"/>
              <a:r>
                <a:rPr lang="en-US" sz="1400">
                  <a:solidFill>
                    <a:schemeClr val="tx1">
                      <a:lumMod val="50000"/>
                    </a:schemeClr>
                  </a:solidFill>
                </a:rPr>
                <a:t>Claim is paid out to the insured for a covered loss from the premiums collected. </a:t>
              </a:r>
            </a:p>
          </p:txBody>
        </p:sp>
        <p:pic>
          <p:nvPicPr>
            <p:cNvPr id="22" name="Picture 6" descr="Businessman stamping notary approving a documents">
              <a:extLst>
                <a:ext uri="{FF2B5EF4-FFF2-40B4-BE49-F238E27FC236}">
                  <a16:creationId xmlns:a16="http://schemas.microsoft.com/office/drawing/2014/main" id="{8DD9C598-42CD-6098-C6D2-E728E960B5B5}"/>
                </a:ext>
              </a:extLst>
            </p:cNvPr>
            <p:cNvPicPr>
              <a:picLocks noChangeAspect="1" noChangeArrowheads="1"/>
            </p:cNvPicPr>
            <p:nvPr/>
          </p:nvPicPr>
          <p:blipFill rotWithShape="1">
            <a:blip r:embed="rId6" cstate="screen">
              <a:extLst>
                <a:ext uri="{28A0092B-C50C-407E-A947-70E740481C1C}">
                  <a14:useLocalDpi xmlns:a14="http://schemas.microsoft.com/office/drawing/2010/main" val="0"/>
                </a:ext>
              </a:extLst>
            </a:blip>
            <a:srcRect l="4874" t="6272" r="2211" b="6828"/>
            <a:stretch/>
          </p:blipFill>
          <p:spPr bwMode="auto">
            <a:xfrm>
              <a:off x="6718119" y="2231213"/>
              <a:ext cx="1590994" cy="1488014"/>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23" name="Group 22">
            <a:extLst>
              <a:ext uri="{FF2B5EF4-FFF2-40B4-BE49-F238E27FC236}">
                <a16:creationId xmlns:a16="http://schemas.microsoft.com/office/drawing/2014/main" id="{8F6E8FE6-7BA1-B3FA-6989-DCC6B92B28AD}"/>
              </a:ext>
            </a:extLst>
          </p:cNvPr>
          <p:cNvGrpSpPr/>
          <p:nvPr/>
        </p:nvGrpSpPr>
        <p:grpSpPr>
          <a:xfrm>
            <a:off x="9100894" y="2135713"/>
            <a:ext cx="2294415" cy="3048754"/>
            <a:chOff x="9100894" y="2135713"/>
            <a:chExt cx="2294415" cy="3048754"/>
          </a:xfrm>
        </p:grpSpPr>
        <p:sp>
          <p:nvSpPr>
            <p:cNvPr id="24" name="Rectangle: Rounded Corners 23">
              <a:extLst>
                <a:ext uri="{FF2B5EF4-FFF2-40B4-BE49-F238E27FC236}">
                  <a16:creationId xmlns:a16="http://schemas.microsoft.com/office/drawing/2014/main" id="{E5451FD8-A36E-8672-F245-D60C2F1A5FEA}"/>
                </a:ext>
              </a:extLst>
            </p:cNvPr>
            <p:cNvSpPr/>
            <p:nvPr/>
          </p:nvSpPr>
          <p:spPr>
            <a:xfrm>
              <a:off x="9100894" y="2135713"/>
              <a:ext cx="2294415" cy="3048754"/>
            </a:xfrm>
            <a:prstGeom prst="roundRect">
              <a:avLst/>
            </a:prstGeom>
            <a:noFill/>
            <a:ln w="28575">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Rectangle 24" descr="Dollar">
              <a:extLst>
                <a:ext uri="{FF2B5EF4-FFF2-40B4-BE49-F238E27FC236}">
                  <a16:creationId xmlns:a16="http://schemas.microsoft.com/office/drawing/2014/main" id="{31DA7703-C744-A31F-E8A2-D2059E1E0A02}"/>
                </a:ext>
              </a:extLst>
            </p:cNvPr>
            <p:cNvSpPr/>
            <p:nvPr/>
          </p:nvSpPr>
          <p:spPr>
            <a:xfrm>
              <a:off x="9269783" y="3834628"/>
              <a:ext cx="1972860" cy="1275512"/>
            </a:xfrm>
            <a:prstGeom prst="rect">
              <a:avLst/>
            </a:prstGeom>
            <a: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lvl="0" algn="ctr"/>
              <a:r>
                <a:rPr lang="en-US" sz="1400">
                  <a:solidFill>
                    <a:schemeClr val="tx1">
                      <a:lumMod val="50000"/>
                    </a:schemeClr>
                  </a:solidFill>
                </a:rPr>
                <a:t>This helps in spreading the risk of a financial loss among a large number of people.</a:t>
              </a:r>
            </a:p>
          </p:txBody>
        </p:sp>
        <p:pic>
          <p:nvPicPr>
            <p:cNvPr id="26" name="Picture 8" descr="Fun people forming a circle">
              <a:extLst>
                <a:ext uri="{FF2B5EF4-FFF2-40B4-BE49-F238E27FC236}">
                  <a16:creationId xmlns:a16="http://schemas.microsoft.com/office/drawing/2014/main" id="{FF9381CD-C075-5125-61FE-2F7990D8B467}"/>
                </a:ext>
              </a:extLst>
            </p:cNvPr>
            <p:cNvPicPr>
              <a:picLocks noChangeAspect="1" noChangeArrowheads="1"/>
            </p:cNvPicPr>
            <p:nvPr/>
          </p:nvPicPr>
          <p:blipFill rotWithShape="1">
            <a:blip r:embed="rId7" cstate="screen">
              <a:extLst>
                <a:ext uri="{28A0092B-C50C-407E-A947-70E740481C1C}">
                  <a14:useLocalDpi xmlns:a14="http://schemas.microsoft.com/office/drawing/2010/main" val="0"/>
                </a:ext>
              </a:extLst>
            </a:blip>
            <a:srcRect l="14111" t="16273" r="11845" b="12606"/>
            <a:stretch/>
          </p:blipFill>
          <p:spPr bwMode="auto">
            <a:xfrm>
              <a:off x="9541042" y="2243049"/>
              <a:ext cx="1545228" cy="148424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1632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750" fill="hold"/>
                                        <p:tgtEl>
                                          <p:spTgt spid="3"/>
                                        </p:tgtEl>
                                        <p:attrNameLst>
                                          <p:attrName>ppt_w</p:attrName>
                                        </p:attrNameLst>
                                      </p:cBhvr>
                                      <p:tavLst>
                                        <p:tav tm="0">
                                          <p:val>
                                            <p:fltVal val="0"/>
                                          </p:val>
                                        </p:tav>
                                        <p:tav tm="100000">
                                          <p:val>
                                            <p:strVal val="#ppt_w"/>
                                          </p:val>
                                        </p:tav>
                                      </p:tavLst>
                                    </p:anim>
                                    <p:anim calcmode="lin" valueType="num">
                                      <p:cBhvr>
                                        <p:cTn id="8" dur="750" fill="hold"/>
                                        <p:tgtEl>
                                          <p:spTgt spid="3"/>
                                        </p:tgtEl>
                                        <p:attrNameLst>
                                          <p:attrName>ppt_h</p:attrName>
                                        </p:attrNameLst>
                                      </p:cBhvr>
                                      <p:tavLst>
                                        <p:tav tm="0">
                                          <p:val>
                                            <p:fltVal val="0"/>
                                          </p:val>
                                        </p:tav>
                                        <p:tav tm="100000">
                                          <p:val>
                                            <p:strVal val="#ppt_h"/>
                                          </p:val>
                                        </p:tav>
                                      </p:tavLst>
                                    </p:anim>
                                    <p:animEffect transition="in" filter="fade">
                                      <p:cBhvr>
                                        <p:cTn id="9" dur="75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750" fill="hold"/>
                                        <p:tgtEl>
                                          <p:spTgt spid="15"/>
                                        </p:tgtEl>
                                        <p:attrNameLst>
                                          <p:attrName>ppt_w</p:attrName>
                                        </p:attrNameLst>
                                      </p:cBhvr>
                                      <p:tavLst>
                                        <p:tav tm="0">
                                          <p:val>
                                            <p:fltVal val="0"/>
                                          </p:val>
                                        </p:tav>
                                        <p:tav tm="100000">
                                          <p:val>
                                            <p:strVal val="#ppt_w"/>
                                          </p:val>
                                        </p:tav>
                                      </p:tavLst>
                                    </p:anim>
                                    <p:anim calcmode="lin" valueType="num">
                                      <p:cBhvr>
                                        <p:cTn id="15" dur="750" fill="hold"/>
                                        <p:tgtEl>
                                          <p:spTgt spid="15"/>
                                        </p:tgtEl>
                                        <p:attrNameLst>
                                          <p:attrName>ppt_h</p:attrName>
                                        </p:attrNameLst>
                                      </p:cBhvr>
                                      <p:tavLst>
                                        <p:tav tm="0">
                                          <p:val>
                                            <p:fltVal val="0"/>
                                          </p:val>
                                        </p:tav>
                                        <p:tav tm="100000">
                                          <p:val>
                                            <p:strVal val="#ppt_h"/>
                                          </p:val>
                                        </p:tav>
                                      </p:tavLst>
                                    </p:anim>
                                    <p:animEffect transition="in" filter="fade">
                                      <p:cBhvr>
                                        <p:cTn id="16" dur="7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p:cTn id="21" dur="750" fill="hold"/>
                                        <p:tgtEl>
                                          <p:spTgt spid="19"/>
                                        </p:tgtEl>
                                        <p:attrNameLst>
                                          <p:attrName>ppt_w</p:attrName>
                                        </p:attrNameLst>
                                      </p:cBhvr>
                                      <p:tavLst>
                                        <p:tav tm="0">
                                          <p:val>
                                            <p:fltVal val="0"/>
                                          </p:val>
                                        </p:tav>
                                        <p:tav tm="100000">
                                          <p:val>
                                            <p:strVal val="#ppt_w"/>
                                          </p:val>
                                        </p:tav>
                                      </p:tavLst>
                                    </p:anim>
                                    <p:anim calcmode="lin" valueType="num">
                                      <p:cBhvr>
                                        <p:cTn id="22" dur="750" fill="hold"/>
                                        <p:tgtEl>
                                          <p:spTgt spid="19"/>
                                        </p:tgtEl>
                                        <p:attrNameLst>
                                          <p:attrName>ppt_h</p:attrName>
                                        </p:attrNameLst>
                                      </p:cBhvr>
                                      <p:tavLst>
                                        <p:tav tm="0">
                                          <p:val>
                                            <p:fltVal val="0"/>
                                          </p:val>
                                        </p:tav>
                                        <p:tav tm="100000">
                                          <p:val>
                                            <p:strVal val="#ppt_h"/>
                                          </p:val>
                                        </p:tav>
                                      </p:tavLst>
                                    </p:anim>
                                    <p:animEffect transition="in" filter="fade">
                                      <p:cBhvr>
                                        <p:cTn id="23" dur="75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p:cTn id="28" dur="750" fill="hold"/>
                                        <p:tgtEl>
                                          <p:spTgt spid="23"/>
                                        </p:tgtEl>
                                        <p:attrNameLst>
                                          <p:attrName>ppt_w</p:attrName>
                                        </p:attrNameLst>
                                      </p:cBhvr>
                                      <p:tavLst>
                                        <p:tav tm="0">
                                          <p:val>
                                            <p:fltVal val="0"/>
                                          </p:val>
                                        </p:tav>
                                        <p:tav tm="100000">
                                          <p:val>
                                            <p:strVal val="#ppt_w"/>
                                          </p:val>
                                        </p:tav>
                                      </p:tavLst>
                                    </p:anim>
                                    <p:anim calcmode="lin" valueType="num">
                                      <p:cBhvr>
                                        <p:cTn id="29" dur="750" fill="hold"/>
                                        <p:tgtEl>
                                          <p:spTgt spid="23"/>
                                        </p:tgtEl>
                                        <p:attrNameLst>
                                          <p:attrName>ppt_h</p:attrName>
                                        </p:attrNameLst>
                                      </p:cBhvr>
                                      <p:tavLst>
                                        <p:tav tm="0">
                                          <p:val>
                                            <p:fltVal val="0"/>
                                          </p:val>
                                        </p:tav>
                                        <p:tav tm="100000">
                                          <p:val>
                                            <p:strVal val="#ppt_h"/>
                                          </p:val>
                                        </p:tav>
                                      </p:tavLst>
                                    </p:anim>
                                    <p:animEffect transition="in" filter="fade">
                                      <p:cBhvr>
                                        <p:cTn id="30"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What is an insurance contract?</a:t>
            </a:r>
          </a:p>
        </p:txBody>
      </p:sp>
      <p:sp>
        <p:nvSpPr>
          <p:cNvPr id="4" name="Text Placeholder 51">
            <a:extLst>
              <a:ext uri="{FF2B5EF4-FFF2-40B4-BE49-F238E27FC236}">
                <a16:creationId xmlns:a16="http://schemas.microsoft.com/office/drawing/2014/main" id="{C85725E8-454B-17AF-F7D4-5B0E702347DF}"/>
              </a:ext>
            </a:extLst>
          </p:cNvPr>
          <p:cNvSpPr txBox="1">
            <a:spLocks/>
          </p:cNvSpPr>
          <p:nvPr/>
        </p:nvSpPr>
        <p:spPr>
          <a:xfrm>
            <a:off x="505289" y="1579383"/>
            <a:ext cx="3176504" cy="1079034"/>
          </a:xfrm>
          <a:prstGeom prst="roundRect">
            <a:avLst>
              <a:gd name="adj" fmla="val 10405"/>
            </a:avLst>
          </a:prstGeom>
          <a:solidFill>
            <a:schemeClr val="accent1"/>
          </a:solidFill>
        </p:spPr>
        <p:txBody>
          <a:bodyPr lIns="72000" tIns="36000" rIns="72000" bIns="36000" anchor="ctr">
            <a:noAutofit/>
          </a:bodyPr>
          <a:lstStyle>
            <a:lvl1pPr marL="0" indent="0" algn="l" defTabSz="457200" rtl="0" eaLnBrk="1" latinLnBrk="0" hangingPunct="1">
              <a:lnSpc>
                <a:spcPct val="120000"/>
              </a:lnSpc>
              <a:spcBef>
                <a:spcPts val="0"/>
              </a:spcBef>
              <a:buFont typeface="Verdana" panose="020B0604030504040204" pitchFamily="34" charset="0"/>
              <a:buNone/>
              <a:defRPr sz="105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100" kern="1200">
                <a:solidFill>
                  <a:schemeClr val="accent3">
                    <a:lumMod val="50000"/>
                  </a:schemeClr>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050" kern="1200">
                <a:solidFill>
                  <a:schemeClr val="accent3">
                    <a:lumMod val="50000"/>
                  </a:schemeClr>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ctr"/>
            <a:r>
              <a:rPr lang="en-US" sz="1400" b="0" dirty="0"/>
              <a:t>An insurance policy is a legally binding contract between two parties (Insurance company and the insured)</a:t>
            </a:r>
          </a:p>
        </p:txBody>
      </p:sp>
      <p:sp>
        <p:nvSpPr>
          <p:cNvPr id="5" name="Text Placeholder 51">
            <a:extLst>
              <a:ext uri="{FF2B5EF4-FFF2-40B4-BE49-F238E27FC236}">
                <a16:creationId xmlns:a16="http://schemas.microsoft.com/office/drawing/2014/main" id="{DAA2B445-C484-A576-C7B3-B56438614046}"/>
              </a:ext>
            </a:extLst>
          </p:cNvPr>
          <p:cNvSpPr txBox="1">
            <a:spLocks/>
          </p:cNvSpPr>
          <p:nvPr/>
        </p:nvSpPr>
        <p:spPr>
          <a:xfrm>
            <a:off x="8510205" y="2933598"/>
            <a:ext cx="3176504" cy="1079034"/>
          </a:xfrm>
          <a:prstGeom prst="roundRect">
            <a:avLst>
              <a:gd name="adj" fmla="val 10405"/>
            </a:avLst>
          </a:prstGeom>
          <a:solidFill>
            <a:schemeClr val="accent5"/>
          </a:solidFill>
        </p:spPr>
        <p:txBody>
          <a:bodyPr lIns="72000" tIns="36000" rIns="72000" bIns="36000" anchor="ctr">
            <a:noAutofit/>
          </a:bodyPr>
          <a:lstStyle>
            <a:lvl1pPr marL="0" indent="0" algn="l" defTabSz="457200" rtl="0" eaLnBrk="1" latinLnBrk="0" hangingPunct="1">
              <a:lnSpc>
                <a:spcPct val="120000"/>
              </a:lnSpc>
              <a:spcBef>
                <a:spcPts val="0"/>
              </a:spcBef>
              <a:buFont typeface="Verdana" panose="020B0604030504040204" pitchFamily="34" charset="0"/>
              <a:buNone/>
              <a:defRPr sz="105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100" kern="1200">
                <a:solidFill>
                  <a:schemeClr val="accent3">
                    <a:lumMod val="50000"/>
                  </a:schemeClr>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050" kern="1200">
                <a:solidFill>
                  <a:schemeClr val="accent3">
                    <a:lumMod val="50000"/>
                  </a:schemeClr>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ctr"/>
            <a:r>
              <a:rPr lang="en-US" sz="1400" b="0">
                <a:solidFill>
                  <a:schemeClr val="bg1"/>
                </a:solidFill>
              </a:rPr>
              <a:t>An insurance policy describes the rights and obligations of both parties</a:t>
            </a:r>
          </a:p>
        </p:txBody>
      </p:sp>
      <p:sp>
        <p:nvSpPr>
          <p:cNvPr id="7" name="Text Placeholder 51">
            <a:extLst>
              <a:ext uri="{FF2B5EF4-FFF2-40B4-BE49-F238E27FC236}">
                <a16:creationId xmlns:a16="http://schemas.microsoft.com/office/drawing/2014/main" id="{E46EFA57-5D34-BF77-FEE2-DE956C05422A}"/>
              </a:ext>
            </a:extLst>
          </p:cNvPr>
          <p:cNvSpPr txBox="1">
            <a:spLocks/>
          </p:cNvSpPr>
          <p:nvPr/>
        </p:nvSpPr>
        <p:spPr>
          <a:xfrm>
            <a:off x="967930" y="5281198"/>
            <a:ext cx="3176504" cy="1079034"/>
          </a:xfrm>
          <a:prstGeom prst="roundRect">
            <a:avLst>
              <a:gd name="adj" fmla="val 10405"/>
            </a:avLst>
          </a:prstGeom>
          <a:solidFill>
            <a:schemeClr val="accent3">
              <a:lumMod val="50000"/>
            </a:schemeClr>
          </a:solidFill>
        </p:spPr>
        <p:txBody>
          <a:bodyPr lIns="72000" tIns="36000" rIns="72000" bIns="36000" anchor="ctr">
            <a:noAutofit/>
          </a:bodyPr>
          <a:lstStyle>
            <a:lvl1pPr marL="0" indent="0" algn="l" defTabSz="457200" rtl="0" eaLnBrk="1" latinLnBrk="0" hangingPunct="1">
              <a:lnSpc>
                <a:spcPct val="120000"/>
              </a:lnSpc>
              <a:spcBef>
                <a:spcPts val="0"/>
              </a:spcBef>
              <a:buFont typeface="Verdana" panose="020B0604030504040204" pitchFamily="34" charset="0"/>
              <a:buNone/>
              <a:defRPr sz="1050" b="1" kern="1200">
                <a:solidFill>
                  <a:schemeClr val="bg1"/>
                </a:solidFill>
                <a:latin typeface="+mn-lt"/>
                <a:ea typeface="+mn-ea"/>
                <a:cs typeface="+mn-cs"/>
              </a:defRPr>
            </a:lvl1pPr>
            <a:lvl2pPr marL="252000" indent="0" algn="l" defTabSz="457200" rtl="0" eaLnBrk="1" latinLnBrk="0" hangingPunct="1">
              <a:lnSpc>
                <a:spcPct val="120000"/>
              </a:lnSpc>
              <a:spcBef>
                <a:spcPts val="0"/>
              </a:spcBef>
              <a:buFont typeface="Verdana" panose="020B0604030504040204" pitchFamily="34" charset="0"/>
              <a:buNone/>
              <a:defRPr sz="1100" kern="1200">
                <a:solidFill>
                  <a:schemeClr val="accent3">
                    <a:lumMod val="50000"/>
                  </a:schemeClr>
                </a:solidFill>
                <a:latin typeface="+mn-lt"/>
                <a:ea typeface="+mn-ea"/>
                <a:cs typeface="+mn-cs"/>
              </a:defRPr>
            </a:lvl2pPr>
            <a:lvl3pPr marL="504000" indent="0" algn="l" defTabSz="457200" rtl="0" eaLnBrk="1" latinLnBrk="0" hangingPunct="1">
              <a:lnSpc>
                <a:spcPct val="120000"/>
              </a:lnSpc>
              <a:spcBef>
                <a:spcPts val="0"/>
              </a:spcBef>
              <a:buFont typeface="Arial" panose="020B0604020202020204" pitchFamily="34" charset="0"/>
              <a:buNone/>
              <a:defRPr sz="1050" kern="1200">
                <a:solidFill>
                  <a:schemeClr val="accent3">
                    <a:lumMod val="50000"/>
                  </a:schemeClr>
                </a:solidFill>
                <a:latin typeface="+mn-lt"/>
                <a:ea typeface="+mn-ea"/>
                <a:cs typeface="+mn-cs"/>
              </a:defRPr>
            </a:lvl3pPr>
            <a:lvl4pPr marL="756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4pPr>
            <a:lvl5pPr marL="1008000" indent="0" algn="l" defTabSz="457200" rtl="0" eaLnBrk="1" latinLnBrk="0" hangingPunct="1">
              <a:lnSpc>
                <a:spcPct val="120000"/>
              </a:lnSpc>
              <a:spcBef>
                <a:spcPts val="0"/>
              </a:spcBef>
              <a:buFont typeface="Verdana" panose="020B0604030504040204" pitchFamily="34" charset="0"/>
              <a:buNone/>
              <a:defRPr sz="10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1400" b="0">
                <a:solidFill>
                  <a:schemeClr val="bg1"/>
                </a:solidFill>
              </a:rPr>
              <a:t>In an insurance contract, conditions for both the insurer and insured are spelled out in the policy document</a:t>
            </a:r>
            <a:endParaRPr lang="en-US" sz="1400" b="0"/>
          </a:p>
        </p:txBody>
      </p:sp>
      <p:cxnSp>
        <p:nvCxnSpPr>
          <p:cNvPr id="8" name="Connector: Elbow 7">
            <a:extLst>
              <a:ext uri="{FF2B5EF4-FFF2-40B4-BE49-F238E27FC236}">
                <a16:creationId xmlns:a16="http://schemas.microsoft.com/office/drawing/2014/main" id="{E8CDD7C5-2C64-455D-982C-E0D911A19B19}"/>
              </a:ext>
            </a:extLst>
          </p:cNvPr>
          <p:cNvCxnSpPr>
            <a:cxnSpLocks/>
          </p:cNvCxnSpPr>
          <p:nvPr/>
        </p:nvCxnSpPr>
        <p:spPr>
          <a:xfrm rot="10800000" flipV="1">
            <a:off x="4363013" y="5236847"/>
            <a:ext cx="974539" cy="58386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 name="Connector: Elbow 8">
            <a:extLst>
              <a:ext uri="{FF2B5EF4-FFF2-40B4-BE49-F238E27FC236}">
                <a16:creationId xmlns:a16="http://schemas.microsoft.com/office/drawing/2014/main" id="{35EC0F53-21FA-DFD3-B55F-6E1A656F6601}"/>
              </a:ext>
            </a:extLst>
          </p:cNvPr>
          <p:cNvCxnSpPr>
            <a:cxnSpLocks/>
          </p:cNvCxnSpPr>
          <p:nvPr/>
        </p:nvCxnSpPr>
        <p:spPr>
          <a:xfrm rot="10800000">
            <a:off x="3823896" y="2136894"/>
            <a:ext cx="792762" cy="670572"/>
          </a:xfrm>
          <a:prstGeom prst="bentConnector3">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Connector: Elbow 9">
            <a:extLst>
              <a:ext uri="{FF2B5EF4-FFF2-40B4-BE49-F238E27FC236}">
                <a16:creationId xmlns:a16="http://schemas.microsoft.com/office/drawing/2014/main" id="{ED75D150-BDCD-FC01-D2A2-2599A0E89EA8}"/>
              </a:ext>
            </a:extLst>
          </p:cNvPr>
          <p:cNvCxnSpPr>
            <a:cxnSpLocks/>
          </p:cNvCxnSpPr>
          <p:nvPr/>
        </p:nvCxnSpPr>
        <p:spPr>
          <a:xfrm>
            <a:off x="7540443" y="2802227"/>
            <a:ext cx="795174" cy="62677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11" name="Group 10">
            <a:extLst>
              <a:ext uri="{FF2B5EF4-FFF2-40B4-BE49-F238E27FC236}">
                <a16:creationId xmlns:a16="http://schemas.microsoft.com/office/drawing/2014/main" id="{5244EAF1-81F1-F1B0-05AA-E0CD759FBAE2}"/>
              </a:ext>
            </a:extLst>
          </p:cNvPr>
          <p:cNvGrpSpPr/>
          <p:nvPr/>
        </p:nvGrpSpPr>
        <p:grpSpPr>
          <a:xfrm>
            <a:off x="4714146" y="2290410"/>
            <a:ext cx="1519630" cy="1853840"/>
            <a:chOff x="4714146" y="2290410"/>
            <a:chExt cx="1519630" cy="1853840"/>
          </a:xfrm>
        </p:grpSpPr>
        <p:sp>
          <p:nvSpPr>
            <p:cNvPr id="12" name="Freeform 547">
              <a:extLst>
                <a:ext uri="{FF2B5EF4-FFF2-40B4-BE49-F238E27FC236}">
                  <a16:creationId xmlns:a16="http://schemas.microsoft.com/office/drawing/2014/main" id="{345A595D-5D72-90DE-3B0A-9CE920977EA7}"/>
                </a:ext>
              </a:extLst>
            </p:cNvPr>
            <p:cNvSpPr>
              <a:spLocks/>
            </p:cNvSpPr>
            <p:nvPr/>
          </p:nvSpPr>
          <p:spPr bwMode="auto">
            <a:xfrm>
              <a:off x="4714146" y="2290410"/>
              <a:ext cx="1519630" cy="1853840"/>
            </a:xfrm>
            <a:custGeom>
              <a:avLst/>
              <a:gdLst>
                <a:gd name="T0" fmla="*/ 1309 w 3447"/>
                <a:gd name="T1" fmla="*/ 4205 h 4205"/>
                <a:gd name="T2" fmla="*/ 983 w 3447"/>
                <a:gd name="T3" fmla="*/ 3914 h 4205"/>
                <a:gd name="T4" fmla="*/ 1066 w 3447"/>
                <a:gd name="T5" fmla="*/ 3661 h 4205"/>
                <a:gd name="T6" fmla="*/ 1069 w 3447"/>
                <a:gd name="T7" fmla="*/ 3529 h 4205"/>
                <a:gd name="T8" fmla="*/ 948 w 3447"/>
                <a:gd name="T9" fmla="*/ 3461 h 4205"/>
                <a:gd name="T10" fmla="*/ 948 w 3447"/>
                <a:gd name="T11" fmla="*/ 3460 h 4205"/>
                <a:gd name="T12" fmla="*/ 922 w 3447"/>
                <a:gd name="T13" fmla="*/ 3460 h 4205"/>
                <a:gd name="T14" fmla="*/ 143 w 3447"/>
                <a:gd name="T15" fmla="*/ 3461 h 4205"/>
                <a:gd name="T16" fmla="*/ 0 w 3447"/>
                <a:gd name="T17" fmla="*/ 3461 h 4205"/>
                <a:gd name="T18" fmla="*/ 0 w 3447"/>
                <a:gd name="T19" fmla="*/ 2456 h 4205"/>
                <a:gd name="T20" fmla="*/ 0 w 3447"/>
                <a:gd name="T21" fmla="*/ 2441 h 4205"/>
                <a:gd name="T22" fmla="*/ 0 w 3447"/>
                <a:gd name="T23" fmla="*/ 2441 h 4205"/>
                <a:gd name="T24" fmla="*/ 111 w 3447"/>
                <a:gd name="T25" fmla="*/ 2309 h 4205"/>
                <a:gd name="T26" fmla="*/ 177 w 3447"/>
                <a:gd name="T27" fmla="*/ 2326 h 4205"/>
                <a:gd name="T28" fmla="*/ 437 w 3447"/>
                <a:gd name="T29" fmla="*/ 2411 h 4205"/>
                <a:gd name="T30" fmla="*/ 745 w 3447"/>
                <a:gd name="T31" fmla="*/ 2068 h 4205"/>
                <a:gd name="T32" fmla="*/ 437 w 3447"/>
                <a:gd name="T33" fmla="*/ 1726 h 4205"/>
                <a:gd name="T34" fmla="*/ 177 w 3447"/>
                <a:gd name="T35" fmla="*/ 1810 h 4205"/>
                <a:gd name="T36" fmla="*/ 111 w 3447"/>
                <a:gd name="T37" fmla="*/ 1827 h 4205"/>
                <a:gd name="T38" fmla="*/ 0 w 3447"/>
                <a:gd name="T39" fmla="*/ 1696 h 4205"/>
                <a:gd name="T40" fmla="*/ 0 w 3447"/>
                <a:gd name="T41" fmla="*/ 1678 h 4205"/>
                <a:gd name="T42" fmla="*/ 0 w 3447"/>
                <a:gd name="T43" fmla="*/ 745 h 4205"/>
                <a:gd name="T44" fmla="*/ 919 w 3447"/>
                <a:gd name="T45" fmla="*/ 745 h 4205"/>
                <a:gd name="T46" fmla="*/ 937 w 3447"/>
                <a:gd name="T47" fmla="*/ 745 h 4205"/>
                <a:gd name="T48" fmla="*/ 1069 w 3447"/>
                <a:gd name="T49" fmla="*/ 676 h 4205"/>
                <a:gd name="T50" fmla="*/ 1066 w 3447"/>
                <a:gd name="T51" fmla="*/ 544 h 4205"/>
                <a:gd name="T52" fmla="*/ 983 w 3447"/>
                <a:gd name="T53" fmla="*/ 291 h 4205"/>
                <a:gd name="T54" fmla="*/ 1309 w 3447"/>
                <a:gd name="T55" fmla="*/ 0 h 4205"/>
                <a:gd name="T56" fmla="*/ 1635 w 3447"/>
                <a:gd name="T57" fmla="*/ 291 h 4205"/>
                <a:gd name="T58" fmla="*/ 1552 w 3447"/>
                <a:gd name="T59" fmla="*/ 544 h 4205"/>
                <a:gd name="T60" fmla="*/ 1548 w 3447"/>
                <a:gd name="T61" fmla="*/ 676 h 4205"/>
                <a:gd name="T62" fmla="*/ 1670 w 3447"/>
                <a:gd name="T63" fmla="*/ 744 h 4205"/>
                <a:gd name="T64" fmla="*/ 1670 w 3447"/>
                <a:gd name="T65" fmla="*/ 745 h 4205"/>
                <a:gd name="T66" fmla="*/ 1696 w 3447"/>
                <a:gd name="T67" fmla="*/ 745 h 4205"/>
                <a:gd name="T68" fmla="*/ 2523 w 3447"/>
                <a:gd name="T69" fmla="*/ 745 h 4205"/>
                <a:gd name="T70" fmla="*/ 2532 w 3447"/>
                <a:gd name="T71" fmla="*/ 745 h 4205"/>
                <a:gd name="T72" fmla="*/ 2703 w 3447"/>
                <a:gd name="T73" fmla="*/ 745 h 4205"/>
                <a:gd name="T74" fmla="*/ 2703 w 3447"/>
                <a:gd name="T75" fmla="*/ 1678 h 4205"/>
                <a:gd name="T76" fmla="*/ 2703 w 3447"/>
                <a:gd name="T77" fmla="*/ 1697 h 4205"/>
                <a:gd name="T78" fmla="*/ 2830 w 3447"/>
                <a:gd name="T79" fmla="*/ 1844 h 4205"/>
                <a:gd name="T80" fmla="*/ 2904 w 3447"/>
                <a:gd name="T81" fmla="*/ 1825 h 4205"/>
                <a:gd name="T82" fmla="*/ 3157 w 3447"/>
                <a:gd name="T83" fmla="*/ 1742 h 4205"/>
                <a:gd name="T84" fmla="*/ 3447 w 3447"/>
                <a:gd name="T85" fmla="*/ 2068 h 4205"/>
                <a:gd name="T86" fmla="*/ 3157 w 3447"/>
                <a:gd name="T87" fmla="*/ 2394 h 4205"/>
                <a:gd name="T88" fmla="*/ 2904 w 3447"/>
                <a:gd name="T89" fmla="*/ 2311 h 4205"/>
                <a:gd name="T90" fmla="*/ 2830 w 3447"/>
                <a:gd name="T91" fmla="*/ 2293 h 4205"/>
                <a:gd name="T92" fmla="*/ 2704 w 3447"/>
                <a:gd name="T93" fmla="*/ 2430 h 4205"/>
                <a:gd name="T94" fmla="*/ 2703 w 3447"/>
                <a:gd name="T95" fmla="*/ 2430 h 4205"/>
                <a:gd name="T96" fmla="*/ 2703 w 3447"/>
                <a:gd name="T97" fmla="*/ 2456 h 4205"/>
                <a:gd name="T98" fmla="*/ 2703 w 3447"/>
                <a:gd name="T99" fmla="*/ 3462 h 4205"/>
                <a:gd name="T100" fmla="*/ 2504 w 3447"/>
                <a:gd name="T101" fmla="*/ 3461 h 4205"/>
                <a:gd name="T102" fmla="*/ 2118 w 3447"/>
                <a:gd name="T103" fmla="*/ 3461 h 4205"/>
                <a:gd name="T104" fmla="*/ 2110 w 3447"/>
                <a:gd name="T105" fmla="*/ 3461 h 4205"/>
                <a:gd name="T106" fmla="*/ 1699 w 3447"/>
                <a:gd name="T107" fmla="*/ 3460 h 4205"/>
                <a:gd name="T108" fmla="*/ 1680 w 3447"/>
                <a:gd name="T109" fmla="*/ 3461 h 4205"/>
                <a:gd name="T110" fmla="*/ 1548 w 3447"/>
                <a:gd name="T111" fmla="*/ 3529 h 4205"/>
                <a:gd name="T112" fmla="*/ 1552 w 3447"/>
                <a:gd name="T113" fmla="*/ 3661 h 4205"/>
                <a:gd name="T114" fmla="*/ 1635 w 3447"/>
                <a:gd name="T115" fmla="*/ 3914 h 4205"/>
                <a:gd name="T116" fmla="*/ 1309 w 3447"/>
                <a:gd name="T117" fmla="*/ 4205 h 4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7" h="4205">
                  <a:moveTo>
                    <a:pt x="1309" y="4205"/>
                  </a:moveTo>
                  <a:cubicBezTo>
                    <a:pt x="1129" y="4205"/>
                    <a:pt x="983" y="4075"/>
                    <a:pt x="983" y="3914"/>
                  </a:cubicBezTo>
                  <a:cubicBezTo>
                    <a:pt x="983" y="3832"/>
                    <a:pt x="1065" y="3663"/>
                    <a:pt x="1066" y="3661"/>
                  </a:cubicBezTo>
                  <a:cubicBezTo>
                    <a:pt x="1089" y="3613"/>
                    <a:pt x="1091" y="3566"/>
                    <a:pt x="1069" y="3529"/>
                  </a:cubicBezTo>
                  <a:cubicBezTo>
                    <a:pt x="1047" y="3491"/>
                    <a:pt x="1004" y="3467"/>
                    <a:pt x="948" y="3461"/>
                  </a:cubicBezTo>
                  <a:lnTo>
                    <a:pt x="948" y="3460"/>
                  </a:lnTo>
                  <a:cubicBezTo>
                    <a:pt x="944" y="3460"/>
                    <a:pt x="935" y="3460"/>
                    <a:pt x="922" y="3460"/>
                  </a:cubicBezTo>
                  <a:lnTo>
                    <a:pt x="143" y="3461"/>
                  </a:lnTo>
                  <a:lnTo>
                    <a:pt x="0" y="3461"/>
                  </a:lnTo>
                  <a:lnTo>
                    <a:pt x="0" y="2456"/>
                  </a:lnTo>
                  <a:cubicBezTo>
                    <a:pt x="0" y="2450"/>
                    <a:pt x="0" y="2445"/>
                    <a:pt x="0" y="2441"/>
                  </a:cubicBezTo>
                  <a:lnTo>
                    <a:pt x="0" y="2441"/>
                  </a:lnTo>
                  <a:cubicBezTo>
                    <a:pt x="5" y="2360"/>
                    <a:pt x="48" y="2309"/>
                    <a:pt x="111" y="2309"/>
                  </a:cubicBezTo>
                  <a:cubicBezTo>
                    <a:pt x="132" y="2309"/>
                    <a:pt x="154" y="2315"/>
                    <a:pt x="177" y="2326"/>
                  </a:cubicBezTo>
                  <a:cubicBezTo>
                    <a:pt x="184" y="2330"/>
                    <a:pt x="351" y="2411"/>
                    <a:pt x="437" y="2411"/>
                  </a:cubicBezTo>
                  <a:cubicBezTo>
                    <a:pt x="607" y="2411"/>
                    <a:pt x="745" y="2257"/>
                    <a:pt x="745" y="2068"/>
                  </a:cubicBezTo>
                  <a:cubicBezTo>
                    <a:pt x="745" y="1879"/>
                    <a:pt x="607" y="1726"/>
                    <a:pt x="437" y="1726"/>
                  </a:cubicBezTo>
                  <a:cubicBezTo>
                    <a:pt x="351" y="1726"/>
                    <a:pt x="184" y="1807"/>
                    <a:pt x="177" y="1810"/>
                  </a:cubicBezTo>
                  <a:cubicBezTo>
                    <a:pt x="154" y="1822"/>
                    <a:pt x="132" y="1827"/>
                    <a:pt x="111" y="1827"/>
                  </a:cubicBezTo>
                  <a:cubicBezTo>
                    <a:pt x="48" y="1827"/>
                    <a:pt x="5" y="1777"/>
                    <a:pt x="0" y="1696"/>
                  </a:cubicBezTo>
                  <a:lnTo>
                    <a:pt x="0" y="1678"/>
                  </a:lnTo>
                  <a:lnTo>
                    <a:pt x="0" y="745"/>
                  </a:lnTo>
                  <a:lnTo>
                    <a:pt x="919" y="745"/>
                  </a:lnTo>
                  <a:lnTo>
                    <a:pt x="937" y="745"/>
                  </a:lnTo>
                  <a:cubicBezTo>
                    <a:pt x="999" y="741"/>
                    <a:pt x="1046" y="716"/>
                    <a:pt x="1069" y="676"/>
                  </a:cubicBezTo>
                  <a:cubicBezTo>
                    <a:pt x="1091" y="639"/>
                    <a:pt x="1089" y="592"/>
                    <a:pt x="1066" y="544"/>
                  </a:cubicBezTo>
                  <a:cubicBezTo>
                    <a:pt x="1065" y="542"/>
                    <a:pt x="983" y="374"/>
                    <a:pt x="983" y="291"/>
                  </a:cubicBezTo>
                  <a:cubicBezTo>
                    <a:pt x="983" y="131"/>
                    <a:pt x="1129" y="0"/>
                    <a:pt x="1309" y="0"/>
                  </a:cubicBezTo>
                  <a:cubicBezTo>
                    <a:pt x="1489" y="0"/>
                    <a:pt x="1635" y="131"/>
                    <a:pt x="1635" y="291"/>
                  </a:cubicBezTo>
                  <a:cubicBezTo>
                    <a:pt x="1635" y="374"/>
                    <a:pt x="1553" y="542"/>
                    <a:pt x="1552" y="544"/>
                  </a:cubicBezTo>
                  <a:cubicBezTo>
                    <a:pt x="1528" y="592"/>
                    <a:pt x="1527" y="639"/>
                    <a:pt x="1548" y="676"/>
                  </a:cubicBezTo>
                  <a:cubicBezTo>
                    <a:pt x="1570" y="714"/>
                    <a:pt x="1613" y="738"/>
                    <a:pt x="1670" y="744"/>
                  </a:cubicBezTo>
                  <a:lnTo>
                    <a:pt x="1670" y="745"/>
                  </a:lnTo>
                  <a:cubicBezTo>
                    <a:pt x="1674" y="745"/>
                    <a:pt x="1683" y="745"/>
                    <a:pt x="1696" y="745"/>
                  </a:cubicBezTo>
                  <a:lnTo>
                    <a:pt x="2523" y="745"/>
                  </a:lnTo>
                  <a:lnTo>
                    <a:pt x="2532" y="745"/>
                  </a:lnTo>
                  <a:lnTo>
                    <a:pt x="2703" y="745"/>
                  </a:lnTo>
                  <a:lnTo>
                    <a:pt x="2703" y="1678"/>
                  </a:lnTo>
                  <a:lnTo>
                    <a:pt x="2703" y="1697"/>
                  </a:lnTo>
                  <a:cubicBezTo>
                    <a:pt x="2709" y="1786"/>
                    <a:pt x="2759" y="1844"/>
                    <a:pt x="2830" y="1844"/>
                  </a:cubicBezTo>
                  <a:cubicBezTo>
                    <a:pt x="2854" y="1844"/>
                    <a:pt x="2879" y="1838"/>
                    <a:pt x="2904" y="1825"/>
                  </a:cubicBezTo>
                  <a:cubicBezTo>
                    <a:pt x="2906" y="1824"/>
                    <a:pt x="3074" y="1742"/>
                    <a:pt x="3157" y="1742"/>
                  </a:cubicBezTo>
                  <a:cubicBezTo>
                    <a:pt x="3317" y="1742"/>
                    <a:pt x="3447" y="1889"/>
                    <a:pt x="3447" y="2068"/>
                  </a:cubicBezTo>
                  <a:cubicBezTo>
                    <a:pt x="3447" y="2248"/>
                    <a:pt x="3317" y="2394"/>
                    <a:pt x="3157" y="2394"/>
                  </a:cubicBezTo>
                  <a:cubicBezTo>
                    <a:pt x="3074" y="2394"/>
                    <a:pt x="2906" y="2312"/>
                    <a:pt x="2904" y="2311"/>
                  </a:cubicBezTo>
                  <a:cubicBezTo>
                    <a:pt x="2879" y="2299"/>
                    <a:pt x="2854" y="2293"/>
                    <a:pt x="2830" y="2293"/>
                  </a:cubicBezTo>
                  <a:cubicBezTo>
                    <a:pt x="2761" y="2293"/>
                    <a:pt x="2713" y="2346"/>
                    <a:pt x="2704" y="2430"/>
                  </a:cubicBezTo>
                  <a:lnTo>
                    <a:pt x="2703" y="2430"/>
                  </a:lnTo>
                  <a:cubicBezTo>
                    <a:pt x="2703" y="2435"/>
                    <a:pt x="2703" y="2443"/>
                    <a:pt x="2703" y="2456"/>
                  </a:cubicBezTo>
                  <a:lnTo>
                    <a:pt x="2703" y="3462"/>
                  </a:lnTo>
                  <a:cubicBezTo>
                    <a:pt x="2666" y="3461"/>
                    <a:pt x="2517" y="3461"/>
                    <a:pt x="2504" y="3461"/>
                  </a:cubicBezTo>
                  <a:lnTo>
                    <a:pt x="2118" y="3461"/>
                  </a:lnTo>
                  <a:lnTo>
                    <a:pt x="2110" y="3461"/>
                  </a:lnTo>
                  <a:lnTo>
                    <a:pt x="1699" y="3460"/>
                  </a:lnTo>
                  <a:lnTo>
                    <a:pt x="1680" y="3461"/>
                  </a:lnTo>
                  <a:cubicBezTo>
                    <a:pt x="1618" y="3465"/>
                    <a:pt x="1572" y="3489"/>
                    <a:pt x="1548" y="3529"/>
                  </a:cubicBezTo>
                  <a:cubicBezTo>
                    <a:pt x="1527" y="3566"/>
                    <a:pt x="1528" y="3613"/>
                    <a:pt x="1552" y="3661"/>
                  </a:cubicBezTo>
                  <a:cubicBezTo>
                    <a:pt x="1553" y="3663"/>
                    <a:pt x="1635" y="3832"/>
                    <a:pt x="1635" y="3914"/>
                  </a:cubicBezTo>
                  <a:cubicBezTo>
                    <a:pt x="1635" y="4075"/>
                    <a:pt x="1489" y="4205"/>
                    <a:pt x="1309" y="4205"/>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27" name="TextBox 26">
              <a:extLst>
                <a:ext uri="{FF2B5EF4-FFF2-40B4-BE49-F238E27FC236}">
                  <a16:creationId xmlns:a16="http://schemas.microsoft.com/office/drawing/2014/main" id="{D0C9629D-B89B-B0F2-8213-56DE82C67CD3}"/>
                </a:ext>
              </a:extLst>
            </p:cNvPr>
            <p:cNvSpPr txBox="1"/>
            <p:nvPr/>
          </p:nvSpPr>
          <p:spPr>
            <a:xfrm>
              <a:off x="5046602" y="2864648"/>
              <a:ext cx="854717" cy="646331"/>
            </a:xfrm>
            <a:prstGeom prst="rect">
              <a:avLst/>
            </a:prstGeom>
            <a:noFill/>
          </p:spPr>
          <p:txBody>
            <a:bodyPr wrap="square" rtlCol="0">
              <a:spAutoFit/>
            </a:bodyPr>
            <a:lstStyle/>
            <a:p>
              <a:r>
                <a:rPr lang="en-US" sz="3600" b="1">
                  <a:solidFill>
                    <a:schemeClr val="bg1"/>
                  </a:solidFill>
                </a:rPr>
                <a:t>01</a:t>
              </a:r>
            </a:p>
          </p:txBody>
        </p:sp>
      </p:grpSp>
      <p:grpSp>
        <p:nvGrpSpPr>
          <p:cNvPr id="28" name="Group 27">
            <a:extLst>
              <a:ext uri="{FF2B5EF4-FFF2-40B4-BE49-F238E27FC236}">
                <a16:creationId xmlns:a16="http://schemas.microsoft.com/office/drawing/2014/main" id="{924867E9-D9E7-2E5A-A58D-AEBF70C3A4C3}"/>
              </a:ext>
            </a:extLst>
          </p:cNvPr>
          <p:cNvGrpSpPr/>
          <p:nvPr/>
        </p:nvGrpSpPr>
        <p:grpSpPr>
          <a:xfrm>
            <a:off x="6299253" y="2609426"/>
            <a:ext cx="1178600" cy="1525087"/>
            <a:chOff x="6299253" y="2609426"/>
            <a:chExt cx="1178600" cy="1525087"/>
          </a:xfrm>
          <a:solidFill>
            <a:schemeClr val="accent1"/>
          </a:solidFill>
        </p:grpSpPr>
        <p:sp>
          <p:nvSpPr>
            <p:cNvPr id="29" name="Freeform 1863">
              <a:extLst>
                <a:ext uri="{FF2B5EF4-FFF2-40B4-BE49-F238E27FC236}">
                  <a16:creationId xmlns:a16="http://schemas.microsoft.com/office/drawing/2014/main" id="{B49E9C0B-6BA7-2B7F-336B-7459115BD02E}"/>
                </a:ext>
              </a:extLst>
            </p:cNvPr>
            <p:cNvSpPr>
              <a:spLocks/>
            </p:cNvSpPr>
            <p:nvPr/>
          </p:nvSpPr>
          <p:spPr bwMode="auto">
            <a:xfrm>
              <a:off x="6299253" y="2609426"/>
              <a:ext cx="1178600" cy="1525087"/>
            </a:xfrm>
            <a:custGeom>
              <a:avLst/>
              <a:gdLst>
                <a:gd name="T0" fmla="*/ 1308 w 2672"/>
                <a:gd name="T1" fmla="*/ 3460 h 3460"/>
                <a:gd name="T2" fmla="*/ 982 w 2672"/>
                <a:gd name="T3" fmla="*/ 3169 h 3460"/>
                <a:gd name="T4" fmla="*/ 1065 w 2672"/>
                <a:gd name="T5" fmla="*/ 2917 h 3460"/>
                <a:gd name="T6" fmla="*/ 1069 w 2672"/>
                <a:gd name="T7" fmla="*/ 2784 h 3460"/>
                <a:gd name="T8" fmla="*/ 948 w 2672"/>
                <a:gd name="T9" fmla="*/ 2716 h 3460"/>
                <a:gd name="T10" fmla="*/ 948 w 2672"/>
                <a:gd name="T11" fmla="*/ 2715 h 3460"/>
                <a:gd name="T12" fmla="*/ 921 w 2672"/>
                <a:gd name="T13" fmla="*/ 2715 h 3460"/>
                <a:gd name="T14" fmla="*/ 142 w 2672"/>
                <a:gd name="T15" fmla="*/ 2716 h 3460"/>
                <a:gd name="T16" fmla="*/ 0 w 2672"/>
                <a:gd name="T17" fmla="*/ 2716 h 3460"/>
                <a:gd name="T18" fmla="*/ 0 w 2672"/>
                <a:gd name="T19" fmla="*/ 1711 h 3460"/>
                <a:gd name="T20" fmla="*/ 0 w 2672"/>
                <a:gd name="T21" fmla="*/ 1696 h 3460"/>
                <a:gd name="T22" fmla="*/ 0 w 2672"/>
                <a:gd name="T23" fmla="*/ 1696 h 3460"/>
                <a:gd name="T24" fmla="*/ 110 w 2672"/>
                <a:gd name="T25" fmla="*/ 1564 h 3460"/>
                <a:gd name="T26" fmla="*/ 177 w 2672"/>
                <a:gd name="T27" fmla="*/ 1581 h 3460"/>
                <a:gd name="T28" fmla="*/ 437 w 2672"/>
                <a:gd name="T29" fmla="*/ 1666 h 3460"/>
                <a:gd name="T30" fmla="*/ 744 w 2672"/>
                <a:gd name="T31" fmla="*/ 1323 h 3460"/>
                <a:gd name="T32" fmla="*/ 437 w 2672"/>
                <a:gd name="T33" fmla="*/ 981 h 3460"/>
                <a:gd name="T34" fmla="*/ 177 w 2672"/>
                <a:gd name="T35" fmla="*/ 1065 h 3460"/>
                <a:gd name="T36" fmla="*/ 110 w 2672"/>
                <a:gd name="T37" fmla="*/ 1082 h 3460"/>
                <a:gd name="T38" fmla="*/ 0 w 2672"/>
                <a:gd name="T39" fmla="*/ 951 h 3460"/>
                <a:gd name="T40" fmla="*/ 0 w 2672"/>
                <a:gd name="T41" fmla="*/ 933 h 3460"/>
                <a:gd name="T42" fmla="*/ 0 w 2672"/>
                <a:gd name="T43" fmla="*/ 0 h 3460"/>
                <a:gd name="T44" fmla="*/ 1670 w 2672"/>
                <a:gd name="T45" fmla="*/ 0 h 3460"/>
                <a:gd name="T46" fmla="*/ 1670 w 2672"/>
                <a:gd name="T47" fmla="*/ 0 h 3460"/>
                <a:gd name="T48" fmla="*/ 1696 w 2672"/>
                <a:gd name="T49" fmla="*/ 0 h 3460"/>
                <a:gd name="T50" fmla="*/ 2523 w 2672"/>
                <a:gd name="T51" fmla="*/ 0 h 3460"/>
                <a:gd name="T52" fmla="*/ 2531 w 2672"/>
                <a:gd name="T53" fmla="*/ 0 h 3460"/>
                <a:gd name="T54" fmla="*/ 2672 w 2672"/>
                <a:gd name="T55" fmla="*/ 0 h 3460"/>
                <a:gd name="T56" fmla="*/ 2672 w 2672"/>
                <a:gd name="T57" fmla="*/ 933 h 3460"/>
                <a:gd name="T58" fmla="*/ 2672 w 2672"/>
                <a:gd name="T59" fmla="*/ 952 h 3460"/>
                <a:gd name="T60" fmla="*/ 2561 w 2672"/>
                <a:gd name="T61" fmla="*/ 1082 h 3460"/>
                <a:gd name="T62" fmla="*/ 2495 w 2672"/>
                <a:gd name="T63" fmla="*/ 1065 h 3460"/>
                <a:gd name="T64" fmla="*/ 2235 w 2672"/>
                <a:gd name="T65" fmla="*/ 981 h 3460"/>
                <a:gd name="T66" fmla="*/ 1928 w 2672"/>
                <a:gd name="T67" fmla="*/ 1323 h 3460"/>
                <a:gd name="T68" fmla="*/ 2235 w 2672"/>
                <a:gd name="T69" fmla="*/ 1666 h 3460"/>
                <a:gd name="T70" fmla="*/ 2495 w 2672"/>
                <a:gd name="T71" fmla="*/ 1581 h 3460"/>
                <a:gd name="T72" fmla="*/ 2561 w 2672"/>
                <a:gd name="T73" fmla="*/ 1564 h 3460"/>
                <a:gd name="T74" fmla="*/ 2672 w 2672"/>
                <a:gd name="T75" fmla="*/ 1696 h 3460"/>
                <a:gd name="T76" fmla="*/ 2672 w 2672"/>
                <a:gd name="T77" fmla="*/ 1696 h 3460"/>
                <a:gd name="T78" fmla="*/ 2672 w 2672"/>
                <a:gd name="T79" fmla="*/ 1711 h 3460"/>
                <a:gd name="T80" fmla="*/ 2672 w 2672"/>
                <a:gd name="T81" fmla="*/ 2716 h 3460"/>
                <a:gd name="T82" fmla="*/ 2504 w 2672"/>
                <a:gd name="T83" fmla="*/ 2716 h 3460"/>
                <a:gd name="T84" fmla="*/ 2117 w 2672"/>
                <a:gd name="T85" fmla="*/ 2716 h 3460"/>
                <a:gd name="T86" fmla="*/ 2109 w 2672"/>
                <a:gd name="T87" fmla="*/ 2716 h 3460"/>
                <a:gd name="T88" fmla="*/ 1699 w 2672"/>
                <a:gd name="T89" fmla="*/ 2715 h 3460"/>
                <a:gd name="T90" fmla="*/ 1680 w 2672"/>
                <a:gd name="T91" fmla="*/ 2716 h 3460"/>
                <a:gd name="T92" fmla="*/ 1548 w 2672"/>
                <a:gd name="T93" fmla="*/ 2784 h 3460"/>
                <a:gd name="T94" fmla="*/ 1552 w 2672"/>
                <a:gd name="T95" fmla="*/ 2917 h 3460"/>
                <a:gd name="T96" fmla="*/ 1635 w 2672"/>
                <a:gd name="T97" fmla="*/ 3169 h 3460"/>
                <a:gd name="T98" fmla="*/ 1308 w 2672"/>
                <a:gd name="T99" fmla="*/ 3460 h 3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72" h="3460">
                  <a:moveTo>
                    <a:pt x="1308" y="3460"/>
                  </a:moveTo>
                  <a:cubicBezTo>
                    <a:pt x="1129" y="3460"/>
                    <a:pt x="982" y="3330"/>
                    <a:pt x="982" y="3169"/>
                  </a:cubicBezTo>
                  <a:cubicBezTo>
                    <a:pt x="982" y="3087"/>
                    <a:pt x="1065" y="2918"/>
                    <a:pt x="1065" y="2917"/>
                  </a:cubicBezTo>
                  <a:cubicBezTo>
                    <a:pt x="1089" y="2868"/>
                    <a:pt x="1090" y="2821"/>
                    <a:pt x="1069" y="2784"/>
                  </a:cubicBezTo>
                  <a:cubicBezTo>
                    <a:pt x="1047" y="2746"/>
                    <a:pt x="1004" y="2722"/>
                    <a:pt x="948" y="2716"/>
                  </a:cubicBezTo>
                  <a:lnTo>
                    <a:pt x="948" y="2715"/>
                  </a:lnTo>
                  <a:cubicBezTo>
                    <a:pt x="943" y="2715"/>
                    <a:pt x="934" y="2715"/>
                    <a:pt x="921" y="2715"/>
                  </a:cubicBezTo>
                  <a:lnTo>
                    <a:pt x="142" y="2716"/>
                  </a:lnTo>
                  <a:lnTo>
                    <a:pt x="0" y="2716"/>
                  </a:lnTo>
                  <a:lnTo>
                    <a:pt x="0" y="1711"/>
                  </a:lnTo>
                  <a:cubicBezTo>
                    <a:pt x="0" y="1705"/>
                    <a:pt x="0" y="1700"/>
                    <a:pt x="0" y="1696"/>
                  </a:cubicBezTo>
                  <a:lnTo>
                    <a:pt x="0" y="1696"/>
                  </a:lnTo>
                  <a:cubicBezTo>
                    <a:pt x="5" y="1615"/>
                    <a:pt x="47" y="1564"/>
                    <a:pt x="110" y="1564"/>
                  </a:cubicBezTo>
                  <a:cubicBezTo>
                    <a:pt x="131" y="1564"/>
                    <a:pt x="154" y="1570"/>
                    <a:pt x="177" y="1581"/>
                  </a:cubicBezTo>
                  <a:cubicBezTo>
                    <a:pt x="184" y="1585"/>
                    <a:pt x="350" y="1666"/>
                    <a:pt x="437" y="1666"/>
                  </a:cubicBezTo>
                  <a:cubicBezTo>
                    <a:pt x="606" y="1666"/>
                    <a:pt x="744" y="1512"/>
                    <a:pt x="744" y="1323"/>
                  </a:cubicBezTo>
                  <a:cubicBezTo>
                    <a:pt x="744" y="1134"/>
                    <a:pt x="606" y="981"/>
                    <a:pt x="437" y="981"/>
                  </a:cubicBezTo>
                  <a:cubicBezTo>
                    <a:pt x="350" y="981"/>
                    <a:pt x="184" y="1062"/>
                    <a:pt x="177" y="1065"/>
                  </a:cubicBezTo>
                  <a:cubicBezTo>
                    <a:pt x="154" y="1077"/>
                    <a:pt x="131" y="1082"/>
                    <a:pt x="110" y="1082"/>
                  </a:cubicBezTo>
                  <a:cubicBezTo>
                    <a:pt x="47" y="1082"/>
                    <a:pt x="5" y="1032"/>
                    <a:pt x="0" y="951"/>
                  </a:cubicBezTo>
                  <a:lnTo>
                    <a:pt x="0" y="933"/>
                  </a:lnTo>
                  <a:lnTo>
                    <a:pt x="0" y="0"/>
                  </a:lnTo>
                  <a:lnTo>
                    <a:pt x="1670" y="0"/>
                  </a:lnTo>
                  <a:lnTo>
                    <a:pt x="1670" y="0"/>
                  </a:lnTo>
                  <a:cubicBezTo>
                    <a:pt x="1674" y="0"/>
                    <a:pt x="1683" y="0"/>
                    <a:pt x="1696" y="0"/>
                  </a:cubicBezTo>
                  <a:lnTo>
                    <a:pt x="2523" y="0"/>
                  </a:lnTo>
                  <a:lnTo>
                    <a:pt x="2531" y="0"/>
                  </a:lnTo>
                  <a:lnTo>
                    <a:pt x="2672" y="0"/>
                  </a:lnTo>
                  <a:lnTo>
                    <a:pt x="2672" y="933"/>
                  </a:lnTo>
                  <a:lnTo>
                    <a:pt x="2672" y="952"/>
                  </a:lnTo>
                  <a:cubicBezTo>
                    <a:pt x="2667" y="1032"/>
                    <a:pt x="2624" y="1082"/>
                    <a:pt x="2561" y="1082"/>
                  </a:cubicBezTo>
                  <a:cubicBezTo>
                    <a:pt x="2540" y="1082"/>
                    <a:pt x="2518" y="1077"/>
                    <a:pt x="2495" y="1065"/>
                  </a:cubicBezTo>
                  <a:cubicBezTo>
                    <a:pt x="2488" y="1062"/>
                    <a:pt x="2321" y="981"/>
                    <a:pt x="2235" y="981"/>
                  </a:cubicBezTo>
                  <a:cubicBezTo>
                    <a:pt x="2065" y="981"/>
                    <a:pt x="1928" y="1134"/>
                    <a:pt x="1928" y="1323"/>
                  </a:cubicBezTo>
                  <a:cubicBezTo>
                    <a:pt x="1928" y="1512"/>
                    <a:pt x="2065" y="1666"/>
                    <a:pt x="2235" y="1666"/>
                  </a:cubicBezTo>
                  <a:cubicBezTo>
                    <a:pt x="2321" y="1666"/>
                    <a:pt x="2488" y="1585"/>
                    <a:pt x="2495" y="1581"/>
                  </a:cubicBezTo>
                  <a:cubicBezTo>
                    <a:pt x="2518" y="1570"/>
                    <a:pt x="2540" y="1564"/>
                    <a:pt x="2561" y="1564"/>
                  </a:cubicBezTo>
                  <a:cubicBezTo>
                    <a:pt x="2624" y="1564"/>
                    <a:pt x="2667" y="1615"/>
                    <a:pt x="2672" y="1696"/>
                  </a:cubicBezTo>
                  <a:lnTo>
                    <a:pt x="2672" y="1696"/>
                  </a:lnTo>
                  <a:cubicBezTo>
                    <a:pt x="2672" y="1700"/>
                    <a:pt x="2672" y="1705"/>
                    <a:pt x="2672" y="1711"/>
                  </a:cubicBezTo>
                  <a:lnTo>
                    <a:pt x="2672" y="2716"/>
                  </a:lnTo>
                  <a:cubicBezTo>
                    <a:pt x="2672" y="2716"/>
                    <a:pt x="2512" y="2716"/>
                    <a:pt x="2504" y="2716"/>
                  </a:cubicBezTo>
                  <a:lnTo>
                    <a:pt x="2117" y="2716"/>
                  </a:lnTo>
                  <a:lnTo>
                    <a:pt x="2109" y="2716"/>
                  </a:lnTo>
                  <a:lnTo>
                    <a:pt x="1699" y="2715"/>
                  </a:lnTo>
                  <a:lnTo>
                    <a:pt x="1680" y="2716"/>
                  </a:lnTo>
                  <a:cubicBezTo>
                    <a:pt x="1618" y="2720"/>
                    <a:pt x="1571" y="2744"/>
                    <a:pt x="1548" y="2784"/>
                  </a:cubicBezTo>
                  <a:cubicBezTo>
                    <a:pt x="1527" y="2821"/>
                    <a:pt x="1528" y="2868"/>
                    <a:pt x="1552" y="2917"/>
                  </a:cubicBezTo>
                  <a:cubicBezTo>
                    <a:pt x="1552" y="2918"/>
                    <a:pt x="1635" y="3087"/>
                    <a:pt x="1635" y="3169"/>
                  </a:cubicBezTo>
                  <a:cubicBezTo>
                    <a:pt x="1635" y="3330"/>
                    <a:pt x="1488" y="3460"/>
                    <a:pt x="1308" y="34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30" name="TextBox 29">
              <a:extLst>
                <a:ext uri="{FF2B5EF4-FFF2-40B4-BE49-F238E27FC236}">
                  <a16:creationId xmlns:a16="http://schemas.microsoft.com/office/drawing/2014/main" id="{D66A21A7-37C8-F5DD-A07B-2E84B018F257}"/>
                </a:ext>
              </a:extLst>
            </p:cNvPr>
            <p:cNvSpPr txBox="1"/>
            <p:nvPr/>
          </p:nvSpPr>
          <p:spPr>
            <a:xfrm>
              <a:off x="6486770" y="3115613"/>
              <a:ext cx="854717" cy="646331"/>
            </a:xfrm>
            <a:prstGeom prst="rect">
              <a:avLst/>
            </a:prstGeom>
            <a:grpFill/>
          </p:spPr>
          <p:txBody>
            <a:bodyPr wrap="square" rtlCol="0">
              <a:spAutoFit/>
            </a:bodyPr>
            <a:lstStyle/>
            <a:p>
              <a:r>
                <a:rPr lang="en-US" sz="3600" b="1">
                  <a:solidFill>
                    <a:schemeClr val="bg1"/>
                  </a:solidFill>
                </a:rPr>
                <a:t>02</a:t>
              </a:r>
            </a:p>
          </p:txBody>
        </p:sp>
      </p:grpSp>
      <p:grpSp>
        <p:nvGrpSpPr>
          <p:cNvPr id="31" name="Group 30">
            <a:extLst>
              <a:ext uri="{FF2B5EF4-FFF2-40B4-BE49-F238E27FC236}">
                <a16:creationId xmlns:a16="http://schemas.microsoft.com/office/drawing/2014/main" id="{0054CC9F-38FD-B296-013B-4B799A998984}"/>
              </a:ext>
            </a:extLst>
          </p:cNvPr>
          <p:cNvGrpSpPr/>
          <p:nvPr/>
        </p:nvGrpSpPr>
        <p:grpSpPr>
          <a:xfrm>
            <a:off x="5139752" y="4222667"/>
            <a:ext cx="1852476" cy="1519630"/>
            <a:chOff x="5139752" y="4222667"/>
            <a:chExt cx="1852476" cy="1519630"/>
          </a:xfrm>
        </p:grpSpPr>
        <p:sp>
          <p:nvSpPr>
            <p:cNvPr id="32" name="Freeform 2755">
              <a:extLst>
                <a:ext uri="{FF2B5EF4-FFF2-40B4-BE49-F238E27FC236}">
                  <a16:creationId xmlns:a16="http://schemas.microsoft.com/office/drawing/2014/main" id="{51FC9CFD-4465-B5A8-E56E-01CA8DC2A7AC}"/>
                </a:ext>
              </a:extLst>
            </p:cNvPr>
            <p:cNvSpPr>
              <a:spLocks/>
            </p:cNvSpPr>
            <p:nvPr/>
          </p:nvSpPr>
          <p:spPr bwMode="auto">
            <a:xfrm>
              <a:off x="5139752" y="4222667"/>
              <a:ext cx="1852476" cy="1519630"/>
            </a:xfrm>
            <a:custGeom>
              <a:avLst/>
              <a:gdLst>
                <a:gd name="T0" fmla="*/ 2137 w 4205"/>
                <a:gd name="T1" fmla="*/ 3448 h 3448"/>
                <a:gd name="T2" fmla="*/ 1810 w 4205"/>
                <a:gd name="T3" fmla="*/ 3157 h 3448"/>
                <a:gd name="T4" fmla="*/ 1893 w 4205"/>
                <a:gd name="T5" fmla="*/ 2904 h 3448"/>
                <a:gd name="T6" fmla="*/ 1897 w 4205"/>
                <a:gd name="T7" fmla="*/ 2772 h 3448"/>
                <a:gd name="T8" fmla="*/ 1775 w 4205"/>
                <a:gd name="T9" fmla="*/ 2704 h 3448"/>
                <a:gd name="T10" fmla="*/ 1775 w 4205"/>
                <a:gd name="T11" fmla="*/ 2703 h 3448"/>
                <a:gd name="T12" fmla="*/ 1749 w 4205"/>
                <a:gd name="T13" fmla="*/ 2703 h 3448"/>
                <a:gd name="T14" fmla="*/ 743 w 4205"/>
                <a:gd name="T15" fmla="*/ 2703 h 3448"/>
                <a:gd name="T16" fmla="*/ 744 w 4205"/>
                <a:gd name="T17" fmla="*/ 2505 h 3448"/>
                <a:gd name="T18" fmla="*/ 744 w 4205"/>
                <a:gd name="T19" fmla="*/ 2118 h 3448"/>
                <a:gd name="T20" fmla="*/ 744 w 4205"/>
                <a:gd name="T21" fmla="*/ 2110 h 3448"/>
                <a:gd name="T22" fmla="*/ 745 w 4205"/>
                <a:gd name="T23" fmla="*/ 1700 h 3448"/>
                <a:gd name="T24" fmla="*/ 744 w 4205"/>
                <a:gd name="T25" fmla="*/ 1681 h 3448"/>
                <a:gd name="T26" fmla="*/ 617 w 4205"/>
                <a:gd name="T27" fmla="*/ 1533 h 3448"/>
                <a:gd name="T28" fmla="*/ 543 w 4205"/>
                <a:gd name="T29" fmla="*/ 1552 h 3448"/>
                <a:gd name="T30" fmla="*/ 291 w 4205"/>
                <a:gd name="T31" fmla="*/ 1635 h 3448"/>
                <a:gd name="T32" fmla="*/ 0 w 4205"/>
                <a:gd name="T33" fmla="*/ 1309 h 3448"/>
                <a:gd name="T34" fmla="*/ 291 w 4205"/>
                <a:gd name="T35" fmla="*/ 983 h 3448"/>
                <a:gd name="T36" fmla="*/ 543 w 4205"/>
                <a:gd name="T37" fmla="*/ 1066 h 3448"/>
                <a:gd name="T38" fmla="*/ 617 w 4205"/>
                <a:gd name="T39" fmla="*/ 1085 h 3448"/>
                <a:gd name="T40" fmla="*/ 743 w 4205"/>
                <a:gd name="T41" fmla="*/ 948 h 3448"/>
                <a:gd name="T42" fmla="*/ 745 w 4205"/>
                <a:gd name="T43" fmla="*/ 948 h 3448"/>
                <a:gd name="T44" fmla="*/ 745 w 4205"/>
                <a:gd name="T45" fmla="*/ 922 h 3448"/>
                <a:gd name="T46" fmla="*/ 744 w 4205"/>
                <a:gd name="T47" fmla="*/ 143 h 3448"/>
                <a:gd name="T48" fmla="*/ 744 w 4205"/>
                <a:gd name="T49" fmla="*/ 0 h 3448"/>
                <a:gd name="T50" fmla="*/ 1749 w 4205"/>
                <a:gd name="T51" fmla="*/ 0 h 3448"/>
                <a:gd name="T52" fmla="*/ 1764 w 4205"/>
                <a:gd name="T53" fmla="*/ 0 h 3448"/>
                <a:gd name="T54" fmla="*/ 1764 w 4205"/>
                <a:gd name="T55" fmla="*/ 0 h 3448"/>
                <a:gd name="T56" fmla="*/ 1882 w 4205"/>
                <a:gd name="T57" fmla="*/ 61 h 3448"/>
                <a:gd name="T58" fmla="*/ 1879 w 4205"/>
                <a:gd name="T59" fmla="*/ 177 h 3448"/>
                <a:gd name="T60" fmla="*/ 1794 w 4205"/>
                <a:gd name="T61" fmla="*/ 438 h 3448"/>
                <a:gd name="T62" fmla="*/ 2137 w 4205"/>
                <a:gd name="T63" fmla="*/ 745 h 3448"/>
                <a:gd name="T64" fmla="*/ 2479 w 4205"/>
                <a:gd name="T65" fmla="*/ 438 h 3448"/>
                <a:gd name="T66" fmla="*/ 2395 w 4205"/>
                <a:gd name="T67" fmla="*/ 177 h 3448"/>
                <a:gd name="T68" fmla="*/ 2391 w 4205"/>
                <a:gd name="T69" fmla="*/ 61 h 3448"/>
                <a:gd name="T70" fmla="*/ 2509 w 4205"/>
                <a:gd name="T71" fmla="*/ 0 h 3448"/>
                <a:gd name="T72" fmla="*/ 2527 w 4205"/>
                <a:gd name="T73" fmla="*/ 0 h 3448"/>
                <a:gd name="T74" fmla="*/ 3460 w 4205"/>
                <a:gd name="T75" fmla="*/ 0 h 3448"/>
                <a:gd name="T76" fmla="*/ 3460 w 4205"/>
                <a:gd name="T77" fmla="*/ 919 h 3448"/>
                <a:gd name="T78" fmla="*/ 3460 w 4205"/>
                <a:gd name="T79" fmla="*/ 938 h 3448"/>
                <a:gd name="T80" fmla="*/ 3587 w 4205"/>
                <a:gd name="T81" fmla="*/ 1085 h 3448"/>
                <a:gd name="T82" fmla="*/ 3661 w 4205"/>
                <a:gd name="T83" fmla="*/ 1066 h 3448"/>
                <a:gd name="T84" fmla="*/ 3914 w 4205"/>
                <a:gd name="T85" fmla="*/ 983 h 3448"/>
                <a:gd name="T86" fmla="*/ 4205 w 4205"/>
                <a:gd name="T87" fmla="*/ 1309 h 3448"/>
                <a:gd name="T88" fmla="*/ 3914 w 4205"/>
                <a:gd name="T89" fmla="*/ 1635 h 3448"/>
                <a:gd name="T90" fmla="*/ 3661 w 4205"/>
                <a:gd name="T91" fmla="*/ 1552 h 3448"/>
                <a:gd name="T92" fmla="*/ 3587 w 4205"/>
                <a:gd name="T93" fmla="*/ 1534 h 3448"/>
                <a:gd name="T94" fmla="*/ 3461 w 4205"/>
                <a:gd name="T95" fmla="*/ 1671 h 3448"/>
                <a:gd name="T96" fmla="*/ 3460 w 4205"/>
                <a:gd name="T97" fmla="*/ 1671 h 3448"/>
                <a:gd name="T98" fmla="*/ 3460 w 4205"/>
                <a:gd name="T99" fmla="*/ 1696 h 3448"/>
                <a:gd name="T100" fmla="*/ 3460 w 4205"/>
                <a:gd name="T101" fmla="*/ 2524 h 3448"/>
                <a:gd name="T102" fmla="*/ 3460 w 4205"/>
                <a:gd name="T103" fmla="*/ 2532 h 3448"/>
                <a:gd name="T104" fmla="*/ 3460 w 4205"/>
                <a:gd name="T105" fmla="*/ 2703 h 3448"/>
                <a:gd name="T106" fmla="*/ 2527 w 4205"/>
                <a:gd name="T107" fmla="*/ 2703 h 3448"/>
                <a:gd name="T108" fmla="*/ 2508 w 4205"/>
                <a:gd name="T109" fmla="*/ 2703 h 3448"/>
                <a:gd name="T110" fmla="*/ 2376 w 4205"/>
                <a:gd name="T111" fmla="*/ 2772 h 3448"/>
                <a:gd name="T112" fmla="*/ 2380 w 4205"/>
                <a:gd name="T113" fmla="*/ 2904 h 3448"/>
                <a:gd name="T114" fmla="*/ 2463 w 4205"/>
                <a:gd name="T115" fmla="*/ 3157 h 3448"/>
                <a:gd name="T116" fmla="*/ 2137 w 4205"/>
                <a:gd name="T117" fmla="*/ 3448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05" h="3448">
                  <a:moveTo>
                    <a:pt x="2137" y="3448"/>
                  </a:moveTo>
                  <a:cubicBezTo>
                    <a:pt x="1957" y="3448"/>
                    <a:pt x="1810" y="3317"/>
                    <a:pt x="1810" y="3157"/>
                  </a:cubicBezTo>
                  <a:cubicBezTo>
                    <a:pt x="1810" y="3074"/>
                    <a:pt x="1893" y="2906"/>
                    <a:pt x="1893" y="2904"/>
                  </a:cubicBezTo>
                  <a:cubicBezTo>
                    <a:pt x="1917" y="2856"/>
                    <a:pt x="1918" y="2809"/>
                    <a:pt x="1897" y="2772"/>
                  </a:cubicBezTo>
                  <a:cubicBezTo>
                    <a:pt x="1875" y="2734"/>
                    <a:pt x="1832" y="2710"/>
                    <a:pt x="1775" y="2704"/>
                  </a:cubicBezTo>
                  <a:lnTo>
                    <a:pt x="1775" y="2703"/>
                  </a:lnTo>
                  <a:cubicBezTo>
                    <a:pt x="1770" y="2703"/>
                    <a:pt x="1762" y="2703"/>
                    <a:pt x="1749" y="2703"/>
                  </a:cubicBezTo>
                  <a:lnTo>
                    <a:pt x="743" y="2703"/>
                  </a:lnTo>
                  <a:cubicBezTo>
                    <a:pt x="743" y="2666"/>
                    <a:pt x="744" y="2517"/>
                    <a:pt x="744" y="2505"/>
                  </a:cubicBezTo>
                  <a:lnTo>
                    <a:pt x="744" y="2118"/>
                  </a:lnTo>
                  <a:lnTo>
                    <a:pt x="744" y="2110"/>
                  </a:lnTo>
                  <a:lnTo>
                    <a:pt x="745" y="1700"/>
                  </a:lnTo>
                  <a:lnTo>
                    <a:pt x="744" y="1681"/>
                  </a:lnTo>
                  <a:cubicBezTo>
                    <a:pt x="738" y="1591"/>
                    <a:pt x="689" y="1533"/>
                    <a:pt x="617" y="1533"/>
                  </a:cubicBezTo>
                  <a:cubicBezTo>
                    <a:pt x="594" y="1533"/>
                    <a:pt x="569" y="1540"/>
                    <a:pt x="543" y="1552"/>
                  </a:cubicBezTo>
                  <a:cubicBezTo>
                    <a:pt x="542" y="1553"/>
                    <a:pt x="373" y="1635"/>
                    <a:pt x="291" y="1635"/>
                  </a:cubicBezTo>
                  <a:cubicBezTo>
                    <a:pt x="130" y="1635"/>
                    <a:pt x="0" y="1489"/>
                    <a:pt x="0" y="1309"/>
                  </a:cubicBezTo>
                  <a:cubicBezTo>
                    <a:pt x="0" y="1129"/>
                    <a:pt x="130" y="983"/>
                    <a:pt x="291" y="983"/>
                  </a:cubicBezTo>
                  <a:cubicBezTo>
                    <a:pt x="373" y="983"/>
                    <a:pt x="542" y="1065"/>
                    <a:pt x="543" y="1066"/>
                  </a:cubicBezTo>
                  <a:cubicBezTo>
                    <a:pt x="569" y="1078"/>
                    <a:pt x="594" y="1085"/>
                    <a:pt x="617" y="1085"/>
                  </a:cubicBezTo>
                  <a:cubicBezTo>
                    <a:pt x="686" y="1085"/>
                    <a:pt x="735" y="1031"/>
                    <a:pt x="743" y="948"/>
                  </a:cubicBezTo>
                  <a:lnTo>
                    <a:pt x="745" y="948"/>
                  </a:lnTo>
                  <a:cubicBezTo>
                    <a:pt x="745" y="943"/>
                    <a:pt x="745" y="934"/>
                    <a:pt x="745" y="922"/>
                  </a:cubicBezTo>
                  <a:lnTo>
                    <a:pt x="744" y="143"/>
                  </a:lnTo>
                  <a:lnTo>
                    <a:pt x="744" y="0"/>
                  </a:lnTo>
                  <a:lnTo>
                    <a:pt x="1749" y="0"/>
                  </a:lnTo>
                  <a:cubicBezTo>
                    <a:pt x="1755" y="0"/>
                    <a:pt x="1760" y="0"/>
                    <a:pt x="1764" y="0"/>
                  </a:cubicBezTo>
                  <a:lnTo>
                    <a:pt x="1764" y="0"/>
                  </a:lnTo>
                  <a:cubicBezTo>
                    <a:pt x="1820" y="4"/>
                    <a:pt x="1862" y="25"/>
                    <a:pt x="1882" y="61"/>
                  </a:cubicBezTo>
                  <a:cubicBezTo>
                    <a:pt x="1901" y="93"/>
                    <a:pt x="1900" y="134"/>
                    <a:pt x="1879" y="177"/>
                  </a:cubicBezTo>
                  <a:cubicBezTo>
                    <a:pt x="1875" y="184"/>
                    <a:pt x="1794" y="351"/>
                    <a:pt x="1794" y="438"/>
                  </a:cubicBezTo>
                  <a:cubicBezTo>
                    <a:pt x="1794" y="607"/>
                    <a:pt x="1948" y="745"/>
                    <a:pt x="2137" y="745"/>
                  </a:cubicBezTo>
                  <a:cubicBezTo>
                    <a:pt x="2326" y="745"/>
                    <a:pt x="2479" y="607"/>
                    <a:pt x="2479" y="438"/>
                  </a:cubicBezTo>
                  <a:cubicBezTo>
                    <a:pt x="2479" y="351"/>
                    <a:pt x="2398" y="184"/>
                    <a:pt x="2395" y="177"/>
                  </a:cubicBezTo>
                  <a:cubicBezTo>
                    <a:pt x="2374" y="134"/>
                    <a:pt x="2372" y="93"/>
                    <a:pt x="2391" y="61"/>
                  </a:cubicBezTo>
                  <a:cubicBezTo>
                    <a:pt x="2411" y="25"/>
                    <a:pt x="2453" y="4"/>
                    <a:pt x="2509" y="0"/>
                  </a:cubicBezTo>
                  <a:lnTo>
                    <a:pt x="2527" y="0"/>
                  </a:lnTo>
                  <a:lnTo>
                    <a:pt x="3460" y="0"/>
                  </a:lnTo>
                  <a:lnTo>
                    <a:pt x="3460" y="919"/>
                  </a:lnTo>
                  <a:lnTo>
                    <a:pt x="3460" y="938"/>
                  </a:lnTo>
                  <a:cubicBezTo>
                    <a:pt x="3466" y="1027"/>
                    <a:pt x="3516" y="1085"/>
                    <a:pt x="3587" y="1085"/>
                  </a:cubicBezTo>
                  <a:cubicBezTo>
                    <a:pt x="3611" y="1085"/>
                    <a:pt x="3636" y="1078"/>
                    <a:pt x="3661" y="1066"/>
                  </a:cubicBezTo>
                  <a:cubicBezTo>
                    <a:pt x="3663" y="1065"/>
                    <a:pt x="3831" y="983"/>
                    <a:pt x="3914" y="983"/>
                  </a:cubicBezTo>
                  <a:cubicBezTo>
                    <a:pt x="4074" y="983"/>
                    <a:pt x="4205" y="1129"/>
                    <a:pt x="4205" y="1309"/>
                  </a:cubicBezTo>
                  <a:cubicBezTo>
                    <a:pt x="4205" y="1489"/>
                    <a:pt x="4074" y="1635"/>
                    <a:pt x="3914" y="1635"/>
                  </a:cubicBezTo>
                  <a:cubicBezTo>
                    <a:pt x="3831" y="1635"/>
                    <a:pt x="3663" y="1553"/>
                    <a:pt x="3661" y="1552"/>
                  </a:cubicBezTo>
                  <a:cubicBezTo>
                    <a:pt x="3636" y="1540"/>
                    <a:pt x="3611" y="1534"/>
                    <a:pt x="3587" y="1534"/>
                  </a:cubicBezTo>
                  <a:cubicBezTo>
                    <a:pt x="3518" y="1534"/>
                    <a:pt x="3470" y="1587"/>
                    <a:pt x="3461" y="1671"/>
                  </a:cubicBezTo>
                  <a:lnTo>
                    <a:pt x="3460" y="1671"/>
                  </a:lnTo>
                  <a:cubicBezTo>
                    <a:pt x="3460" y="1676"/>
                    <a:pt x="3460" y="1684"/>
                    <a:pt x="3460" y="1696"/>
                  </a:cubicBezTo>
                  <a:lnTo>
                    <a:pt x="3460" y="2524"/>
                  </a:lnTo>
                  <a:lnTo>
                    <a:pt x="3460" y="2532"/>
                  </a:lnTo>
                  <a:lnTo>
                    <a:pt x="3460" y="2703"/>
                  </a:lnTo>
                  <a:lnTo>
                    <a:pt x="2527" y="2703"/>
                  </a:lnTo>
                  <a:lnTo>
                    <a:pt x="2508" y="2703"/>
                  </a:lnTo>
                  <a:cubicBezTo>
                    <a:pt x="2446" y="2707"/>
                    <a:pt x="2399" y="2732"/>
                    <a:pt x="2376" y="2772"/>
                  </a:cubicBezTo>
                  <a:cubicBezTo>
                    <a:pt x="2355" y="2809"/>
                    <a:pt x="2356" y="2856"/>
                    <a:pt x="2380" y="2904"/>
                  </a:cubicBezTo>
                  <a:cubicBezTo>
                    <a:pt x="2381" y="2906"/>
                    <a:pt x="2463" y="3074"/>
                    <a:pt x="2463" y="3157"/>
                  </a:cubicBezTo>
                  <a:cubicBezTo>
                    <a:pt x="2463" y="3317"/>
                    <a:pt x="2316" y="3448"/>
                    <a:pt x="2137" y="3448"/>
                  </a:cubicBezTo>
                </a:path>
              </a:pathLst>
            </a:custGeom>
            <a:solidFill>
              <a:schemeClr val="accent3">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33" name="TextBox 32">
              <a:extLst>
                <a:ext uri="{FF2B5EF4-FFF2-40B4-BE49-F238E27FC236}">
                  <a16:creationId xmlns:a16="http://schemas.microsoft.com/office/drawing/2014/main" id="{1CF3D38F-35AD-FFF1-830E-2BA9CA40E401}"/>
                </a:ext>
              </a:extLst>
            </p:cNvPr>
            <p:cNvSpPr txBox="1"/>
            <p:nvPr/>
          </p:nvSpPr>
          <p:spPr>
            <a:xfrm>
              <a:off x="5668641" y="4599363"/>
              <a:ext cx="854717" cy="646331"/>
            </a:xfrm>
            <a:prstGeom prst="rect">
              <a:avLst/>
            </a:prstGeom>
            <a:noFill/>
          </p:spPr>
          <p:txBody>
            <a:bodyPr wrap="square" rtlCol="0">
              <a:spAutoFit/>
            </a:bodyPr>
            <a:lstStyle/>
            <a:p>
              <a:r>
                <a:rPr lang="en-US" sz="3600" b="1">
                  <a:solidFill>
                    <a:schemeClr val="bg1"/>
                  </a:solidFill>
                </a:rPr>
                <a:t>03</a:t>
              </a:r>
            </a:p>
          </p:txBody>
        </p:sp>
      </p:grpSp>
    </p:spTree>
    <p:extLst>
      <p:ext uri="{BB962C8B-B14F-4D97-AF65-F5344CB8AC3E}">
        <p14:creationId xmlns:p14="http://schemas.microsoft.com/office/powerpoint/2010/main" val="194222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750"/>
                                        <p:tgtEl>
                                          <p:spTgt spid="9"/>
                                        </p:tgtEl>
                                      </p:cBhvr>
                                    </p:animEffect>
                                  </p:childTnLst>
                                </p:cTn>
                              </p:par>
                            </p:childTnLst>
                          </p:cTn>
                        </p:par>
                        <p:par>
                          <p:cTn id="11" fill="hold">
                            <p:stCondLst>
                              <p:cond delay="75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5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50"/>
                                        <p:tgtEl>
                                          <p:spTgt spid="10"/>
                                        </p:tgtEl>
                                      </p:cBhvr>
                                    </p:animEffect>
                                  </p:childTnLst>
                                </p:cTn>
                              </p:par>
                            </p:childTnLst>
                          </p:cTn>
                        </p:par>
                        <p:par>
                          <p:cTn id="23" fill="hold">
                            <p:stCondLst>
                              <p:cond delay="750"/>
                            </p:stCondLst>
                            <p:childTnLst>
                              <p:par>
                                <p:cTn id="24" presetID="10" presetClass="entr" presetSubtype="0"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75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750"/>
                                        <p:tgtEl>
                                          <p:spTgt spid="8"/>
                                        </p:tgtEl>
                                      </p:cBhvr>
                                    </p:animEffect>
                                  </p:childTnLst>
                                </p:cTn>
                              </p:par>
                            </p:childTnLst>
                          </p:cTn>
                        </p:par>
                        <p:par>
                          <p:cTn id="35" fill="hold">
                            <p:stCondLst>
                              <p:cond delay="750"/>
                            </p:stCondLst>
                            <p:childTnLst>
                              <p:par>
                                <p:cTn id="36" presetID="10" presetClass="entr" presetSubtype="0" fill="hold" grpId="0"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Recap: Law of Large Numbers</a:t>
            </a:r>
          </a:p>
        </p:txBody>
      </p:sp>
      <p:sp>
        <p:nvSpPr>
          <p:cNvPr id="3" name="TextBox 2">
            <a:extLst>
              <a:ext uri="{FF2B5EF4-FFF2-40B4-BE49-F238E27FC236}">
                <a16:creationId xmlns:a16="http://schemas.microsoft.com/office/drawing/2014/main" id="{065F3557-0AD0-6E19-ABE7-42A9EC412EF7}"/>
              </a:ext>
            </a:extLst>
          </p:cNvPr>
          <p:cNvSpPr txBox="1"/>
          <p:nvPr/>
        </p:nvSpPr>
        <p:spPr>
          <a:xfrm>
            <a:off x="1532626" y="2165231"/>
            <a:ext cx="914112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cs typeface="Arial"/>
              </a:rPr>
              <a:t> Insurers handle risk in the form of pooling, following the </a:t>
            </a:r>
            <a:r>
              <a:rPr lang="en-US" sz="1600" b="1">
                <a:cs typeface="Arial"/>
              </a:rPr>
              <a:t>Law of Large Numbers. </a:t>
            </a:r>
            <a:r>
              <a:rPr lang="en-US" sz="1600">
                <a:cs typeface="Arial"/>
              </a:rPr>
              <a:t>​</a:t>
            </a:r>
            <a:endParaRPr lang="en-US" sz="1600">
              <a:ea typeface="Verdana"/>
              <a:cs typeface="Arial"/>
            </a:endParaRPr>
          </a:p>
        </p:txBody>
      </p:sp>
      <p:sp>
        <p:nvSpPr>
          <p:cNvPr id="6" name="TextBox 5">
            <a:extLst>
              <a:ext uri="{FF2B5EF4-FFF2-40B4-BE49-F238E27FC236}">
                <a16:creationId xmlns:a16="http://schemas.microsoft.com/office/drawing/2014/main" id="{7AE15CF6-427C-A738-F244-2BDD4107AFBE}"/>
              </a:ext>
            </a:extLst>
          </p:cNvPr>
          <p:cNvSpPr txBox="1"/>
          <p:nvPr/>
        </p:nvSpPr>
        <p:spPr>
          <a:xfrm>
            <a:off x="1532627" y="3027871"/>
            <a:ext cx="925614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cs typeface="Arial"/>
              </a:rPr>
              <a:t>The Law of Large Numbers tells us that it is possible to accurately predict what will happen to a large group of similar risks. The larger the group becomes, the more accurate the predictions become. These statistics allow insurance companies to more accurately predict future losses.​</a:t>
            </a:r>
            <a:endParaRPr lang="en-US">
              <a:ea typeface="Verdana"/>
            </a:endParaRPr>
          </a:p>
        </p:txBody>
      </p:sp>
      <p:sp>
        <p:nvSpPr>
          <p:cNvPr id="13" name="TextBox 12">
            <a:extLst>
              <a:ext uri="{FF2B5EF4-FFF2-40B4-BE49-F238E27FC236}">
                <a16:creationId xmlns:a16="http://schemas.microsoft.com/office/drawing/2014/main" id="{183A5A20-B02F-F56B-3C51-2FCDEDA73EC6}"/>
              </a:ext>
            </a:extLst>
          </p:cNvPr>
          <p:cNvSpPr txBox="1"/>
          <p:nvPr/>
        </p:nvSpPr>
        <p:spPr>
          <a:xfrm>
            <a:off x="1532626" y="4595004"/>
            <a:ext cx="9371161"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F</a:t>
            </a:r>
            <a:r>
              <a:rPr lang="en-US" sz="1600">
                <a:cs typeface="Arial"/>
              </a:rPr>
              <a:t>or example, with property and casualty insurance, the company has no idea which houses will burn this year, but rather approximately how many house fires will occur during the year. Companies must know this information before they can set insurance premiums.​</a:t>
            </a:r>
          </a:p>
        </p:txBody>
      </p:sp>
    </p:spTree>
    <p:extLst>
      <p:ext uri="{BB962C8B-B14F-4D97-AF65-F5344CB8AC3E}">
        <p14:creationId xmlns:p14="http://schemas.microsoft.com/office/powerpoint/2010/main" val="1525736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Fundamental Principles of Insurance</a:t>
            </a:r>
          </a:p>
        </p:txBody>
      </p:sp>
      <p:pic>
        <p:nvPicPr>
          <p:cNvPr id="4" name="Picture Placeholder 3" descr="Briefcase">
            <a:extLst>
              <a:ext uri="{FF2B5EF4-FFF2-40B4-BE49-F238E27FC236}">
                <a16:creationId xmlns:a16="http://schemas.microsoft.com/office/drawing/2014/main" id="{6CE8E933-3C91-ADB5-2834-ECCDB7DA13CC}"/>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a:xfrm>
            <a:off x="336550" y="1600201"/>
            <a:ext cx="11518900" cy="4525963"/>
          </a:xfrm>
          <a:prstGeom prst="rect">
            <a:avLst/>
          </a:prstGeom>
        </p:spPr>
      </p:pic>
      <p:pic>
        <p:nvPicPr>
          <p:cNvPr id="5" name="Picture Placeholder 5" descr="Handshake">
            <a:extLst>
              <a:ext uri="{FF2B5EF4-FFF2-40B4-BE49-F238E27FC236}">
                <a16:creationId xmlns:a16="http://schemas.microsoft.com/office/drawing/2014/main" id="{7DB7A3F6-DBB1-1ED8-D67C-99A61B191B37}"/>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200" r="200"/>
          <a:stretch>
            <a:fillRect/>
          </a:stretch>
        </p:blipFill>
        <p:spPr>
          <a:xfrm>
            <a:off x="336550" y="1600201"/>
            <a:ext cx="11518900" cy="4525963"/>
          </a:xfrm>
          <a:prstGeom prst="rect">
            <a:avLst/>
          </a:prstGeom>
        </p:spPr>
      </p:pic>
      <p:pic>
        <p:nvPicPr>
          <p:cNvPr id="7" name="Picture Placeholder 7" descr="Flowchart">
            <a:extLst>
              <a:ext uri="{FF2B5EF4-FFF2-40B4-BE49-F238E27FC236}">
                <a16:creationId xmlns:a16="http://schemas.microsoft.com/office/drawing/2014/main" id="{89FCEBF2-18CA-B40C-A579-523A6FC7A1D2}"/>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rcRect t="200" b="200"/>
          <a:stretch>
            <a:fillRect/>
          </a:stretch>
        </p:blipFill>
        <p:spPr>
          <a:xfrm>
            <a:off x="336550" y="1600201"/>
            <a:ext cx="11518900" cy="4525963"/>
          </a:xfrm>
          <a:prstGeom prst="rect">
            <a:avLst/>
          </a:prstGeom>
        </p:spPr>
      </p:pic>
      <p:pic>
        <p:nvPicPr>
          <p:cNvPr id="8" name="Picture Placeholder 9" descr="Group brainstorm">
            <a:extLst>
              <a:ext uri="{FF2B5EF4-FFF2-40B4-BE49-F238E27FC236}">
                <a16:creationId xmlns:a16="http://schemas.microsoft.com/office/drawing/2014/main" id="{9FBE0902-A6BE-770C-96C3-2F321D62578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a:stretch>
            <a:fillRect/>
          </a:stretch>
        </p:blipFill>
        <p:spPr>
          <a:xfrm>
            <a:off x="336550" y="1600201"/>
            <a:ext cx="11518900" cy="4525963"/>
          </a:xfrm>
          <a:prstGeom prst="rect">
            <a:avLst/>
          </a:prstGeom>
        </p:spPr>
      </p:pic>
      <p:pic>
        <p:nvPicPr>
          <p:cNvPr id="9" name="Picture Placeholder 16" descr="List RTL">
            <a:extLst>
              <a:ext uri="{FF2B5EF4-FFF2-40B4-BE49-F238E27FC236}">
                <a16:creationId xmlns:a16="http://schemas.microsoft.com/office/drawing/2014/main" id="{CAC709EC-F33B-5E1B-F3CC-E96B9C5009ED}"/>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a:fillRect/>
          </a:stretch>
        </p:blipFill>
        <p:spPr>
          <a:xfrm>
            <a:off x="336550" y="1600201"/>
            <a:ext cx="11518900" cy="4525963"/>
          </a:xfrm>
          <a:prstGeom prst="rect">
            <a:avLst/>
          </a:prstGeom>
        </p:spPr>
      </p:pic>
      <p:sp>
        <p:nvSpPr>
          <p:cNvPr id="10" name="Text Placeholder 1">
            <a:extLst>
              <a:ext uri="{FF2B5EF4-FFF2-40B4-BE49-F238E27FC236}">
                <a16:creationId xmlns:a16="http://schemas.microsoft.com/office/drawing/2014/main" id="{555928F2-8723-F1E6-FD67-6A3071AE4613}"/>
              </a:ext>
            </a:extLst>
          </p:cNvPr>
          <p:cNvSpPr txBox="1">
            <a:spLocks/>
          </p:cNvSpPr>
          <p:nvPr/>
        </p:nvSpPr>
        <p:spPr>
          <a:xfrm>
            <a:off x="9086372" y="1719952"/>
            <a:ext cx="2954474" cy="1357713"/>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Verdana" panose="020B0604030504040204" pitchFamily="34" charset="0"/>
              <a:buNone/>
            </a:pPr>
            <a:r>
              <a:rPr lang="en-US" sz="1600" b="1" dirty="0"/>
              <a:t>Subrogation</a:t>
            </a:r>
          </a:p>
          <a:p>
            <a:r>
              <a:rPr lang="en-US" sz="1200" dirty="0"/>
              <a:t>Enables insured to claim recovery amount from the responsible 3</a:t>
            </a:r>
            <a:r>
              <a:rPr lang="en-US" sz="1200" baseline="30000" dirty="0"/>
              <a:t>rd</a:t>
            </a:r>
            <a:r>
              <a:rPr lang="en-US" sz="1200" dirty="0"/>
              <a:t> party</a:t>
            </a:r>
          </a:p>
          <a:p>
            <a:r>
              <a:rPr lang="en-US" sz="1200" dirty="0"/>
              <a:t>Allows insurer to pursue legal methods to recover loss amount</a:t>
            </a:r>
          </a:p>
        </p:txBody>
      </p:sp>
      <p:sp>
        <p:nvSpPr>
          <p:cNvPr id="11" name="Text Placeholder 18">
            <a:extLst>
              <a:ext uri="{FF2B5EF4-FFF2-40B4-BE49-F238E27FC236}">
                <a16:creationId xmlns:a16="http://schemas.microsoft.com/office/drawing/2014/main" id="{E98774DD-CE68-FB8F-73C3-DE7C914C8CD0}"/>
              </a:ext>
            </a:extLst>
          </p:cNvPr>
          <p:cNvSpPr txBox="1">
            <a:spLocks/>
          </p:cNvSpPr>
          <p:nvPr/>
        </p:nvSpPr>
        <p:spPr>
          <a:xfrm>
            <a:off x="9120902" y="3412067"/>
            <a:ext cx="2954474" cy="1357713"/>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Verdana" panose="020B0604030504040204" pitchFamily="34" charset="0"/>
              <a:buNone/>
            </a:pPr>
            <a:r>
              <a:rPr lang="en-US" sz="1600" b="1" dirty="0"/>
              <a:t>Contribution</a:t>
            </a:r>
          </a:p>
          <a:p>
            <a:r>
              <a:rPr lang="en-US" sz="1200" dirty="0"/>
              <a:t>Applicable when an insured has more than 1 policy for the same asset/entity</a:t>
            </a:r>
          </a:p>
          <a:p>
            <a:r>
              <a:rPr lang="en-US" sz="1200" dirty="0"/>
              <a:t>Insured can’t gain profit from it</a:t>
            </a:r>
          </a:p>
        </p:txBody>
      </p:sp>
      <p:sp>
        <p:nvSpPr>
          <p:cNvPr id="12" name="Text Placeholder 19">
            <a:extLst>
              <a:ext uri="{FF2B5EF4-FFF2-40B4-BE49-F238E27FC236}">
                <a16:creationId xmlns:a16="http://schemas.microsoft.com/office/drawing/2014/main" id="{F36AE746-DD27-9BF8-37FB-173813F8EB6B}"/>
              </a:ext>
            </a:extLst>
          </p:cNvPr>
          <p:cNvSpPr txBox="1">
            <a:spLocks/>
          </p:cNvSpPr>
          <p:nvPr/>
        </p:nvSpPr>
        <p:spPr>
          <a:xfrm>
            <a:off x="9198340" y="5104182"/>
            <a:ext cx="2908643" cy="1352815"/>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Verdana" panose="020B0604030504040204" pitchFamily="34" charset="0"/>
              <a:buNone/>
            </a:pPr>
            <a:r>
              <a:rPr lang="en-US" sz="1600" b="1" dirty="0"/>
              <a:t>Proximate Cause</a:t>
            </a:r>
          </a:p>
          <a:p>
            <a:r>
              <a:rPr lang="en-US" sz="1200" dirty="0"/>
              <a:t>Means ‘nearest/direct cause’</a:t>
            </a:r>
          </a:p>
          <a:p>
            <a:r>
              <a:rPr lang="en-US" sz="1200" dirty="0"/>
              <a:t>Applicable when more than 2 causes of losses exist</a:t>
            </a:r>
          </a:p>
          <a:p>
            <a:r>
              <a:rPr lang="en-US" sz="1200" dirty="0"/>
              <a:t>The most effective cause of loss is considered</a:t>
            </a:r>
          </a:p>
        </p:txBody>
      </p:sp>
      <p:sp>
        <p:nvSpPr>
          <p:cNvPr id="14" name="Text Placeholder 20">
            <a:extLst>
              <a:ext uri="{FF2B5EF4-FFF2-40B4-BE49-F238E27FC236}">
                <a16:creationId xmlns:a16="http://schemas.microsoft.com/office/drawing/2014/main" id="{C934A905-0303-B916-186F-383E70BC5B17}"/>
              </a:ext>
            </a:extLst>
          </p:cNvPr>
          <p:cNvSpPr txBox="1">
            <a:spLocks/>
          </p:cNvSpPr>
          <p:nvPr/>
        </p:nvSpPr>
        <p:spPr>
          <a:xfrm>
            <a:off x="116624" y="1801044"/>
            <a:ext cx="2954474" cy="1357712"/>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1600" b="1" dirty="0"/>
              <a:t>Utmost good faith</a:t>
            </a:r>
          </a:p>
          <a:p>
            <a:r>
              <a:rPr lang="en-IN" sz="1200" dirty="0"/>
              <a:t>Both parties must disclose all facts</a:t>
            </a:r>
          </a:p>
          <a:p>
            <a:r>
              <a:rPr lang="en-IN" sz="1200" dirty="0"/>
              <a:t>Both parties must have faith over each other</a:t>
            </a:r>
            <a:endParaRPr lang="en-IN" dirty="0"/>
          </a:p>
        </p:txBody>
      </p:sp>
      <p:sp>
        <p:nvSpPr>
          <p:cNvPr id="15" name="Text Placeholder 21">
            <a:extLst>
              <a:ext uri="{FF2B5EF4-FFF2-40B4-BE49-F238E27FC236}">
                <a16:creationId xmlns:a16="http://schemas.microsoft.com/office/drawing/2014/main" id="{1B09FA0B-F9DD-3FBD-2385-8E93B7C61BEC}"/>
              </a:ext>
            </a:extLst>
          </p:cNvPr>
          <p:cNvSpPr txBox="1">
            <a:spLocks/>
          </p:cNvSpPr>
          <p:nvPr/>
        </p:nvSpPr>
        <p:spPr>
          <a:xfrm>
            <a:off x="178048" y="3319963"/>
            <a:ext cx="2995279" cy="1357712"/>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t>Indemnity</a:t>
            </a:r>
          </a:p>
          <a:p>
            <a:r>
              <a:rPr lang="en-US" sz="1200" dirty="0"/>
              <a:t>To set back insured to pre-loss financial state</a:t>
            </a:r>
          </a:p>
          <a:p>
            <a:r>
              <a:rPr lang="en-US" sz="1200" dirty="0"/>
              <a:t>Provides security/compensation against loss/damage for the exact loss amount</a:t>
            </a:r>
          </a:p>
        </p:txBody>
      </p:sp>
      <p:sp>
        <p:nvSpPr>
          <p:cNvPr id="16" name="Text Placeholder 22">
            <a:extLst>
              <a:ext uri="{FF2B5EF4-FFF2-40B4-BE49-F238E27FC236}">
                <a16:creationId xmlns:a16="http://schemas.microsoft.com/office/drawing/2014/main" id="{75FEF985-9A7E-9C1F-D052-8EE98B94B44A}"/>
              </a:ext>
            </a:extLst>
          </p:cNvPr>
          <p:cNvSpPr txBox="1">
            <a:spLocks/>
          </p:cNvSpPr>
          <p:nvPr/>
        </p:nvSpPr>
        <p:spPr>
          <a:xfrm>
            <a:off x="174542" y="5144502"/>
            <a:ext cx="2995279" cy="1352815"/>
          </a:xfrm>
          <a:prstGeom prst="roundRect">
            <a:avLst>
              <a:gd name="adj" fmla="val 7886"/>
            </a:avLst>
          </a:prstGeom>
        </p:spPr>
        <p:txBody>
          <a:bodyPr/>
          <a:lst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Verdana" panose="020B0604030504040204" pitchFamily="34" charset="0"/>
              <a:buNone/>
            </a:pPr>
            <a:r>
              <a:rPr lang="en-US" sz="1600" b="1" dirty="0"/>
              <a:t>Insurable Interest</a:t>
            </a:r>
          </a:p>
          <a:p>
            <a:r>
              <a:rPr lang="en-US" sz="1150" dirty="0"/>
              <a:t>Insured must have interest in the subject matter at the time of purchase of the policy</a:t>
            </a:r>
          </a:p>
          <a:p>
            <a:r>
              <a:rPr lang="en-US" sz="1150" dirty="0"/>
              <a:t>If there is no insured insurable interest, policy would be null &amp; void</a:t>
            </a:r>
          </a:p>
        </p:txBody>
      </p:sp>
      <p:sp>
        <p:nvSpPr>
          <p:cNvPr id="17" name="Picture Placeholder 40">
            <a:extLst>
              <a:ext uri="{FF2B5EF4-FFF2-40B4-BE49-F238E27FC236}">
                <a16:creationId xmlns:a16="http://schemas.microsoft.com/office/drawing/2014/main" id="{957B4395-FF31-F573-5704-FA460C37F119}"/>
              </a:ext>
            </a:extLst>
          </p:cNvPr>
          <p:cNvSpPr txBox="1">
            <a:spLocks/>
          </p:cNvSpPr>
          <p:nvPr/>
        </p:nvSpPr>
        <p:spPr>
          <a:xfrm>
            <a:off x="8239813" y="3680013"/>
            <a:ext cx="596896" cy="596896"/>
          </a:xfrm>
          <a:prstGeom prst="ellipse">
            <a:avLst/>
          </a:prstGeom>
          <a:solidFill>
            <a:srgbClr val="FF8A2B"/>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grpSp>
        <p:nvGrpSpPr>
          <p:cNvPr id="18" name="Group 17">
            <a:extLst>
              <a:ext uri="{FF2B5EF4-FFF2-40B4-BE49-F238E27FC236}">
                <a16:creationId xmlns:a16="http://schemas.microsoft.com/office/drawing/2014/main" id="{E23DDDBF-B8A5-C8A0-6569-462401EC3CAB}"/>
              </a:ext>
            </a:extLst>
          </p:cNvPr>
          <p:cNvGrpSpPr/>
          <p:nvPr/>
        </p:nvGrpSpPr>
        <p:grpSpPr>
          <a:xfrm>
            <a:off x="4204614" y="1897588"/>
            <a:ext cx="3763230" cy="3695492"/>
            <a:chOff x="4204614" y="1897588"/>
            <a:chExt cx="3763230" cy="3695492"/>
          </a:xfrm>
        </p:grpSpPr>
        <p:grpSp>
          <p:nvGrpSpPr>
            <p:cNvPr id="19" name="Group 18">
              <a:extLst>
                <a:ext uri="{FF2B5EF4-FFF2-40B4-BE49-F238E27FC236}">
                  <a16:creationId xmlns:a16="http://schemas.microsoft.com/office/drawing/2014/main" id="{6579C3EB-9120-D6D8-2418-A278C5D6B5F7}"/>
                </a:ext>
              </a:extLst>
            </p:cNvPr>
            <p:cNvGrpSpPr/>
            <p:nvPr/>
          </p:nvGrpSpPr>
          <p:grpSpPr>
            <a:xfrm>
              <a:off x="4204614" y="1897588"/>
              <a:ext cx="3763230" cy="3695492"/>
              <a:chOff x="4519379" y="1888451"/>
              <a:chExt cx="3147095" cy="3166151"/>
            </a:xfrm>
          </p:grpSpPr>
          <p:sp>
            <p:nvSpPr>
              <p:cNvPr id="21" name="Oval 20">
                <a:extLst>
                  <a:ext uri="{FF2B5EF4-FFF2-40B4-BE49-F238E27FC236}">
                    <a16:creationId xmlns:a16="http://schemas.microsoft.com/office/drawing/2014/main" id="{6182A39C-348A-3DE5-3771-879989BB2909}"/>
                  </a:ext>
                </a:extLst>
              </p:cNvPr>
              <p:cNvSpPr>
                <a:spLocks noChangeArrowheads="1"/>
              </p:cNvSpPr>
              <p:nvPr/>
            </p:nvSpPr>
            <p:spPr bwMode="auto">
              <a:xfrm>
                <a:off x="5470690" y="2838296"/>
                <a:ext cx="1245206" cy="1245939"/>
              </a:xfrm>
              <a:prstGeom prst="ellipse">
                <a:avLst/>
              </a:prstGeom>
              <a:no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13">
                <a:extLst>
                  <a:ext uri="{FF2B5EF4-FFF2-40B4-BE49-F238E27FC236}">
                    <a16:creationId xmlns:a16="http://schemas.microsoft.com/office/drawing/2014/main" id="{0FF2EACC-9951-B1DB-3F5E-04A374CEDD85}"/>
                  </a:ext>
                </a:extLst>
              </p:cNvPr>
              <p:cNvSpPr>
                <a:spLocks/>
              </p:cNvSpPr>
              <p:nvPr/>
            </p:nvSpPr>
            <p:spPr bwMode="auto">
              <a:xfrm>
                <a:off x="6799447" y="2701243"/>
                <a:ext cx="867027" cy="1373465"/>
              </a:xfrm>
              <a:custGeom>
                <a:avLst/>
                <a:gdLst>
                  <a:gd name="T0" fmla="*/ 364 w 757"/>
                  <a:gd name="T1" fmla="*/ 384 h 1200"/>
                  <a:gd name="T2" fmla="*/ 0 w 757"/>
                  <a:gd name="T3" fmla="*/ 383 h 1200"/>
                  <a:gd name="T4" fmla="*/ 61 w 757"/>
                  <a:gd name="T5" fmla="*/ 665 h 1200"/>
                  <a:gd name="T6" fmla="*/ 29 w 757"/>
                  <a:gd name="T7" fmla="*/ 871 h 1200"/>
                  <a:gd name="T8" fmla="*/ 218 w 757"/>
                  <a:gd name="T9" fmla="*/ 1200 h 1200"/>
                  <a:gd name="T10" fmla="*/ 649 w 757"/>
                  <a:gd name="T11" fmla="*/ 1199 h 1200"/>
                  <a:gd name="T12" fmla="*/ 757 w 757"/>
                  <a:gd name="T13" fmla="*/ 665 h 1200"/>
                  <a:gd name="T14" fmla="*/ 585 w 757"/>
                  <a:gd name="T15" fmla="*/ 0 h 1200"/>
                  <a:gd name="T16" fmla="*/ 364 w 757"/>
                  <a:gd name="T17" fmla="*/ 384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64" y="384"/>
                    </a:moveTo>
                    <a:cubicBezTo>
                      <a:pt x="0" y="383"/>
                      <a:pt x="0" y="383"/>
                      <a:pt x="0" y="383"/>
                    </a:cubicBezTo>
                    <a:cubicBezTo>
                      <a:pt x="39" y="469"/>
                      <a:pt x="61" y="565"/>
                      <a:pt x="61" y="665"/>
                    </a:cubicBezTo>
                    <a:cubicBezTo>
                      <a:pt x="61" y="737"/>
                      <a:pt x="50" y="806"/>
                      <a:pt x="29" y="871"/>
                    </a:cubicBezTo>
                    <a:cubicBezTo>
                      <a:pt x="218" y="1200"/>
                      <a:pt x="218" y="1200"/>
                      <a:pt x="218" y="1200"/>
                    </a:cubicBezTo>
                    <a:cubicBezTo>
                      <a:pt x="649" y="1199"/>
                      <a:pt x="649" y="1199"/>
                      <a:pt x="649" y="1199"/>
                    </a:cubicBezTo>
                    <a:cubicBezTo>
                      <a:pt x="719" y="1035"/>
                      <a:pt x="757" y="854"/>
                      <a:pt x="757" y="665"/>
                    </a:cubicBezTo>
                    <a:cubicBezTo>
                      <a:pt x="757" y="424"/>
                      <a:pt x="695" y="197"/>
                      <a:pt x="585" y="0"/>
                    </a:cubicBezTo>
                    <a:lnTo>
                      <a:pt x="364" y="384"/>
                    </a:lnTo>
                    <a:close/>
                  </a:path>
                </a:pathLst>
              </a:custGeom>
              <a:solidFill>
                <a:schemeClr val="accent3">
                  <a:lumMod val="50000"/>
                </a:schemeClr>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3" name="Freeform 14">
                <a:extLst>
                  <a:ext uri="{FF2B5EF4-FFF2-40B4-BE49-F238E27FC236}">
                    <a16:creationId xmlns:a16="http://schemas.microsoft.com/office/drawing/2014/main" id="{A418479E-F963-FBA8-B29F-EB307E4EF747}"/>
                  </a:ext>
                </a:extLst>
              </p:cNvPr>
              <p:cNvSpPr>
                <a:spLocks/>
              </p:cNvSpPr>
              <p:nvPr/>
            </p:nvSpPr>
            <p:spPr bwMode="auto">
              <a:xfrm>
                <a:off x="4745847" y="1902376"/>
                <a:ext cx="1399116" cy="1110352"/>
              </a:xfrm>
              <a:custGeom>
                <a:avLst/>
                <a:gdLst>
                  <a:gd name="T0" fmla="*/ 443 w 1222"/>
                  <a:gd name="T1" fmla="*/ 654 h 970"/>
                  <a:gd name="T2" fmla="*/ 625 w 1222"/>
                  <a:gd name="T3" fmla="*/ 970 h 970"/>
                  <a:gd name="T4" fmla="*/ 1033 w 1222"/>
                  <a:gd name="T5" fmla="*/ 700 h 970"/>
                  <a:gd name="T6" fmla="*/ 1222 w 1222"/>
                  <a:gd name="T7" fmla="*/ 372 h 970"/>
                  <a:gd name="T8" fmla="*/ 1007 w 1222"/>
                  <a:gd name="T9" fmla="*/ 0 h 970"/>
                  <a:gd name="T10" fmla="*/ 0 w 1222"/>
                  <a:gd name="T11" fmla="*/ 654 h 970"/>
                  <a:gd name="T12" fmla="*/ 443 w 1222"/>
                  <a:gd name="T13" fmla="*/ 654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443" y="654"/>
                    </a:moveTo>
                    <a:cubicBezTo>
                      <a:pt x="625" y="970"/>
                      <a:pt x="625" y="970"/>
                      <a:pt x="625" y="970"/>
                    </a:cubicBezTo>
                    <a:cubicBezTo>
                      <a:pt x="721" y="835"/>
                      <a:pt x="865" y="737"/>
                      <a:pt x="1033" y="700"/>
                    </a:cubicBezTo>
                    <a:cubicBezTo>
                      <a:pt x="1222" y="372"/>
                      <a:pt x="1222" y="372"/>
                      <a:pt x="1222" y="372"/>
                    </a:cubicBezTo>
                    <a:cubicBezTo>
                      <a:pt x="1007" y="0"/>
                      <a:pt x="1007" y="0"/>
                      <a:pt x="1007" y="0"/>
                    </a:cubicBezTo>
                    <a:cubicBezTo>
                      <a:pt x="579" y="52"/>
                      <a:pt x="213" y="302"/>
                      <a:pt x="0" y="654"/>
                    </a:cubicBezTo>
                    <a:lnTo>
                      <a:pt x="443" y="654"/>
                    </a:lnTo>
                    <a:close/>
                  </a:path>
                </a:pathLst>
              </a:custGeom>
              <a:solidFill>
                <a:schemeClr val="accent4"/>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4" name="Freeform 15">
                <a:extLst>
                  <a:ext uri="{FF2B5EF4-FFF2-40B4-BE49-F238E27FC236}">
                    <a16:creationId xmlns:a16="http://schemas.microsoft.com/office/drawing/2014/main" id="{B2A4E806-B071-BA29-B285-54A2135F6023}"/>
                  </a:ext>
                </a:extLst>
              </p:cNvPr>
              <p:cNvSpPr>
                <a:spLocks/>
              </p:cNvSpPr>
              <p:nvPr/>
            </p:nvSpPr>
            <p:spPr bwMode="auto">
              <a:xfrm>
                <a:off x="6122243" y="1889917"/>
                <a:ext cx="1225418" cy="1050253"/>
              </a:xfrm>
              <a:custGeom>
                <a:avLst/>
                <a:gdLst>
                  <a:gd name="T0" fmla="*/ 222 w 1071"/>
                  <a:gd name="T1" fmla="*/ 383 h 918"/>
                  <a:gd name="T2" fmla="*/ 39 w 1071"/>
                  <a:gd name="T3" fmla="*/ 699 h 918"/>
                  <a:gd name="T4" fmla="*/ 476 w 1071"/>
                  <a:gd name="T5" fmla="*/ 918 h 918"/>
                  <a:gd name="T6" fmla="*/ 856 w 1071"/>
                  <a:gd name="T7" fmla="*/ 918 h 918"/>
                  <a:gd name="T8" fmla="*/ 1071 w 1071"/>
                  <a:gd name="T9" fmla="*/ 545 h 918"/>
                  <a:gd name="T10" fmla="*/ 0 w 1071"/>
                  <a:gd name="T11" fmla="*/ 0 h 918"/>
                  <a:gd name="T12" fmla="*/ 222 w 1071"/>
                  <a:gd name="T13" fmla="*/ 383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222" y="383"/>
                    </a:moveTo>
                    <a:cubicBezTo>
                      <a:pt x="39" y="699"/>
                      <a:pt x="39" y="699"/>
                      <a:pt x="39" y="699"/>
                    </a:cubicBezTo>
                    <a:cubicBezTo>
                      <a:pt x="212" y="715"/>
                      <a:pt x="366" y="796"/>
                      <a:pt x="476" y="918"/>
                    </a:cubicBezTo>
                    <a:cubicBezTo>
                      <a:pt x="856" y="918"/>
                      <a:pt x="856" y="918"/>
                      <a:pt x="856" y="918"/>
                    </a:cubicBezTo>
                    <a:cubicBezTo>
                      <a:pt x="1071" y="545"/>
                      <a:pt x="1071" y="545"/>
                      <a:pt x="1071" y="545"/>
                    </a:cubicBezTo>
                    <a:cubicBezTo>
                      <a:pt x="824" y="220"/>
                      <a:pt x="437" y="8"/>
                      <a:pt x="0" y="0"/>
                    </a:cubicBezTo>
                    <a:lnTo>
                      <a:pt x="222" y="383"/>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00DFD976-4737-3DC5-11F8-F46CF2D3F603}"/>
                  </a:ext>
                </a:extLst>
              </p:cNvPr>
              <p:cNvSpPr>
                <a:spLocks/>
              </p:cNvSpPr>
              <p:nvPr/>
            </p:nvSpPr>
            <p:spPr bwMode="auto">
              <a:xfrm>
                <a:off x="6041623" y="3912003"/>
                <a:ext cx="1399116" cy="1110352"/>
              </a:xfrm>
              <a:custGeom>
                <a:avLst/>
                <a:gdLst>
                  <a:gd name="T0" fmla="*/ 779 w 1222"/>
                  <a:gd name="T1" fmla="*/ 316 h 970"/>
                  <a:gd name="T2" fmla="*/ 597 w 1222"/>
                  <a:gd name="T3" fmla="*/ 0 h 970"/>
                  <a:gd name="T4" fmla="*/ 189 w 1222"/>
                  <a:gd name="T5" fmla="*/ 270 h 970"/>
                  <a:gd name="T6" fmla="*/ 0 w 1222"/>
                  <a:gd name="T7" fmla="*/ 597 h 970"/>
                  <a:gd name="T8" fmla="*/ 215 w 1222"/>
                  <a:gd name="T9" fmla="*/ 970 h 970"/>
                  <a:gd name="T10" fmla="*/ 1222 w 1222"/>
                  <a:gd name="T11" fmla="*/ 316 h 970"/>
                  <a:gd name="T12" fmla="*/ 779 w 1222"/>
                  <a:gd name="T13" fmla="*/ 316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779" y="316"/>
                    </a:moveTo>
                    <a:cubicBezTo>
                      <a:pt x="597" y="0"/>
                      <a:pt x="597" y="0"/>
                      <a:pt x="597" y="0"/>
                    </a:cubicBezTo>
                    <a:cubicBezTo>
                      <a:pt x="501" y="135"/>
                      <a:pt x="357" y="233"/>
                      <a:pt x="189" y="270"/>
                    </a:cubicBezTo>
                    <a:cubicBezTo>
                      <a:pt x="0" y="597"/>
                      <a:pt x="0" y="597"/>
                      <a:pt x="0" y="597"/>
                    </a:cubicBezTo>
                    <a:cubicBezTo>
                      <a:pt x="215" y="970"/>
                      <a:pt x="215" y="970"/>
                      <a:pt x="215" y="970"/>
                    </a:cubicBezTo>
                    <a:cubicBezTo>
                      <a:pt x="643" y="918"/>
                      <a:pt x="1010" y="668"/>
                      <a:pt x="1222" y="316"/>
                    </a:cubicBezTo>
                    <a:lnTo>
                      <a:pt x="779" y="316"/>
                    </a:lnTo>
                    <a:close/>
                  </a:path>
                </a:pathLst>
              </a:custGeom>
              <a:solidFill>
                <a:schemeClr val="accent4"/>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6" name="Freeform 17">
                <a:extLst>
                  <a:ext uri="{FF2B5EF4-FFF2-40B4-BE49-F238E27FC236}">
                    <a16:creationId xmlns:a16="http://schemas.microsoft.com/office/drawing/2014/main" id="{FC64A514-C6D9-1EDC-8BE4-2FB169B05081}"/>
                  </a:ext>
                </a:extLst>
              </p:cNvPr>
              <p:cNvSpPr>
                <a:spLocks/>
              </p:cNvSpPr>
              <p:nvPr/>
            </p:nvSpPr>
            <p:spPr bwMode="auto">
              <a:xfrm>
                <a:off x="4838926" y="3984560"/>
                <a:ext cx="1226150" cy="1050986"/>
              </a:xfrm>
              <a:custGeom>
                <a:avLst/>
                <a:gdLst>
                  <a:gd name="T0" fmla="*/ 849 w 1071"/>
                  <a:gd name="T1" fmla="*/ 534 h 918"/>
                  <a:gd name="T2" fmla="*/ 1032 w 1071"/>
                  <a:gd name="T3" fmla="*/ 219 h 918"/>
                  <a:gd name="T4" fmla="*/ 595 w 1071"/>
                  <a:gd name="T5" fmla="*/ 0 h 918"/>
                  <a:gd name="T6" fmla="*/ 216 w 1071"/>
                  <a:gd name="T7" fmla="*/ 0 h 918"/>
                  <a:gd name="T8" fmla="*/ 0 w 1071"/>
                  <a:gd name="T9" fmla="*/ 373 h 918"/>
                  <a:gd name="T10" fmla="*/ 1071 w 1071"/>
                  <a:gd name="T11" fmla="*/ 918 h 918"/>
                  <a:gd name="T12" fmla="*/ 849 w 1071"/>
                  <a:gd name="T13" fmla="*/ 534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849" y="534"/>
                    </a:moveTo>
                    <a:cubicBezTo>
                      <a:pt x="1032" y="219"/>
                      <a:pt x="1032" y="219"/>
                      <a:pt x="1032" y="219"/>
                    </a:cubicBezTo>
                    <a:cubicBezTo>
                      <a:pt x="859" y="203"/>
                      <a:pt x="705" y="122"/>
                      <a:pt x="595" y="0"/>
                    </a:cubicBezTo>
                    <a:cubicBezTo>
                      <a:pt x="216" y="0"/>
                      <a:pt x="216" y="0"/>
                      <a:pt x="216" y="0"/>
                    </a:cubicBezTo>
                    <a:cubicBezTo>
                      <a:pt x="0" y="373"/>
                      <a:pt x="0" y="373"/>
                      <a:pt x="0" y="373"/>
                    </a:cubicBezTo>
                    <a:cubicBezTo>
                      <a:pt x="247" y="698"/>
                      <a:pt x="634" y="910"/>
                      <a:pt x="1071" y="918"/>
                    </a:cubicBezTo>
                    <a:lnTo>
                      <a:pt x="849" y="534"/>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7" name="Freeform 18">
                <a:extLst>
                  <a:ext uri="{FF2B5EF4-FFF2-40B4-BE49-F238E27FC236}">
                    <a16:creationId xmlns:a16="http://schemas.microsoft.com/office/drawing/2014/main" id="{AE18138D-0936-02D4-AF65-501CA28A6B8F}"/>
                  </a:ext>
                </a:extLst>
              </p:cNvPr>
              <p:cNvSpPr>
                <a:spLocks/>
              </p:cNvSpPr>
              <p:nvPr/>
            </p:nvSpPr>
            <p:spPr bwMode="auto">
              <a:xfrm>
                <a:off x="4520845" y="2850023"/>
                <a:ext cx="866294" cy="1373465"/>
              </a:xfrm>
              <a:custGeom>
                <a:avLst/>
                <a:gdLst>
                  <a:gd name="T0" fmla="*/ 393 w 757"/>
                  <a:gd name="T1" fmla="*/ 816 h 1200"/>
                  <a:gd name="T2" fmla="*/ 757 w 757"/>
                  <a:gd name="T3" fmla="*/ 817 h 1200"/>
                  <a:gd name="T4" fmla="*/ 696 w 757"/>
                  <a:gd name="T5" fmla="*/ 535 h 1200"/>
                  <a:gd name="T6" fmla="*/ 728 w 757"/>
                  <a:gd name="T7" fmla="*/ 329 h 1200"/>
                  <a:gd name="T8" fmla="*/ 539 w 757"/>
                  <a:gd name="T9" fmla="*/ 0 h 1200"/>
                  <a:gd name="T10" fmla="*/ 108 w 757"/>
                  <a:gd name="T11" fmla="*/ 1 h 1200"/>
                  <a:gd name="T12" fmla="*/ 0 w 757"/>
                  <a:gd name="T13" fmla="*/ 535 h 1200"/>
                  <a:gd name="T14" fmla="*/ 172 w 757"/>
                  <a:gd name="T15" fmla="*/ 1200 h 1200"/>
                  <a:gd name="T16" fmla="*/ 393 w 757"/>
                  <a:gd name="T17" fmla="*/ 816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93" y="816"/>
                    </a:moveTo>
                    <a:cubicBezTo>
                      <a:pt x="757" y="817"/>
                      <a:pt x="757" y="817"/>
                      <a:pt x="757" y="817"/>
                    </a:cubicBezTo>
                    <a:cubicBezTo>
                      <a:pt x="718" y="731"/>
                      <a:pt x="696" y="635"/>
                      <a:pt x="696" y="535"/>
                    </a:cubicBezTo>
                    <a:cubicBezTo>
                      <a:pt x="696" y="463"/>
                      <a:pt x="707" y="394"/>
                      <a:pt x="728" y="329"/>
                    </a:cubicBezTo>
                    <a:cubicBezTo>
                      <a:pt x="539" y="0"/>
                      <a:pt x="539" y="0"/>
                      <a:pt x="539" y="0"/>
                    </a:cubicBezTo>
                    <a:cubicBezTo>
                      <a:pt x="108" y="1"/>
                      <a:pt x="108" y="1"/>
                      <a:pt x="108" y="1"/>
                    </a:cubicBezTo>
                    <a:cubicBezTo>
                      <a:pt x="38" y="165"/>
                      <a:pt x="0" y="346"/>
                      <a:pt x="0" y="535"/>
                    </a:cubicBezTo>
                    <a:cubicBezTo>
                      <a:pt x="0" y="776"/>
                      <a:pt x="62" y="1003"/>
                      <a:pt x="172" y="1200"/>
                    </a:cubicBezTo>
                    <a:lnTo>
                      <a:pt x="393" y="816"/>
                    </a:lnTo>
                    <a:close/>
                  </a:path>
                </a:pathLst>
              </a:custGeom>
              <a:solidFill>
                <a:schemeClr val="accent3">
                  <a:lumMod val="50000"/>
                </a:schemeClr>
              </a:solid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28" name="AutoShape 3">
                <a:extLst>
                  <a:ext uri="{FF2B5EF4-FFF2-40B4-BE49-F238E27FC236}">
                    <a16:creationId xmlns:a16="http://schemas.microsoft.com/office/drawing/2014/main" id="{33829E41-954C-580A-D7FA-D10CE3332F02}"/>
                  </a:ext>
                </a:extLst>
              </p:cNvPr>
              <p:cNvSpPr>
                <a:spLocks noChangeAspect="1" noChangeArrowheads="1" noTextEdit="1"/>
              </p:cNvSpPr>
              <p:nvPr/>
            </p:nvSpPr>
            <p:spPr bwMode="auto">
              <a:xfrm>
                <a:off x="4519379" y="1888451"/>
                <a:ext cx="3145629" cy="316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20" name="Picture 6" descr="Insurance services conceptual two hands with shield illustrations.">
              <a:extLst>
                <a:ext uri="{FF2B5EF4-FFF2-40B4-BE49-F238E27FC236}">
                  <a16:creationId xmlns:a16="http://schemas.microsoft.com/office/drawing/2014/main" id="{ED17EFF6-27A4-5A18-EAE9-D14600499277}"/>
                </a:ext>
              </a:extLst>
            </p:cNvPr>
            <p:cNvPicPr>
              <a:picLocks noChangeAspect="1" noChangeArrowheads="1"/>
            </p:cNvPicPr>
            <p:nvPr/>
          </p:nvPicPr>
          <p:blipFill rotWithShape="1">
            <a:blip r:embed="rId12" cstate="screen">
              <a:extLst>
                <a:ext uri="{28A0092B-C50C-407E-A947-70E740481C1C}">
                  <a14:useLocalDpi xmlns:a14="http://schemas.microsoft.com/office/drawing/2010/main" val="0"/>
                </a:ext>
              </a:extLst>
            </a:blip>
            <a:srcRect l="12444" t="2494" r="9205" b="29770"/>
            <a:stretch/>
          </p:blipFill>
          <p:spPr bwMode="auto">
            <a:xfrm>
              <a:off x="5353746" y="3010068"/>
              <a:ext cx="1528539" cy="1477836"/>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sp>
        <p:nvSpPr>
          <p:cNvPr id="29" name="Picture Placeholder 40">
            <a:extLst>
              <a:ext uri="{FF2B5EF4-FFF2-40B4-BE49-F238E27FC236}">
                <a16:creationId xmlns:a16="http://schemas.microsoft.com/office/drawing/2014/main" id="{99E435CD-77BE-C375-6C8A-023D23C56950}"/>
              </a:ext>
            </a:extLst>
          </p:cNvPr>
          <p:cNvSpPr txBox="1">
            <a:spLocks/>
          </p:cNvSpPr>
          <p:nvPr/>
        </p:nvSpPr>
        <p:spPr>
          <a:xfrm>
            <a:off x="3300887" y="2070090"/>
            <a:ext cx="596896" cy="596896"/>
          </a:xfrm>
          <a:prstGeom prst="ellipse">
            <a:avLst/>
          </a:prstGeom>
          <a:solidFill>
            <a:schemeClr val="accent4"/>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grpSp>
        <p:nvGrpSpPr>
          <p:cNvPr id="30" name="Group 29">
            <a:extLst>
              <a:ext uri="{FF2B5EF4-FFF2-40B4-BE49-F238E27FC236}">
                <a16:creationId xmlns:a16="http://schemas.microsoft.com/office/drawing/2014/main" id="{5C0B902E-A513-609E-0E78-9EE5213DDA7D}"/>
              </a:ext>
            </a:extLst>
          </p:cNvPr>
          <p:cNvGrpSpPr/>
          <p:nvPr/>
        </p:nvGrpSpPr>
        <p:grpSpPr>
          <a:xfrm>
            <a:off x="3255748" y="3682361"/>
            <a:ext cx="596896" cy="596896"/>
            <a:chOff x="3255748" y="3682361"/>
            <a:chExt cx="596896" cy="596896"/>
          </a:xfrm>
        </p:grpSpPr>
        <p:sp>
          <p:nvSpPr>
            <p:cNvPr id="31" name="Picture Placeholder 40">
              <a:extLst>
                <a:ext uri="{FF2B5EF4-FFF2-40B4-BE49-F238E27FC236}">
                  <a16:creationId xmlns:a16="http://schemas.microsoft.com/office/drawing/2014/main" id="{4F1A7A76-A3EC-614E-0697-D40877ED2DC5}"/>
                </a:ext>
              </a:extLst>
            </p:cNvPr>
            <p:cNvSpPr txBox="1">
              <a:spLocks/>
            </p:cNvSpPr>
            <p:nvPr/>
          </p:nvSpPr>
          <p:spPr>
            <a:xfrm>
              <a:off x="3255748" y="3682361"/>
              <a:ext cx="596896" cy="596896"/>
            </a:xfrm>
            <a:prstGeom prst="ellipse">
              <a:avLst/>
            </a:prstGeom>
            <a:solidFill>
              <a:srgbClr val="FF8A2B"/>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pic>
          <p:nvPicPr>
            <p:cNvPr id="32" name="Graphic 31" descr="Flying Money with solid fill">
              <a:extLst>
                <a:ext uri="{FF2B5EF4-FFF2-40B4-BE49-F238E27FC236}">
                  <a16:creationId xmlns:a16="http://schemas.microsoft.com/office/drawing/2014/main" id="{30F0B288-5773-A687-4E53-5D2E5408C34F}"/>
                </a:ext>
              </a:extLst>
            </p:cNvPr>
            <p:cNvPicPr>
              <a:picLocks noChangeAspect="1"/>
            </p:cNvPicPr>
            <p:nvPr/>
          </p:nvPicPr>
          <p:blipFill>
            <a:blip r:embed="rId13" cstate="screen">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308711" y="3738186"/>
              <a:ext cx="521267" cy="521267"/>
            </a:xfrm>
            <a:prstGeom prst="rect">
              <a:avLst/>
            </a:prstGeom>
          </p:spPr>
        </p:pic>
      </p:grpSp>
      <p:grpSp>
        <p:nvGrpSpPr>
          <p:cNvPr id="33" name="Group 32">
            <a:extLst>
              <a:ext uri="{FF2B5EF4-FFF2-40B4-BE49-F238E27FC236}">
                <a16:creationId xmlns:a16="http://schemas.microsoft.com/office/drawing/2014/main" id="{AFBDF132-3283-AAB0-D40D-93F170863FBC}"/>
              </a:ext>
            </a:extLst>
          </p:cNvPr>
          <p:cNvGrpSpPr/>
          <p:nvPr/>
        </p:nvGrpSpPr>
        <p:grpSpPr>
          <a:xfrm>
            <a:off x="3366360" y="5294632"/>
            <a:ext cx="596896" cy="596896"/>
            <a:chOff x="3366360" y="5294632"/>
            <a:chExt cx="596896" cy="596896"/>
          </a:xfrm>
        </p:grpSpPr>
        <p:sp>
          <p:nvSpPr>
            <p:cNvPr id="34" name="Picture Placeholder 40">
              <a:extLst>
                <a:ext uri="{FF2B5EF4-FFF2-40B4-BE49-F238E27FC236}">
                  <a16:creationId xmlns:a16="http://schemas.microsoft.com/office/drawing/2014/main" id="{22F482A2-7AC5-7257-F146-FC126307C756}"/>
                </a:ext>
              </a:extLst>
            </p:cNvPr>
            <p:cNvSpPr txBox="1">
              <a:spLocks/>
            </p:cNvSpPr>
            <p:nvPr/>
          </p:nvSpPr>
          <p:spPr>
            <a:xfrm>
              <a:off x="3366360" y="5294632"/>
              <a:ext cx="596896" cy="596896"/>
            </a:xfrm>
            <a:prstGeom prst="ellipse">
              <a:avLst/>
            </a:prstGeom>
            <a:solidFill>
              <a:srgbClr val="66696C"/>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pic>
          <p:nvPicPr>
            <p:cNvPr id="35" name="Graphic 34" descr="Mortgage with solid fill">
              <a:extLst>
                <a:ext uri="{FF2B5EF4-FFF2-40B4-BE49-F238E27FC236}">
                  <a16:creationId xmlns:a16="http://schemas.microsoft.com/office/drawing/2014/main" id="{2A18CF69-97D1-5C78-D250-F5853C4A4B87}"/>
                </a:ext>
              </a:extLst>
            </p:cNvPr>
            <p:cNvPicPr>
              <a:picLocks noChangeAspect="1"/>
            </p:cNvPicPr>
            <p:nvPr/>
          </p:nvPicPr>
          <p:blipFill>
            <a:blip r:embed="rId15" cstate="screen">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412821" y="5320766"/>
              <a:ext cx="500144" cy="500144"/>
            </a:xfrm>
            <a:prstGeom prst="rect">
              <a:avLst/>
            </a:prstGeom>
          </p:spPr>
        </p:pic>
      </p:grpSp>
      <p:grpSp>
        <p:nvGrpSpPr>
          <p:cNvPr id="36" name="Group 35">
            <a:extLst>
              <a:ext uri="{FF2B5EF4-FFF2-40B4-BE49-F238E27FC236}">
                <a16:creationId xmlns:a16="http://schemas.microsoft.com/office/drawing/2014/main" id="{3B627B60-79EE-C71B-A54D-1D815B05424A}"/>
              </a:ext>
            </a:extLst>
          </p:cNvPr>
          <p:cNvGrpSpPr/>
          <p:nvPr/>
        </p:nvGrpSpPr>
        <p:grpSpPr>
          <a:xfrm>
            <a:off x="8244915" y="2073996"/>
            <a:ext cx="599120" cy="596896"/>
            <a:chOff x="8244915" y="2073996"/>
            <a:chExt cx="599120" cy="596896"/>
          </a:xfrm>
        </p:grpSpPr>
        <p:sp>
          <p:nvSpPr>
            <p:cNvPr id="37" name="Picture Placeholder 40">
              <a:extLst>
                <a:ext uri="{FF2B5EF4-FFF2-40B4-BE49-F238E27FC236}">
                  <a16:creationId xmlns:a16="http://schemas.microsoft.com/office/drawing/2014/main" id="{65B4E922-B032-4C21-C733-D6CBE1B62AAC}"/>
                </a:ext>
              </a:extLst>
            </p:cNvPr>
            <p:cNvSpPr txBox="1">
              <a:spLocks/>
            </p:cNvSpPr>
            <p:nvPr/>
          </p:nvSpPr>
          <p:spPr>
            <a:xfrm>
              <a:off x="8244915" y="2073996"/>
              <a:ext cx="596896" cy="596896"/>
            </a:xfrm>
            <a:prstGeom prst="ellipse">
              <a:avLst/>
            </a:prstGeom>
            <a:solidFill>
              <a:schemeClr val="accent4"/>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pic>
          <p:nvPicPr>
            <p:cNvPr id="38" name="Picture Placeholder 107" descr="Back with solid fill">
              <a:extLst>
                <a:ext uri="{FF2B5EF4-FFF2-40B4-BE49-F238E27FC236}">
                  <a16:creationId xmlns:a16="http://schemas.microsoft.com/office/drawing/2014/main" id="{424BD55C-AB28-463F-0377-D9E99293487A}"/>
                </a:ext>
              </a:extLst>
            </p:cNvPr>
            <p:cNvPicPr>
              <a:picLocks noChangeAspect="1"/>
            </p:cNvPicPr>
            <p:nvPr/>
          </p:nvPicPr>
          <p:blipFill>
            <a:blip r:embed="rId17" cstate="screen">
              <a:extLst>
                <a:ext uri="{28A0092B-C50C-407E-A947-70E740481C1C}">
                  <a14:useLocalDpi xmlns:a14="http://schemas.microsoft.com/office/drawing/2010/main" val="0"/>
                </a:ext>
                <a:ext uri="{96DAC541-7B7A-43D3-8B79-37D633B846F1}">
                  <asvg:svgBlip xmlns:asvg="http://schemas.microsoft.com/office/drawing/2016/SVG/main" r:embed="rId18"/>
                </a:ext>
              </a:extLst>
            </a:blip>
            <a:srcRect/>
            <a:stretch/>
          </p:blipFill>
          <p:spPr>
            <a:xfrm>
              <a:off x="8279921" y="2081933"/>
              <a:ext cx="564114" cy="564114"/>
            </a:xfrm>
            <a:prstGeom prst="ellipse">
              <a:avLst/>
            </a:prstGeom>
          </p:spPr>
        </p:pic>
      </p:grpSp>
      <p:pic>
        <p:nvPicPr>
          <p:cNvPr id="39" name="Graphic 38" descr="Share with solid fill">
            <a:extLst>
              <a:ext uri="{FF2B5EF4-FFF2-40B4-BE49-F238E27FC236}">
                <a16:creationId xmlns:a16="http://schemas.microsoft.com/office/drawing/2014/main" id="{D076A19D-069B-3663-E8E5-3A8BFBF8D74E}"/>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227451" y="3680014"/>
            <a:ext cx="596895" cy="596895"/>
          </a:xfrm>
          <a:prstGeom prst="rect">
            <a:avLst/>
          </a:prstGeom>
        </p:spPr>
      </p:pic>
      <p:grpSp>
        <p:nvGrpSpPr>
          <p:cNvPr id="40" name="Group 39">
            <a:extLst>
              <a:ext uri="{FF2B5EF4-FFF2-40B4-BE49-F238E27FC236}">
                <a16:creationId xmlns:a16="http://schemas.microsoft.com/office/drawing/2014/main" id="{40CE48B2-F10B-4403-966A-75FE251FCA5B}"/>
              </a:ext>
            </a:extLst>
          </p:cNvPr>
          <p:cNvGrpSpPr/>
          <p:nvPr/>
        </p:nvGrpSpPr>
        <p:grpSpPr>
          <a:xfrm>
            <a:off x="8227450" y="5320766"/>
            <a:ext cx="596896" cy="600793"/>
            <a:chOff x="8227450" y="5320766"/>
            <a:chExt cx="596896" cy="600793"/>
          </a:xfrm>
        </p:grpSpPr>
        <p:sp>
          <p:nvSpPr>
            <p:cNvPr id="41" name="Picture Placeholder 40">
              <a:extLst>
                <a:ext uri="{FF2B5EF4-FFF2-40B4-BE49-F238E27FC236}">
                  <a16:creationId xmlns:a16="http://schemas.microsoft.com/office/drawing/2014/main" id="{1806D8D4-9D15-2397-8ACB-E94927A39103}"/>
                </a:ext>
              </a:extLst>
            </p:cNvPr>
            <p:cNvSpPr txBox="1">
              <a:spLocks/>
            </p:cNvSpPr>
            <p:nvPr/>
          </p:nvSpPr>
          <p:spPr>
            <a:xfrm>
              <a:off x="8227450" y="5324663"/>
              <a:ext cx="596896" cy="596896"/>
            </a:xfrm>
            <a:prstGeom prst="ellipse">
              <a:avLst/>
            </a:prstGeom>
            <a:solidFill>
              <a:srgbClr val="66696C"/>
            </a:solidFill>
          </p:spPr>
          <p:txBody>
            <a:bodyPr anchor="ctr">
              <a:noAutofit/>
            </a:bodyPr>
            <a:lstStyle>
              <a:lvl1pPr marL="0" indent="0" algn="ctr" defTabSz="457200" rtl="0" eaLnBrk="1" latinLnBrk="0" hangingPunct="1">
                <a:lnSpc>
                  <a:spcPct val="120000"/>
                </a:lnSpc>
                <a:spcBef>
                  <a:spcPts val="0"/>
                </a:spcBef>
                <a:buFont typeface="Verdana" panose="020B0604030504040204" pitchFamily="34" charset="0"/>
                <a:buNone/>
                <a:defRPr sz="400" kern="1200">
                  <a:solidFill>
                    <a:schemeClr val="bg1"/>
                  </a:solidFill>
                  <a:latin typeface="+mn-lt"/>
                  <a:ea typeface="+mn-ea"/>
                  <a:cs typeface="+mn-cs"/>
                </a:defRPr>
              </a:lvl1pPr>
              <a:lvl2pPr marL="360000" indent="-180000" algn="l" defTabSz="457200" rtl="0" eaLnBrk="1" latinLnBrk="0" hangingPunct="1">
                <a:lnSpc>
                  <a:spcPct val="120000"/>
                </a:lnSpc>
                <a:spcBef>
                  <a:spcPts val="0"/>
                </a:spcBef>
                <a:buFont typeface="Verdana" panose="020B0604030504040204" pitchFamily="34" charset="0"/>
                <a:buChar char="‒"/>
                <a:defRPr sz="1400" kern="1200">
                  <a:solidFill>
                    <a:schemeClr val="accent3">
                      <a:lumMod val="50000"/>
                    </a:schemeClr>
                  </a:solidFill>
                  <a:latin typeface="+mn-lt"/>
                  <a:ea typeface="+mn-ea"/>
                  <a:cs typeface="+mn-cs"/>
                </a:defRPr>
              </a:lvl2pPr>
              <a:lvl3pPr marL="540000" indent="-180000" algn="l" defTabSz="457200" rtl="0" eaLnBrk="1" latinLnBrk="0" hangingPunct="1">
                <a:lnSpc>
                  <a:spcPct val="120000"/>
                </a:lnSpc>
                <a:spcBef>
                  <a:spcPts val="0"/>
                </a:spcBef>
                <a:buFont typeface="Arial" panose="020B0604020202020204" pitchFamily="34" charset="0"/>
                <a:buChar char="•"/>
                <a:defRPr sz="1200" kern="1200">
                  <a:solidFill>
                    <a:schemeClr val="accent3">
                      <a:lumMod val="50000"/>
                    </a:schemeClr>
                  </a:solidFill>
                  <a:latin typeface="+mn-lt"/>
                  <a:ea typeface="+mn-ea"/>
                  <a:cs typeface="+mn-cs"/>
                </a:defRPr>
              </a:lvl3pPr>
              <a:lvl4pPr marL="72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4pPr>
              <a:lvl5pPr marL="900000" indent="-180000" algn="l" defTabSz="457200" rtl="0" eaLnBrk="1" latinLnBrk="0" hangingPunct="1">
                <a:lnSpc>
                  <a:spcPct val="120000"/>
                </a:lnSpc>
                <a:spcBef>
                  <a:spcPts val="0"/>
                </a:spcBef>
                <a:buFont typeface="Verdana" panose="020B0604030504040204" pitchFamily="34" charset="0"/>
                <a:buChar char="›"/>
                <a:defRPr sz="1100" kern="1200">
                  <a:solidFill>
                    <a:schemeClr val="accent3">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a:p>
          </p:txBody>
        </p:sp>
        <p:pic>
          <p:nvPicPr>
            <p:cNvPr id="42" name="Graphic 41" descr="Bullseye with solid fill">
              <a:extLst>
                <a:ext uri="{FF2B5EF4-FFF2-40B4-BE49-F238E27FC236}">
                  <a16:creationId xmlns:a16="http://schemas.microsoft.com/office/drawing/2014/main" id="{5A09AC7A-7142-9874-7F70-0D9B71091262}"/>
                </a:ext>
              </a:extLst>
            </p:cNvPr>
            <p:cNvPicPr>
              <a:picLocks noChangeAspect="1"/>
            </p:cNvPicPr>
            <p:nvPr/>
          </p:nvPicPr>
          <p:blipFill>
            <a:blip r:embed="rId21" cstate="screen">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253257" y="5320766"/>
              <a:ext cx="571089" cy="571089"/>
            </a:xfrm>
            <a:prstGeom prst="rect">
              <a:avLst/>
            </a:prstGeom>
          </p:spPr>
        </p:pic>
      </p:grpSp>
      <p:pic>
        <p:nvPicPr>
          <p:cNvPr id="43" name="Graphic 42" descr="Handshake with solid fill">
            <a:extLst>
              <a:ext uri="{FF2B5EF4-FFF2-40B4-BE49-F238E27FC236}">
                <a16:creationId xmlns:a16="http://schemas.microsoft.com/office/drawing/2014/main" id="{94E94868-0C91-7749-811E-E72E91DFEA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286401" y="2080098"/>
            <a:ext cx="637422" cy="637422"/>
          </a:xfrm>
          <a:prstGeom prst="rect">
            <a:avLst/>
          </a:prstGeom>
        </p:spPr>
      </p:pic>
      <p:pic>
        <p:nvPicPr>
          <p:cNvPr id="44" name="Graphic 43" descr="Magnifying glass with solid fill">
            <a:extLst>
              <a:ext uri="{FF2B5EF4-FFF2-40B4-BE49-F238E27FC236}">
                <a16:creationId xmlns:a16="http://schemas.microsoft.com/office/drawing/2014/main" id="{8936608B-0E37-9896-34F6-B7A6A3108B1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71007" y="1941838"/>
            <a:ext cx="1055711" cy="1055711"/>
          </a:xfrm>
          <a:prstGeom prst="rect">
            <a:avLst/>
          </a:prstGeom>
        </p:spPr>
      </p:pic>
      <p:pic>
        <p:nvPicPr>
          <p:cNvPr id="45" name="Graphic 44" descr="Magnifying glass with solid fill">
            <a:extLst>
              <a:ext uri="{FF2B5EF4-FFF2-40B4-BE49-F238E27FC236}">
                <a16:creationId xmlns:a16="http://schemas.microsoft.com/office/drawing/2014/main" id="{A408B4FB-4DAB-7F9E-E052-F5F48A007DEC}"/>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131276" y="3558718"/>
            <a:ext cx="1055711" cy="1055711"/>
          </a:xfrm>
          <a:prstGeom prst="rect">
            <a:avLst/>
          </a:prstGeom>
        </p:spPr>
      </p:pic>
      <p:pic>
        <p:nvPicPr>
          <p:cNvPr id="46" name="Graphic 45" descr="Magnifying glass with solid fill">
            <a:extLst>
              <a:ext uri="{FF2B5EF4-FFF2-40B4-BE49-F238E27FC236}">
                <a16:creationId xmlns:a16="http://schemas.microsoft.com/office/drawing/2014/main" id="{CE919DD3-1D07-C725-13AC-8686F91213F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249500" y="5163603"/>
            <a:ext cx="1055711" cy="1055711"/>
          </a:xfrm>
          <a:prstGeom prst="rect">
            <a:avLst/>
          </a:prstGeom>
        </p:spPr>
      </p:pic>
      <p:pic>
        <p:nvPicPr>
          <p:cNvPr id="47" name="Graphic 46" descr="Magnifying glass with solid fill">
            <a:extLst>
              <a:ext uri="{FF2B5EF4-FFF2-40B4-BE49-F238E27FC236}">
                <a16:creationId xmlns:a16="http://schemas.microsoft.com/office/drawing/2014/main" id="{A06E419C-C6AD-54D0-7EBE-F93907B0CD54}"/>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126996" y="1953702"/>
            <a:ext cx="1055711" cy="1055711"/>
          </a:xfrm>
          <a:prstGeom prst="rect">
            <a:avLst/>
          </a:prstGeom>
        </p:spPr>
      </p:pic>
      <p:pic>
        <p:nvPicPr>
          <p:cNvPr id="48" name="Graphic 47" descr="Magnifying glass with solid fill">
            <a:extLst>
              <a:ext uri="{FF2B5EF4-FFF2-40B4-BE49-F238E27FC236}">
                <a16:creationId xmlns:a16="http://schemas.microsoft.com/office/drawing/2014/main" id="{D37C2020-D922-0204-9033-41E8B34E9D1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142629" y="3552688"/>
            <a:ext cx="1055711" cy="1055711"/>
          </a:xfrm>
          <a:prstGeom prst="rect">
            <a:avLst/>
          </a:prstGeom>
        </p:spPr>
      </p:pic>
      <p:pic>
        <p:nvPicPr>
          <p:cNvPr id="49" name="Graphic 48" descr="Magnifying glass with solid fill">
            <a:extLst>
              <a:ext uri="{FF2B5EF4-FFF2-40B4-BE49-F238E27FC236}">
                <a16:creationId xmlns:a16="http://schemas.microsoft.com/office/drawing/2014/main" id="{FFB2B29A-CCFE-40C2-1A17-FC9D2796462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8109370" y="5172435"/>
            <a:ext cx="1055711" cy="1055711"/>
          </a:xfrm>
          <a:prstGeom prst="rect">
            <a:avLst/>
          </a:prstGeom>
        </p:spPr>
      </p:pic>
      <p:sp>
        <p:nvSpPr>
          <p:cNvPr id="6" name="TextBox 5">
            <a:extLst>
              <a:ext uri="{FF2B5EF4-FFF2-40B4-BE49-F238E27FC236}">
                <a16:creationId xmlns:a16="http://schemas.microsoft.com/office/drawing/2014/main" id="{950DA512-194D-7785-21DE-2989B1524DD4}"/>
              </a:ext>
            </a:extLst>
          </p:cNvPr>
          <p:cNvSpPr txBox="1"/>
          <p:nvPr/>
        </p:nvSpPr>
        <p:spPr>
          <a:xfrm>
            <a:off x="4457518" y="5672637"/>
            <a:ext cx="3744578" cy="1231106"/>
          </a:xfrm>
          <a:prstGeom prst="rect">
            <a:avLst/>
          </a:prstGeom>
          <a:noFill/>
        </p:spPr>
        <p:txBody>
          <a:bodyPr wrap="square">
            <a:spAutoFit/>
          </a:bodyPr>
          <a:lstStyle/>
          <a:p>
            <a:pPr marL="0" indent="0">
              <a:buFont typeface="Arial" panose="020B0604020202020204" pitchFamily="34" charset="0"/>
              <a:buNone/>
            </a:pPr>
            <a:r>
              <a:rPr lang="en-IN" sz="1600" b="1" dirty="0"/>
              <a:t>Loss Minimization</a:t>
            </a:r>
          </a:p>
          <a:p>
            <a:pPr marL="285750" indent="-285750">
              <a:buFont typeface="Arial" panose="020B0604020202020204" pitchFamily="34" charset="0"/>
              <a:buChar char="•"/>
            </a:pPr>
            <a:r>
              <a:rPr lang="en-US" sz="1150" dirty="0"/>
              <a:t>Insured must take reasonable steps to prevent or limit losses</a:t>
            </a:r>
          </a:p>
          <a:p>
            <a:pPr marL="285750" indent="-285750">
              <a:buFont typeface="Arial" panose="020B0604020202020204" pitchFamily="34" charset="0"/>
              <a:buChar char="•"/>
            </a:pPr>
            <a:r>
              <a:rPr lang="en-US" sz="1200" dirty="0"/>
              <a:t>If negligence worsens a loss, the insurer may </a:t>
            </a:r>
            <a:r>
              <a:rPr lang="en-US" sz="1150" dirty="0"/>
              <a:t>reduce or deny the claim</a:t>
            </a:r>
          </a:p>
          <a:p>
            <a:pPr marL="285750" indent="-285750">
              <a:buFont typeface="Arial" panose="020B0604020202020204" pitchFamily="34" charset="0"/>
              <a:buChar char="•"/>
            </a:pPr>
            <a:endParaRPr lang="en-IN" sz="1100" b="1" dirty="0"/>
          </a:p>
        </p:txBody>
      </p:sp>
    </p:spTree>
    <p:extLst>
      <p:ext uri="{BB962C8B-B14F-4D97-AF65-F5344CB8AC3E}">
        <p14:creationId xmlns:p14="http://schemas.microsoft.com/office/powerpoint/2010/main" val="150739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circle(in)">
                                      <p:cBhvr>
                                        <p:cTn id="7" dur="750"/>
                                        <p:tgtEl>
                                          <p:spTgt spid="44"/>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750"/>
                                        <p:tgtEl>
                                          <p:spTgt spid="14">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750"/>
                                        <p:tgtEl>
                                          <p:spTgt spid="14">
                                            <p:txEl>
                                              <p:pRg st="1" end="1"/>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750"/>
                                        <p:tgtEl>
                                          <p:spTgt spid="14">
                                            <p:txEl>
                                              <p:pRg st="2" end="2"/>
                                            </p:txEl>
                                          </p:spTgt>
                                        </p:tgtEl>
                                      </p:cBhvr>
                                    </p:animEffect>
                                  </p:childTnLst>
                                </p:cTn>
                              </p:par>
                            </p:childTnLst>
                          </p:cTn>
                        </p:par>
                        <p:par>
                          <p:cTn id="18" fill="hold">
                            <p:stCondLst>
                              <p:cond delay="1500"/>
                            </p:stCondLst>
                            <p:childTnLst>
                              <p:par>
                                <p:cTn id="19" presetID="10" presetClass="exit" presetSubtype="0" fill="hold" nodeType="afterEffect">
                                  <p:stCondLst>
                                    <p:cond delay="0"/>
                                  </p:stCondLst>
                                  <p:childTnLst>
                                    <p:animEffect transition="out" filter="fade">
                                      <p:cBhvr>
                                        <p:cTn id="20" dur="500"/>
                                        <p:tgtEl>
                                          <p:spTgt spid="44"/>
                                        </p:tgtEl>
                                      </p:cBhvr>
                                    </p:animEffect>
                                    <p:set>
                                      <p:cBhvr>
                                        <p:cTn id="21" dur="1" fill="hold">
                                          <p:stCondLst>
                                            <p:cond delay="499"/>
                                          </p:stCondLst>
                                        </p:cTn>
                                        <p:tgtEl>
                                          <p:spTgt spid="4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circle(in)">
                                      <p:cBhvr>
                                        <p:cTn id="26" dur="750"/>
                                        <p:tgtEl>
                                          <p:spTgt spid="45"/>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15">
                                            <p:txEl>
                                              <p:pRg st="0" end="0"/>
                                            </p:txEl>
                                          </p:spTgt>
                                        </p:tgtEl>
                                        <p:attrNameLst>
                                          <p:attrName>style.visibility</p:attrName>
                                        </p:attrNameLst>
                                      </p:cBhvr>
                                      <p:to>
                                        <p:strVal val="visible"/>
                                      </p:to>
                                    </p:set>
                                    <p:animEffect transition="in" filter="fade">
                                      <p:cBhvr>
                                        <p:cTn id="30" dur="750"/>
                                        <p:tgtEl>
                                          <p:spTgt spid="15">
                                            <p:txEl>
                                              <p:pRg st="0" end="0"/>
                                            </p:txEl>
                                          </p:spTgt>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15">
                                            <p:txEl>
                                              <p:pRg st="1" end="1"/>
                                            </p:txEl>
                                          </p:spTgt>
                                        </p:tgtEl>
                                        <p:attrNameLst>
                                          <p:attrName>style.visibility</p:attrName>
                                        </p:attrNameLst>
                                      </p:cBhvr>
                                      <p:to>
                                        <p:strVal val="visible"/>
                                      </p:to>
                                    </p:set>
                                    <p:animEffect transition="in" filter="fade">
                                      <p:cBhvr>
                                        <p:cTn id="34" dur="750"/>
                                        <p:tgtEl>
                                          <p:spTgt spid="15">
                                            <p:txEl>
                                              <p:pRg st="1" end="1"/>
                                            </p:txEl>
                                          </p:spTgt>
                                        </p:tgtEl>
                                      </p:cBhvr>
                                    </p:animEffect>
                                  </p:childTnLst>
                                </p:cTn>
                              </p:par>
                            </p:childTnLst>
                          </p:cTn>
                        </p:par>
                        <p:par>
                          <p:cTn id="35" fill="hold">
                            <p:stCondLst>
                              <p:cond delay="2250"/>
                            </p:stCondLst>
                            <p:childTnLst>
                              <p:par>
                                <p:cTn id="36" presetID="10" presetClass="entr" presetSubtype="0" fill="hold" grpId="0" nodeType="afterEffect">
                                  <p:stCondLst>
                                    <p:cond delay="0"/>
                                  </p:stCondLst>
                                  <p:childTnLst>
                                    <p:set>
                                      <p:cBhvr>
                                        <p:cTn id="37" dur="1" fill="hold">
                                          <p:stCondLst>
                                            <p:cond delay="0"/>
                                          </p:stCondLst>
                                        </p:cTn>
                                        <p:tgtEl>
                                          <p:spTgt spid="15">
                                            <p:txEl>
                                              <p:pRg st="2" end="2"/>
                                            </p:txEl>
                                          </p:spTgt>
                                        </p:tgtEl>
                                        <p:attrNameLst>
                                          <p:attrName>style.visibility</p:attrName>
                                        </p:attrNameLst>
                                      </p:cBhvr>
                                      <p:to>
                                        <p:strVal val="visible"/>
                                      </p:to>
                                    </p:set>
                                    <p:animEffect transition="in" filter="fade">
                                      <p:cBhvr>
                                        <p:cTn id="38" dur="750"/>
                                        <p:tgtEl>
                                          <p:spTgt spid="15">
                                            <p:txEl>
                                              <p:pRg st="2" end="2"/>
                                            </p:txEl>
                                          </p:spTgt>
                                        </p:tgtEl>
                                      </p:cBhvr>
                                    </p:animEffect>
                                  </p:childTnLst>
                                </p:cTn>
                              </p:par>
                            </p:childTnLst>
                          </p:cTn>
                        </p:par>
                        <p:par>
                          <p:cTn id="39" fill="hold">
                            <p:stCondLst>
                              <p:cond delay="3000"/>
                            </p:stCondLst>
                            <p:childTnLst>
                              <p:par>
                                <p:cTn id="40" presetID="10" presetClass="exit" presetSubtype="0" fill="hold" nodeType="afterEffect">
                                  <p:stCondLst>
                                    <p:cond delay="0"/>
                                  </p:stCondLst>
                                  <p:childTnLst>
                                    <p:animEffect transition="out" filter="fade">
                                      <p:cBhvr>
                                        <p:cTn id="41" dur="500"/>
                                        <p:tgtEl>
                                          <p:spTgt spid="45"/>
                                        </p:tgtEl>
                                      </p:cBhvr>
                                    </p:animEffect>
                                    <p:set>
                                      <p:cBhvr>
                                        <p:cTn id="42" dur="1" fill="hold">
                                          <p:stCondLst>
                                            <p:cond delay="499"/>
                                          </p:stCondLst>
                                        </p:cTn>
                                        <p:tgtEl>
                                          <p:spTgt spid="4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circle(in)">
                                      <p:cBhvr>
                                        <p:cTn id="47" dur="750"/>
                                        <p:tgtEl>
                                          <p:spTgt spid="46"/>
                                        </p:tgtEl>
                                      </p:cBhvr>
                                    </p:animEffect>
                                  </p:childTnLst>
                                </p:cTn>
                              </p:par>
                            </p:childTnLst>
                          </p:cTn>
                        </p:par>
                        <p:par>
                          <p:cTn id="48" fill="hold">
                            <p:stCondLst>
                              <p:cond delay="750"/>
                            </p:stCondLst>
                            <p:childTnLst>
                              <p:par>
                                <p:cTn id="49" presetID="10" presetClass="entr" presetSubtype="0" fill="hold" grpId="0" nodeType="afterEffect">
                                  <p:stCondLst>
                                    <p:cond delay="0"/>
                                  </p:stCondLst>
                                  <p:childTnLst>
                                    <p:set>
                                      <p:cBhvr>
                                        <p:cTn id="50" dur="1" fill="hold">
                                          <p:stCondLst>
                                            <p:cond delay="0"/>
                                          </p:stCondLst>
                                        </p:cTn>
                                        <p:tgtEl>
                                          <p:spTgt spid="16">
                                            <p:txEl>
                                              <p:pRg st="0" end="0"/>
                                            </p:txEl>
                                          </p:spTgt>
                                        </p:tgtEl>
                                        <p:attrNameLst>
                                          <p:attrName>style.visibility</p:attrName>
                                        </p:attrNameLst>
                                      </p:cBhvr>
                                      <p:to>
                                        <p:strVal val="visible"/>
                                      </p:to>
                                    </p:set>
                                    <p:animEffect transition="in" filter="fade">
                                      <p:cBhvr>
                                        <p:cTn id="51" dur="750"/>
                                        <p:tgtEl>
                                          <p:spTgt spid="16">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xEl>
                                              <p:pRg st="1" end="1"/>
                                            </p:txEl>
                                          </p:spTgt>
                                        </p:tgtEl>
                                        <p:attrNameLst>
                                          <p:attrName>style.visibility</p:attrName>
                                        </p:attrNameLst>
                                      </p:cBhvr>
                                      <p:to>
                                        <p:strVal val="visible"/>
                                      </p:to>
                                    </p:set>
                                    <p:animEffect transition="in" filter="fade">
                                      <p:cBhvr>
                                        <p:cTn id="54" dur="750"/>
                                        <p:tgtEl>
                                          <p:spTgt spid="16">
                                            <p:txEl>
                                              <p:pRg st="1" end="1"/>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xEl>
                                              <p:pRg st="2" end="2"/>
                                            </p:txEl>
                                          </p:spTgt>
                                        </p:tgtEl>
                                        <p:attrNameLst>
                                          <p:attrName>style.visibility</p:attrName>
                                        </p:attrNameLst>
                                      </p:cBhvr>
                                      <p:to>
                                        <p:strVal val="visible"/>
                                      </p:to>
                                    </p:set>
                                    <p:animEffect transition="in" filter="fade">
                                      <p:cBhvr>
                                        <p:cTn id="57" dur="750"/>
                                        <p:tgtEl>
                                          <p:spTgt spid="16">
                                            <p:txEl>
                                              <p:pRg st="2" end="2"/>
                                            </p:txEl>
                                          </p:spTgt>
                                        </p:tgtEl>
                                      </p:cBhvr>
                                    </p:animEffect>
                                  </p:childTnLst>
                                </p:cTn>
                              </p:par>
                            </p:childTnLst>
                          </p:cTn>
                        </p:par>
                        <p:par>
                          <p:cTn id="58" fill="hold">
                            <p:stCondLst>
                              <p:cond delay="1500"/>
                            </p:stCondLst>
                            <p:childTnLst>
                              <p:par>
                                <p:cTn id="59" presetID="10" presetClass="exit" presetSubtype="0" fill="hold" nodeType="afterEffect">
                                  <p:stCondLst>
                                    <p:cond delay="0"/>
                                  </p:stCondLst>
                                  <p:childTnLst>
                                    <p:animEffect transition="out" filter="fade">
                                      <p:cBhvr>
                                        <p:cTn id="60" dur="500"/>
                                        <p:tgtEl>
                                          <p:spTgt spid="46"/>
                                        </p:tgtEl>
                                      </p:cBhvr>
                                    </p:animEffect>
                                    <p:set>
                                      <p:cBhvr>
                                        <p:cTn id="61" dur="1" fill="hold">
                                          <p:stCondLst>
                                            <p:cond delay="499"/>
                                          </p:stCondLst>
                                        </p:cTn>
                                        <p:tgtEl>
                                          <p:spTgt spid="46"/>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nodeType="click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circle(in)">
                                      <p:cBhvr>
                                        <p:cTn id="66" dur="750"/>
                                        <p:tgtEl>
                                          <p:spTgt spid="47"/>
                                        </p:tgtEl>
                                      </p:cBhvr>
                                    </p:animEffect>
                                  </p:childTnLst>
                                </p:cTn>
                              </p:par>
                            </p:childTnLst>
                          </p:cTn>
                        </p:par>
                        <p:par>
                          <p:cTn id="67" fill="hold">
                            <p:stCondLst>
                              <p:cond delay="750"/>
                            </p:stCondLst>
                            <p:childTnLst>
                              <p:par>
                                <p:cTn id="68" presetID="10" presetClass="entr" presetSubtype="0" fill="hold" grpId="0" nodeType="afterEffect">
                                  <p:stCondLst>
                                    <p:cond delay="0"/>
                                  </p:stCondLst>
                                  <p:childTnLst>
                                    <p:set>
                                      <p:cBhvr>
                                        <p:cTn id="69" dur="1" fill="hold">
                                          <p:stCondLst>
                                            <p:cond delay="0"/>
                                          </p:stCondLst>
                                        </p:cTn>
                                        <p:tgtEl>
                                          <p:spTgt spid="10">
                                            <p:txEl>
                                              <p:pRg st="0" end="0"/>
                                            </p:txEl>
                                          </p:spTgt>
                                        </p:tgtEl>
                                        <p:attrNameLst>
                                          <p:attrName>style.visibility</p:attrName>
                                        </p:attrNameLst>
                                      </p:cBhvr>
                                      <p:to>
                                        <p:strVal val="visible"/>
                                      </p:to>
                                    </p:set>
                                    <p:animEffect transition="in" filter="fade">
                                      <p:cBhvr>
                                        <p:cTn id="70" dur="750"/>
                                        <p:tgtEl>
                                          <p:spTgt spid="10">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0">
                                            <p:txEl>
                                              <p:pRg st="1" end="1"/>
                                            </p:txEl>
                                          </p:spTgt>
                                        </p:tgtEl>
                                        <p:attrNameLst>
                                          <p:attrName>style.visibility</p:attrName>
                                        </p:attrNameLst>
                                      </p:cBhvr>
                                      <p:to>
                                        <p:strVal val="visible"/>
                                      </p:to>
                                    </p:set>
                                    <p:animEffect transition="in" filter="fade">
                                      <p:cBhvr>
                                        <p:cTn id="73" dur="750"/>
                                        <p:tgtEl>
                                          <p:spTgt spid="10">
                                            <p:txEl>
                                              <p:pRg st="1" end="1"/>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
                                            <p:txEl>
                                              <p:pRg st="2" end="2"/>
                                            </p:txEl>
                                          </p:spTgt>
                                        </p:tgtEl>
                                        <p:attrNameLst>
                                          <p:attrName>style.visibility</p:attrName>
                                        </p:attrNameLst>
                                      </p:cBhvr>
                                      <p:to>
                                        <p:strVal val="visible"/>
                                      </p:to>
                                    </p:set>
                                    <p:animEffect transition="in" filter="fade">
                                      <p:cBhvr>
                                        <p:cTn id="76" dur="750"/>
                                        <p:tgtEl>
                                          <p:spTgt spid="10">
                                            <p:txEl>
                                              <p:pRg st="2" end="2"/>
                                            </p:txEl>
                                          </p:spTgt>
                                        </p:tgtEl>
                                      </p:cBhvr>
                                    </p:animEffect>
                                  </p:childTnLst>
                                </p:cTn>
                              </p:par>
                            </p:childTnLst>
                          </p:cTn>
                        </p:par>
                        <p:par>
                          <p:cTn id="77" fill="hold">
                            <p:stCondLst>
                              <p:cond delay="1500"/>
                            </p:stCondLst>
                            <p:childTnLst>
                              <p:par>
                                <p:cTn id="78" presetID="10" presetClass="exit" presetSubtype="0" fill="hold" nodeType="afterEffect">
                                  <p:stCondLst>
                                    <p:cond delay="0"/>
                                  </p:stCondLst>
                                  <p:childTnLst>
                                    <p:animEffect transition="out" filter="fade">
                                      <p:cBhvr>
                                        <p:cTn id="79" dur="500"/>
                                        <p:tgtEl>
                                          <p:spTgt spid="47"/>
                                        </p:tgtEl>
                                      </p:cBhvr>
                                    </p:animEffect>
                                    <p:set>
                                      <p:cBhvr>
                                        <p:cTn id="80" dur="1" fill="hold">
                                          <p:stCondLst>
                                            <p:cond delay="499"/>
                                          </p:stCondLst>
                                        </p:cTn>
                                        <p:tgtEl>
                                          <p:spTgt spid="4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6" presetClass="entr" presetSubtype="16" fill="hold" nodeType="clickEffect">
                                  <p:stCondLst>
                                    <p:cond delay="0"/>
                                  </p:stCondLst>
                                  <p:childTnLst>
                                    <p:set>
                                      <p:cBhvr>
                                        <p:cTn id="84" dur="1" fill="hold">
                                          <p:stCondLst>
                                            <p:cond delay="0"/>
                                          </p:stCondLst>
                                        </p:cTn>
                                        <p:tgtEl>
                                          <p:spTgt spid="48"/>
                                        </p:tgtEl>
                                        <p:attrNameLst>
                                          <p:attrName>style.visibility</p:attrName>
                                        </p:attrNameLst>
                                      </p:cBhvr>
                                      <p:to>
                                        <p:strVal val="visible"/>
                                      </p:to>
                                    </p:set>
                                    <p:animEffect transition="in" filter="circle(in)">
                                      <p:cBhvr>
                                        <p:cTn id="85" dur="750"/>
                                        <p:tgtEl>
                                          <p:spTgt spid="48"/>
                                        </p:tgtEl>
                                      </p:cBhvr>
                                    </p:animEffect>
                                  </p:childTnLst>
                                </p:cTn>
                              </p:par>
                            </p:childTnLst>
                          </p:cTn>
                        </p:par>
                        <p:par>
                          <p:cTn id="86" fill="hold">
                            <p:stCondLst>
                              <p:cond delay="750"/>
                            </p:stCondLst>
                            <p:childTnLst>
                              <p:par>
                                <p:cTn id="87" presetID="10" presetClass="entr" presetSubtype="0" fill="hold" grpId="0" nodeType="afterEffect">
                                  <p:stCondLst>
                                    <p:cond delay="0"/>
                                  </p:stCondLst>
                                  <p:childTnLst>
                                    <p:set>
                                      <p:cBhvr>
                                        <p:cTn id="88" dur="1" fill="hold">
                                          <p:stCondLst>
                                            <p:cond delay="0"/>
                                          </p:stCondLst>
                                        </p:cTn>
                                        <p:tgtEl>
                                          <p:spTgt spid="11">
                                            <p:txEl>
                                              <p:pRg st="0" end="0"/>
                                            </p:txEl>
                                          </p:spTgt>
                                        </p:tgtEl>
                                        <p:attrNameLst>
                                          <p:attrName>style.visibility</p:attrName>
                                        </p:attrNameLst>
                                      </p:cBhvr>
                                      <p:to>
                                        <p:strVal val="visible"/>
                                      </p:to>
                                    </p:set>
                                    <p:animEffect transition="in" filter="fade">
                                      <p:cBhvr>
                                        <p:cTn id="89" dur="750"/>
                                        <p:tgtEl>
                                          <p:spTgt spid="11">
                                            <p:txEl>
                                              <p:pRg st="0" end="0"/>
                                            </p:tx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1">
                                            <p:txEl>
                                              <p:pRg st="1" end="1"/>
                                            </p:txEl>
                                          </p:spTgt>
                                        </p:tgtEl>
                                        <p:attrNameLst>
                                          <p:attrName>style.visibility</p:attrName>
                                        </p:attrNameLst>
                                      </p:cBhvr>
                                      <p:to>
                                        <p:strVal val="visible"/>
                                      </p:to>
                                    </p:set>
                                    <p:animEffect transition="in" filter="fade">
                                      <p:cBhvr>
                                        <p:cTn id="92" dur="750"/>
                                        <p:tgtEl>
                                          <p:spTgt spid="11">
                                            <p:txEl>
                                              <p:pRg st="1" end="1"/>
                                            </p:tx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1">
                                            <p:txEl>
                                              <p:pRg st="2" end="2"/>
                                            </p:txEl>
                                          </p:spTgt>
                                        </p:tgtEl>
                                        <p:attrNameLst>
                                          <p:attrName>style.visibility</p:attrName>
                                        </p:attrNameLst>
                                      </p:cBhvr>
                                      <p:to>
                                        <p:strVal val="visible"/>
                                      </p:to>
                                    </p:set>
                                    <p:animEffect transition="in" filter="fade">
                                      <p:cBhvr>
                                        <p:cTn id="95" dur="750"/>
                                        <p:tgtEl>
                                          <p:spTgt spid="11">
                                            <p:txEl>
                                              <p:pRg st="2" end="2"/>
                                            </p:txEl>
                                          </p:spTgt>
                                        </p:tgtEl>
                                      </p:cBhvr>
                                    </p:animEffect>
                                  </p:childTnLst>
                                </p:cTn>
                              </p:par>
                            </p:childTnLst>
                          </p:cTn>
                        </p:par>
                        <p:par>
                          <p:cTn id="96" fill="hold">
                            <p:stCondLst>
                              <p:cond delay="1500"/>
                            </p:stCondLst>
                            <p:childTnLst>
                              <p:par>
                                <p:cTn id="97" presetID="10" presetClass="exit" presetSubtype="0" fill="hold" nodeType="afterEffect">
                                  <p:stCondLst>
                                    <p:cond delay="0"/>
                                  </p:stCondLst>
                                  <p:childTnLst>
                                    <p:animEffect transition="out" filter="fade">
                                      <p:cBhvr>
                                        <p:cTn id="98" dur="500"/>
                                        <p:tgtEl>
                                          <p:spTgt spid="48"/>
                                        </p:tgtEl>
                                      </p:cBhvr>
                                    </p:animEffect>
                                    <p:set>
                                      <p:cBhvr>
                                        <p:cTn id="99" dur="1" fill="hold">
                                          <p:stCondLst>
                                            <p:cond delay="499"/>
                                          </p:stCondLst>
                                        </p:cTn>
                                        <p:tgtEl>
                                          <p:spTgt spid="48"/>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6" presetClass="entr" presetSubtype="16" fill="hold" nodeType="click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circle(in)">
                                      <p:cBhvr>
                                        <p:cTn id="104" dur="750"/>
                                        <p:tgtEl>
                                          <p:spTgt spid="49"/>
                                        </p:tgtEl>
                                      </p:cBhvr>
                                    </p:animEffect>
                                  </p:childTnLst>
                                </p:cTn>
                              </p:par>
                            </p:childTnLst>
                          </p:cTn>
                        </p:par>
                        <p:par>
                          <p:cTn id="105" fill="hold">
                            <p:stCondLst>
                              <p:cond delay="750"/>
                            </p:stCondLst>
                            <p:childTnLst>
                              <p:par>
                                <p:cTn id="106" presetID="10" presetClass="entr" presetSubtype="0" fill="hold" grpId="0" nodeType="afterEffect">
                                  <p:stCondLst>
                                    <p:cond delay="0"/>
                                  </p:stCondLst>
                                  <p:childTnLst>
                                    <p:set>
                                      <p:cBhvr>
                                        <p:cTn id="107" dur="1" fill="hold">
                                          <p:stCondLst>
                                            <p:cond delay="0"/>
                                          </p:stCondLst>
                                        </p:cTn>
                                        <p:tgtEl>
                                          <p:spTgt spid="12">
                                            <p:txEl>
                                              <p:pRg st="0" end="0"/>
                                            </p:txEl>
                                          </p:spTgt>
                                        </p:tgtEl>
                                        <p:attrNameLst>
                                          <p:attrName>style.visibility</p:attrName>
                                        </p:attrNameLst>
                                      </p:cBhvr>
                                      <p:to>
                                        <p:strVal val="visible"/>
                                      </p:to>
                                    </p:set>
                                    <p:animEffect transition="in" filter="fade">
                                      <p:cBhvr>
                                        <p:cTn id="108" dur="750"/>
                                        <p:tgtEl>
                                          <p:spTgt spid="12">
                                            <p:txEl>
                                              <p:pRg st="0" end="0"/>
                                            </p:txEl>
                                          </p:spTgt>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2">
                                            <p:txEl>
                                              <p:pRg st="1" end="1"/>
                                            </p:txEl>
                                          </p:spTgt>
                                        </p:tgtEl>
                                        <p:attrNameLst>
                                          <p:attrName>style.visibility</p:attrName>
                                        </p:attrNameLst>
                                      </p:cBhvr>
                                      <p:to>
                                        <p:strVal val="visible"/>
                                      </p:to>
                                    </p:set>
                                    <p:animEffect transition="in" filter="fade">
                                      <p:cBhvr>
                                        <p:cTn id="111" dur="750"/>
                                        <p:tgtEl>
                                          <p:spTgt spid="12">
                                            <p:txEl>
                                              <p:pRg st="1" end="1"/>
                                            </p:txEl>
                                          </p:spTgt>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2">
                                            <p:txEl>
                                              <p:pRg st="2" end="2"/>
                                            </p:txEl>
                                          </p:spTgt>
                                        </p:tgtEl>
                                        <p:attrNameLst>
                                          <p:attrName>style.visibility</p:attrName>
                                        </p:attrNameLst>
                                      </p:cBhvr>
                                      <p:to>
                                        <p:strVal val="visible"/>
                                      </p:to>
                                    </p:set>
                                    <p:animEffect transition="in" filter="fade">
                                      <p:cBhvr>
                                        <p:cTn id="114" dur="750"/>
                                        <p:tgtEl>
                                          <p:spTgt spid="12">
                                            <p:txEl>
                                              <p:pRg st="2" end="2"/>
                                            </p:txEl>
                                          </p:spTgt>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2">
                                            <p:txEl>
                                              <p:pRg st="3" end="3"/>
                                            </p:txEl>
                                          </p:spTgt>
                                        </p:tgtEl>
                                        <p:attrNameLst>
                                          <p:attrName>style.visibility</p:attrName>
                                        </p:attrNameLst>
                                      </p:cBhvr>
                                      <p:to>
                                        <p:strVal val="visible"/>
                                      </p:to>
                                    </p:set>
                                    <p:animEffect transition="in" filter="fade">
                                      <p:cBhvr>
                                        <p:cTn id="117" dur="750"/>
                                        <p:tgtEl>
                                          <p:spTgt spid="12">
                                            <p:txEl>
                                              <p:pRg st="3" end="3"/>
                                            </p:txEl>
                                          </p:spTgt>
                                        </p:tgtEl>
                                      </p:cBhvr>
                                    </p:animEffect>
                                  </p:childTnLst>
                                </p:cTn>
                              </p:par>
                            </p:childTnLst>
                          </p:cTn>
                        </p:par>
                        <p:par>
                          <p:cTn id="118" fill="hold">
                            <p:stCondLst>
                              <p:cond delay="1500"/>
                            </p:stCondLst>
                            <p:childTnLst>
                              <p:par>
                                <p:cTn id="119" presetID="10" presetClass="exit" presetSubtype="0" fill="hold" nodeType="afterEffect">
                                  <p:stCondLst>
                                    <p:cond delay="0"/>
                                  </p:stCondLst>
                                  <p:childTnLst>
                                    <p:animEffect transition="out" filter="fade">
                                      <p:cBhvr>
                                        <p:cTn id="120" dur="500"/>
                                        <p:tgtEl>
                                          <p:spTgt spid="49"/>
                                        </p:tgtEl>
                                      </p:cBhvr>
                                    </p:animEffect>
                                    <p:set>
                                      <p:cBhvr>
                                        <p:cTn id="121" dur="1" fill="hold">
                                          <p:stCondLst>
                                            <p:cond delay="499"/>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build="p"/>
      <p:bldP spid="12" grpId="0" build="p"/>
      <p:bldP spid="14" grpId="0" build="p"/>
      <p:bldP spid="15" grpId="0" build="p"/>
      <p:bldP spid="1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A deep dive into each principle</a:t>
            </a:r>
          </a:p>
        </p:txBody>
      </p:sp>
      <p:grpSp>
        <p:nvGrpSpPr>
          <p:cNvPr id="3" name="Group 2">
            <a:extLst>
              <a:ext uri="{FF2B5EF4-FFF2-40B4-BE49-F238E27FC236}">
                <a16:creationId xmlns:a16="http://schemas.microsoft.com/office/drawing/2014/main" id="{28EAD0C4-8EC0-F82D-5F55-92F88FDC162F}"/>
              </a:ext>
            </a:extLst>
          </p:cNvPr>
          <p:cNvGrpSpPr/>
          <p:nvPr/>
        </p:nvGrpSpPr>
        <p:grpSpPr>
          <a:xfrm>
            <a:off x="827395" y="1772527"/>
            <a:ext cx="3160643" cy="4491601"/>
            <a:chOff x="897734" y="1721546"/>
            <a:chExt cx="3160643" cy="4491601"/>
          </a:xfrm>
        </p:grpSpPr>
        <p:sp>
          <p:nvSpPr>
            <p:cNvPr id="6" name="Rectangle: Rounded Corners 5">
              <a:extLst>
                <a:ext uri="{FF2B5EF4-FFF2-40B4-BE49-F238E27FC236}">
                  <a16:creationId xmlns:a16="http://schemas.microsoft.com/office/drawing/2014/main" id="{CAF253AB-0481-9F61-DCA6-CD6E0C14559D}"/>
                </a:ext>
              </a:extLst>
            </p:cNvPr>
            <p:cNvSpPr/>
            <p:nvPr/>
          </p:nvSpPr>
          <p:spPr>
            <a:xfrm>
              <a:off x="897734" y="1721546"/>
              <a:ext cx="3160643" cy="449160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100" b="1" dirty="0">
                <a:solidFill>
                  <a:srgbClr val="1B4298"/>
                </a:solidFill>
              </a:endParaRPr>
            </a:p>
            <a:p>
              <a:pPr algn="ctr">
                <a:lnSpc>
                  <a:spcPct val="120000"/>
                </a:lnSpc>
              </a:pPr>
              <a:endParaRPr lang="en-IN" sz="1400" b="1" dirty="0">
                <a:solidFill>
                  <a:srgbClr val="1B4298"/>
                </a:solidFill>
              </a:endParaRPr>
            </a:p>
            <a:p>
              <a:pPr algn="ctr">
                <a:lnSpc>
                  <a:spcPct val="120000"/>
                </a:lnSpc>
              </a:pPr>
              <a:endParaRPr lang="en-IN" sz="1400" b="1" dirty="0">
                <a:solidFill>
                  <a:srgbClr val="1B4298"/>
                </a:solidFill>
              </a:endParaRPr>
            </a:p>
            <a:p>
              <a:pPr algn="ctr">
                <a:lnSpc>
                  <a:spcPct val="120000"/>
                </a:lnSpc>
              </a:pPr>
              <a:endParaRPr lang="en-IN" sz="1400" b="1" dirty="0">
                <a:solidFill>
                  <a:srgbClr val="1B4298"/>
                </a:solidFill>
              </a:endParaRPr>
            </a:p>
            <a:p>
              <a:pPr algn="ctr">
                <a:lnSpc>
                  <a:spcPct val="120000"/>
                </a:lnSpc>
              </a:pPr>
              <a:endParaRPr lang="en-IN" sz="1400" b="1" dirty="0">
                <a:solidFill>
                  <a:srgbClr val="1B4298"/>
                </a:solidFill>
              </a:endParaRPr>
            </a:p>
            <a:p>
              <a:pPr algn="ctr">
                <a:lnSpc>
                  <a:spcPct val="120000"/>
                </a:lnSpc>
              </a:pPr>
              <a:r>
                <a:rPr lang="en-IN" sz="1400" b="1" dirty="0">
                  <a:solidFill>
                    <a:schemeClr val="tx1"/>
                  </a:solidFill>
                </a:rPr>
                <a:t>Utmost Good Faith</a:t>
              </a:r>
            </a:p>
            <a:p>
              <a:pPr>
                <a:lnSpc>
                  <a:spcPct val="120000"/>
                </a:lnSpc>
              </a:pPr>
              <a:endParaRPr lang="en-IN" sz="1400" b="1" dirty="0">
                <a:solidFill>
                  <a:srgbClr val="1B4298"/>
                </a:solidFill>
              </a:endParaRPr>
            </a:p>
            <a:p>
              <a:pPr algn="ctr">
                <a:lnSpc>
                  <a:spcPct val="120000"/>
                </a:lnSpc>
              </a:pPr>
              <a:r>
                <a:rPr lang="en-US" sz="1400" dirty="0">
                  <a:solidFill>
                    <a:schemeClr val="tx1">
                      <a:lumMod val="75000"/>
                    </a:schemeClr>
                  </a:solidFill>
                </a:rPr>
                <a:t>Both parties, insurer and insured should enter into contract in good faith.</a:t>
              </a:r>
            </a:p>
            <a:p>
              <a:pPr algn="ctr">
                <a:lnSpc>
                  <a:spcPct val="120000"/>
                </a:lnSpc>
              </a:pPr>
              <a:endParaRPr lang="en-US" sz="1400" dirty="0">
                <a:solidFill>
                  <a:schemeClr val="tx1">
                    <a:lumMod val="75000"/>
                  </a:schemeClr>
                </a:solidFill>
              </a:endParaRPr>
            </a:p>
            <a:p>
              <a:pPr algn="ctr">
                <a:lnSpc>
                  <a:spcPct val="120000"/>
                </a:lnSpc>
              </a:pPr>
              <a:r>
                <a:rPr lang="en-US" sz="1400" dirty="0">
                  <a:solidFill>
                    <a:schemeClr val="tx1">
                      <a:lumMod val="75000"/>
                    </a:schemeClr>
                  </a:solidFill>
                </a:rPr>
                <a:t>Insured should provide all the facts and information correctly to the insurer .</a:t>
              </a:r>
            </a:p>
            <a:p>
              <a:pPr algn="ctr">
                <a:lnSpc>
                  <a:spcPct val="120000"/>
                </a:lnSpc>
              </a:pPr>
              <a:endParaRPr lang="en-US" sz="1400" dirty="0">
                <a:solidFill>
                  <a:schemeClr val="tx1">
                    <a:lumMod val="75000"/>
                  </a:schemeClr>
                </a:solidFill>
              </a:endParaRPr>
            </a:p>
            <a:p>
              <a:pPr algn="ctr">
                <a:lnSpc>
                  <a:spcPct val="120000"/>
                </a:lnSpc>
              </a:pPr>
              <a:r>
                <a:rPr lang="en-US" sz="1400" dirty="0">
                  <a:solidFill>
                    <a:schemeClr val="tx1">
                      <a:lumMod val="75000"/>
                    </a:schemeClr>
                  </a:solidFill>
                </a:rPr>
                <a:t>Insurer should provide all the details regarding insurance contract.</a:t>
              </a:r>
            </a:p>
            <a:p>
              <a:pPr>
                <a:lnSpc>
                  <a:spcPct val="120000"/>
                </a:lnSpc>
              </a:pPr>
              <a:endParaRPr lang="en-US" sz="1400" dirty="0">
                <a:solidFill>
                  <a:srgbClr val="1B4298"/>
                </a:solidFill>
              </a:endParaRPr>
            </a:p>
            <a:p>
              <a:pPr>
                <a:lnSpc>
                  <a:spcPct val="120000"/>
                </a:lnSpc>
              </a:pPr>
              <a:endParaRPr lang="en-US" sz="1400" dirty="0">
                <a:solidFill>
                  <a:srgbClr val="1B4298"/>
                </a:solidFill>
              </a:endParaRPr>
            </a:p>
            <a:p>
              <a:pPr>
                <a:lnSpc>
                  <a:spcPct val="120000"/>
                </a:lnSpc>
              </a:pPr>
              <a:endParaRPr lang="en-US" sz="1100" dirty="0">
                <a:solidFill>
                  <a:srgbClr val="1B4298"/>
                </a:solidFill>
              </a:endParaRPr>
            </a:p>
            <a:p>
              <a:pPr>
                <a:lnSpc>
                  <a:spcPct val="120000"/>
                </a:lnSpc>
              </a:pPr>
              <a:endParaRPr lang="en-US" sz="1100"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a:p>
              <a:pPr>
                <a:lnSpc>
                  <a:spcPct val="120000"/>
                </a:lnSpc>
              </a:pPr>
              <a:endParaRPr lang="en-IN" sz="1100" b="1" dirty="0">
                <a:solidFill>
                  <a:srgbClr val="1B4298"/>
                </a:solidFill>
              </a:endParaRPr>
            </a:p>
          </p:txBody>
        </p:sp>
        <p:pic>
          <p:nvPicPr>
            <p:cNvPr id="13" name="Graphic 12" descr="Handshake with solid fill">
              <a:extLst>
                <a:ext uri="{FF2B5EF4-FFF2-40B4-BE49-F238E27FC236}">
                  <a16:creationId xmlns:a16="http://schemas.microsoft.com/office/drawing/2014/main" id="{85BFBB75-4113-B71D-F975-1059F844B1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81879" y="1721546"/>
              <a:ext cx="992351" cy="992351"/>
            </a:xfrm>
            <a:prstGeom prst="rect">
              <a:avLst/>
            </a:prstGeom>
          </p:spPr>
        </p:pic>
      </p:grpSp>
      <p:grpSp>
        <p:nvGrpSpPr>
          <p:cNvPr id="50" name="Group 49">
            <a:extLst>
              <a:ext uri="{FF2B5EF4-FFF2-40B4-BE49-F238E27FC236}">
                <a16:creationId xmlns:a16="http://schemas.microsoft.com/office/drawing/2014/main" id="{4730F420-0E83-B6EB-292E-69C4E59A4BCF}"/>
              </a:ext>
            </a:extLst>
          </p:cNvPr>
          <p:cNvGrpSpPr/>
          <p:nvPr/>
        </p:nvGrpSpPr>
        <p:grpSpPr>
          <a:xfrm>
            <a:off x="4544795" y="1772525"/>
            <a:ext cx="3160643" cy="4491601"/>
            <a:chOff x="4711313" y="1772527"/>
            <a:chExt cx="3160643" cy="4491601"/>
          </a:xfrm>
        </p:grpSpPr>
        <p:sp>
          <p:nvSpPr>
            <p:cNvPr id="51" name="Rectangle: Rounded Corners 50">
              <a:extLst>
                <a:ext uri="{FF2B5EF4-FFF2-40B4-BE49-F238E27FC236}">
                  <a16:creationId xmlns:a16="http://schemas.microsoft.com/office/drawing/2014/main" id="{51EA9F14-23E3-B960-BA40-BB1D02CF8A3C}"/>
                </a:ext>
              </a:extLst>
            </p:cNvPr>
            <p:cNvSpPr/>
            <p:nvPr/>
          </p:nvSpPr>
          <p:spPr>
            <a:xfrm>
              <a:off x="4711313" y="1772527"/>
              <a:ext cx="3160643" cy="449160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r>
                <a:rPr lang="en-IN" sz="1400" b="1" dirty="0">
                  <a:solidFill>
                    <a:schemeClr val="tx1"/>
                  </a:solidFill>
                </a:rPr>
                <a:t>Indemnity</a:t>
              </a:r>
            </a:p>
            <a:p>
              <a:pPr algn="ctr"/>
              <a:endParaRPr lang="en-IN" sz="1400" b="1" dirty="0">
                <a:solidFill>
                  <a:srgbClr val="1B4298"/>
                </a:solidFill>
              </a:endParaRPr>
            </a:p>
            <a:p>
              <a:pPr algn="ctr"/>
              <a:r>
                <a:rPr lang="en-US" sz="1400" dirty="0">
                  <a:solidFill>
                    <a:schemeClr val="tx1">
                      <a:lumMod val="75000"/>
                    </a:schemeClr>
                  </a:solidFill>
                </a:rPr>
                <a:t>The insurance company will restore the insured to the same financial position as was before the loss occurred—no profit, no loss.</a:t>
              </a:r>
            </a:p>
            <a:p>
              <a:pPr algn="ctr"/>
              <a:endParaRPr lang="en-US" sz="1400" dirty="0">
                <a:solidFill>
                  <a:schemeClr val="tx1">
                    <a:lumMod val="75000"/>
                  </a:schemeClr>
                </a:solidFill>
              </a:endParaRPr>
            </a:p>
            <a:p>
              <a:pPr algn="ctr"/>
              <a:r>
                <a:rPr lang="en-US" sz="1400" dirty="0">
                  <a:solidFill>
                    <a:schemeClr val="tx1">
                      <a:lumMod val="75000"/>
                    </a:schemeClr>
                  </a:solidFill>
                </a:rPr>
                <a:t>Insured cannot make profit from an insurance contract. </a:t>
              </a:r>
            </a:p>
            <a:p>
              <a:pPr algn="ctr"/>
              <a:endParaRPr lang="en-US" sz="1400" dirty="0">
                <a:solidFill>
                  <a:schemeClr val="tx1">
                    <a:lumMod val="75000"/>
                  </a:schemeClr>
                </a:solidFill>
              </a:endParaRPr>
            </a:p>
            <a:p>
              <a:pPr algn="ctr"/>
              <a:r>
                <a:rPr lang="en-US" sz="1400" dirty="0">
                  <a:solidFill>
                    <a:schemeClr val="tx1">
                      <a:lumMod val="75000"/>
                    </a:schemeClr>
                  </a:solidFill>
                </a:rPr>
                <a:t>The insured will not be compensated by the insurance company for an amount exceeding your economic loss.</a:t>
              </a:r>
            </a:p>
            <a:p>
              <a:endParaRPr lang="en-US" sz="1200" dirty="0">
                <a:solidFill>
                  <a:srgbClr val="1B4298"/>
                </a:solidFill>
              </a:endParaRPr>
            </a:p>
            <a:p>
              <a:endParaRPr lang="en-US" sz="1100" dirty="0">
                <a:solidFill>
                  <a:srgbClr val="1B4298"/>
                </a:solidFill>
              </a:endParaRPr>
            </a:p>
            <a:p>
              <a:endParaRPr lang="en-US" sz="1100" dirty="0">
                <a:solidFill>
                  <a:srgbClr val="1B4298"/>
                </a:solidFill>
              </a:endParaRPr>
            </a:p>
            <a:p>
              <a:endParaRPr lang="en-IN" sz="1100" dirty="0">
                <a:solidFill>
                  <a:srgbClr val="1B4298"/>
                </a:solidFill>
              </a:endParaRPr>
            </a:p>
          </p:txBody>
        </p:sp>
        <p:pic>
          <p:nvPicPr>
            <p:cNvPr id="52" name="Graphic 51" descr="Flying Money with solid fill">
              <a:extLst>
                <a:ext uri="{FF2B5EF4-FFF2-40B4-BE49-F238E27FC236}">
                  <a16:creationId xmlns:a16="http://schemas.microsoft.com/office/drawing/2014/main" id="{9DAFDEA5-8B71-A0D6-0884-2BAE984F8FF1}"/>
                </a:ext>
              </a:extLst>
            </p:cNvPr>
            <p:cNvPicPr>
              <a:picLocks noChangeAspect="1"/>
            </p:cNvPicPr>
            <p:nvPr/>
          </p:nvPicPr>
          <p:blipFill>
            <a:blip r:embed="rId4"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67864" y="1885610"/>
              <a:ext cx="743880" cy="743880"/>
            </a:xfrm>
            <a:prstGeom prst="rect">
              <a:avLst/>
            </a:prstGeom>
          </p:spPr>
        </p:pic>
      </p:grpSp>
      <p:grpSp>
        <p:nvGrpSpPr>
          <p:cNvPr id="53" name="Group 52">
            <a:extLst>
              <a:ext uri="{FF2B5EF4-FFF2-40B4-BE49-F238E27FC236}">
                <a16:creationId xmlns:a16="http://schemas.microsoft.com/office/drawing/2014/main" id="{0D351FF1-6220-F2B0-598B-26D77132AED2}"/>
              </a:ext>
            </a:extLst>
          </p:cNvPr>
          <p:cNvGrpSpPr/>
          <p:nvPr/>
        </p:nvGrpSpPr>
        <p:grpSpPr>
          <a:xfrm>
            <a:off x="8203962" y="1765360"/>
            <a:ext cx="3160643" cy="4491601"/>
            <a:chOff x="8509017" y="1772528"/>
            <a:chExt cx="3160643" cy="4491601"/>
          </a:xfrm>
        </p:grpSpPr>
        <p:sp>
          <p:nvSpPr>
            <p:cNvPr id="54" name="Rectangle: Rounded Corners 53">
              <a:extLst>
                <a:ext uri="{FF2B5EF4-FFF2-40B4-BE49-F238E27FC236}">
                  <a16:creationId xmlns:a16="http://schemas.microsoft.com/office/drawing/2014/main" id="{0BC27E01-7EEB-1B04-C3FC-38979862DB16}"/>
                </a:ext>
              </a:extLst>
            </p:cNvPr>
            <p:cNvSpPr/>
            <p:nvPr/>
          </p:nvSpPr>
          <p:spPr>
            <a:xfrm>
              <a:off x="8509017" y="1772528"/>
              <a:ext cx="3160643" cy="449160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400" b="1" dirty="0">
                <a:solidFill>
                  <a:srgbClr val="1B4298"/>
                </a:solidFill>
              </a:endParaRPr>
            </a:p>
            <a:p>
              <a:pPr algn="ctr"/>
              <a:r>
                <a:rPr lang="en-IN" sz="1400" b="1" dirty="0">
                  <a:solidFill>
                    <a:schemeClr val="tx1"/>
                  </a:solidFill>
                </a:rPr>
                <a:t>Insurable Interest</a:t>
              </a:r>
            </a:p>
            <a:p>
              <a:pPr algn="ctr"/>
              <a:endParaRPr lang="en-IN" sz="1400" b="1" dirty="0">
                <a:solidFill>
                  <a:srgbClr val="1B4298"/>
                </a:solidFill>
              </a:endParaRPr>
            </a:p>
            <a:p>
              <a:pPr algn="ctr"/>
              <a:r>
                <a:rPr lang="en-US" sz="1400" dirty="0">
                  <a:solidFill>
                    <a:schemeClr val="tx1">
                      <a:lumMod val="75000"/>
                    </a:schemeClr>
                  </a:solidFill>
                </a:rPr>
                <a:t>Insured must have the insurable interest on the subject matter.</a:t>
              </a:r>
            </a:p>
            <a:p>
              <a:pPr algn="ctr"/>
              <a:endParaRPr lang="en-US" sz="1400" dirty="0">
                <a:solidFill>
                  <a:schemeClr val="tx1">
                    <a:lumMod val="75000"/>
                  </a:schemeClr>
                </a:solidFill>
              </a:endParaRPr>
            </a:p>
            <a:p>
              <a:pPr algn="ctr"/>
              <a:r>
                <a:rPr lang="en-US" sz="1400" dirty="0">
                  <a:solidFill>
                    <a:schemeClr val="tx1">
                      <a:lumMod val="75000"/>
                    </a:schemeClr>
                  </a:solidFill>
                </a:rPr>
                <a:t>Any person, item, event, or action can have insurable interest if its loss or damage results in a financial burden/loss.</a:t>
              </a:r>
            </a:p>
            <a:p>
              <a:pPr algn="ctr"/>
              <a:endParaRPr lang="en-US" sz="1100" dirty="0">
                <a:solidFill>
                  <a:srgbClr val="1B4298"/>
                </a:solidFill>
              </a:endParaRPr>
            </a:p>
            <a:p>
              <a:pPr algn="ctr"/>
              <a:endParaRPr lang="en-US" sz="1100"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r>
                <a:rPr lang="en-IN" sz="1100" b="1" dirty="0">
                  <a:solidFill>
                    <a:srgbClr val="1B4298"/>
                  </a:solidFill>
                </a:rPr>
                <a:t> </a:t>
              </a:r>
            </a:p>
          </p:txBody>
        </p:sp>
        <p:pic>
          <p:nvPicPr>
            <p:cNvPr id="55" name="Graphic 54" descr="Mortgage with solid fill">
              <a:extLst>
                <a:ext uri="{FF2B5EF4-FFF2-40B4-BE49-F238E27FC236}">
                  <a16:creationId xmlns:a16="http://schemas.microsoft.com/office/drawing/2014/main" id="{8A59C49B-89B3-1ED5-576A-052422C19B64}"/>
                </a:ext>
              </a:extLst>
            </p:cNvPr>
            <p:cNvPicPr>
              <a:picLocks noChangeAspect="1"/>
            </p:cNvPicPr>
            <p:nvPr/>
          </p:nvPicPr>
          <p:blipFill>
            <a:blip r:embed="rId6"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41863" y="1885610"/>
              <a:ext cx="694949" cy="694949"/>
            </a:xfrm>
            <a:prstGeom prst="rect">
              <a:avLst/>
            </a:prstGeom>
          </p:spPr>
        </p:pic>
      </p:grpSp>
    </p:spTree>
    <p:extLst>
      <p:ext uri="{BB962C8B-B14F-4D97-AF65-F5344CB8AC3E}">
        <p14:creationId xmlns:p14="http://schemas.microsoft.com/office/powerpoint/2010/main" val="6967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fade">
                                      <p:cBhvr>
                                        <p:cTn id="14" dur="750"/>
                                        <p:tgtEl>
                                          <p:spTgt spid="50"/>
                                        </p:tgtEl>
                                      </p:cBhvr>
                                    </p:animEffect>
                                    <p:anim calcmode="lin" valueType="num">
                                      <p:cBhvr>
                                        <p:cTn id="15" dur="750" fill="hold"/>
                                        <p:tgtEl>
                                          <p:spTgt spid="50"/>
                                        </p:tgtEl>
                                        <p:attrNameLst>
                                          <p:attrName>ppt_x</p:attrName>
                                        </p:attrNameLst>
                                      </p:cBhvr>
                                      <p:tavLst>
                                        <p:tav tm="0">
                                          <p:val>
                                            <p:strVal val="#ppt_x"/>
                                          </p:val>
                                        </p:tav>
                                        <p:tav tm="100000">
                                          <p:val>
                                            <p:strVal val="#ppt_x"/>
                                          </p:val>
                                        </p:tav>
                                      </p:tavLst>
                                    </p:anim>
                                    <p:anim calcmode="lin" valueType="num">
                                      <p:cBhvr>
                                        <p:cTn id="16" dur="75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fade">
                                      <p:cBhvr>
                                        <p:cTn id="21" dur="750"/>
                                        <p:tgtEl>
                                          <p:spTgt spid="53"/>
                                        </p:tgtEl>
                                      </p:cBhvr>
                                    </p:animEffect>
                                    <p:anim calcmode="lin" valueType="num">
                                      <p:cBhvr>
                                        <p:cTn id="22" dur="750" fill="hold"/>
                                        <p:tgtEl>
                                          <p:spTgt spid="53"/>
                                        </p:tgtEl>
                                        <p:attrNameLst>
                                          <p:attrName>ppt_x</p:attrName>
                                        </p:attrNameLst>
                                      </p:cBhvr>
                                      <p:tavLst>
                                        <p:tav tm="0">
                                          <p:val>
                                            <p:strVal val="#ppt_x"/>
                                          </p:val>
                                        </p:tav>
                                        <p:tav tm="100000">
                                          <p:val>
                                            <p:strVal val="#ppt_x"/>
                                          </p:val>
                                        </p:tav>
                                      </p:tavLst>
                                    </p:anim>
                                    <p:anim calcmode="lin" valueType="num">
                                      <p:cBhvr>
                                        <p:cTn id="23" dur="75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A deep dive into each principle</a:t>
            </a:r>
          </a:p>
        </p:txBody>
      </p:sp>
      <p:grpSp>
        <p:nvGrpSpPr>
          <p:cNvPr id="4" name="Group 3">
            <a:extLst>
              <a:ext uri="{FF2B5EF4-FFF2-40B4-BE49-F238E27FC236}">
                <a16:creationId xmlns:a16="http://schemas.microsoft.com/office/drawing/2014/main" id="{011408DB-4FA7-3F68-8BBB-C9A8694B3A3A}"/>
              </a:ext>
            </a:extLst>
          </p:cNvPr>
          <p:cNvGrpSpPr/>
          <p:nvPr/>
        </p:nvGrpSpPr>
        <p:grpSpPr>
          <a:xfrm>
            <a:off x="568795" y="1676345"/>
            <a:ext cx="3346602" cy="4491601"/>
            <a:chOff x="792025" y="1280727"/>
            <a:chExt cx="3346602" cy="4491601"/>
          </a:xfrm>
        </p:grpSpPr>
        <p:sp>
          <p:nvSpPr>
            <p:cNvPr id="5" name="Rectangle: Rounded Corners 4">
              <a:extLst>
                <a:ext uri="{FF2B5EF4-FFF2-40B4-BE49-F238E27FC236}">
                  <a16:creationId xmlns:a16="http://schemas.microsoft.com/office/drawing/2014/main" id="{5FE6E845-742B-ADB8-A18C-5F3C021CB7CB}"/>
                </a:ext>
              </a:extLst>
            </p:cNvPr>
            <p:cNvSpPr/>
            <p:nvPr/>
          </p:nvSpPr>
          <p:spPr>
            <a:xfrm>
              <a:off x="792025" y="1280727"/>
              <a:ext cx="3346602" cy="449160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rgbClr val="1B429A"/>
                </a:solidFill>
              </a:endParaRPr>
            </a:p>
            <a:p>
              <a:pPr algn="ctr">
                <a:lnSpc>
                  <a:spcPct val="120000"/>
                </a:lnSpc>
              </a:pPr>
              <a:r>
                <a:rPr lang="en-IN" sz="1400" b="1" dirty="0">
                  <a:solidFill>
                    <a:schemeClr val="tx1"/>
                  </a:solidFill>
                </a:rPr>
                <a:t>Subrogation </a:t>
              </a:r>
            </a:p>
            <a:p>
              <a:pPr>
                <a:lnSpc>
                  <a:spcPct val="120000"/>
                </a:lnSpc>
              </a:pPr>
              <a:endParaRPr lang="en-IN" sz="1400" b="1" dirty="0">
                <a:solidFill>
                  <a:schemeClr val="tx1">
                    <a:lumMod val="75000"/>
                  </a:schemeClr>
                </a:solidFill>
              </a:endParaRPr>
            </a:p>
            <a:p>
              <a:pPr algn="ctr">
                <a:lnSpc>
                  <a:spcPct val="120000"/>
                </a:lnSpc>
              </a:pPr>
              <a:r>
                <a:rPr lang="en-US" sz="1400" dirty="0">
                  <a:solidFill>
                    <a:schemeClr val="tx1">
                      <a:lumMod val="75000"/>
                    </a:schemeClr>
                  </a:solidFill>
                </a:rPr>
                <a:t>It is the right held by insurer to legally pursue a 3</a:t>
              </a:r>
              <a:r>
                <a:rPr lang="en-US" sz="1400" baseline="30000" dirty="0">
                  <a:solidFill>
                    <a:schemeClr val="tx1">
                      <a:lumMod val="75000"/>
                    </a:schemeClr>
                  </a:solidFill>
                </a:rPr>
                <a:t>rd</a:t>
              </a:r>
              <a:r>
                <a:rPr lang="en-US" sz="1400" dirty="0">
                  <a:solidFill>
                    <a:schemeClr val="tx1">
                      <a:lumMod val="75000"/>
                    </a:schemeClr>
                  </a:solidFill>
                </a:rPr>
                <a:t> party that caused the loss to an insured.</a:t>
              </a:r>
            </a:p>
            <a:p>
              <a:pPr algn="ctr">
                <a:lnSpc>
                  <a:spcPct val="120000"/>
                </a:lnSpc>
              </a:pPr>
              <a:endParaRPr lang="en-US" sz="1400" dirty="0">
                <a:solidFill>
                  <a:schemeClr val="tx1">
                    <a:lumMod val="75000"/>
                  </a:schemeClr>
                </a:solidFill>
              </a:endParaRPr>
            </a:p>
            <a:p>
              <a:pPr algn="ctr">
                <a:lnSpc>
                  <a:spcPct val="120000"/>
                </a:lnSpc>
              </a:pPr>
              <a:r>
                <a:rPr lang="en-US" sz="1400" dirty="0">
                  <a:solidFill>
                    <a:schemeClr val="tx1">
                      <a:lumMod val="75000"/>
                    </a:schemeClr>
                  </a:solidFill>
                </a:rPr>
                <a:t>It is done to recover the amount of the claim paid by the insurance carrier to the insured for the loss</a:t>
              </a:r>
              <a:r>
                <a:rPr lang="en-US" sz="1400" b="0" i="0" dirty="0">
                  <a:solidFill>
                    <a:schemeClr val="tx1">
                      <a:lumMod val="75000"/>
                    </a:schemeClr>
                  </a:solidFill>
                  <a:effectLst/>
                </a:rPr>
                <a:t>.</a:t>
              </a:r>
              <a:endParaRPr lang="en-US" sz="1400" dirty="0">
                <a:solidFill>
                  <a:schemeClr val="tx1">
                    <a:lumMod val="75000"/>
                  </a:schemeClr>
                </a:solidFill>
              </a:endParaRPr>
            </a:p>
            <a:p>
              <a:pPr>
                <a:lnSpc>
                  <a:spcPct val="120000"/>
                </a:lnSpc>
              </a:pPr>
              <a:endParaRPr lang="en-US" sz="1400" dirty="0">
                <a:solidFill>
                  <a:schemeClr val="tx1">
                    <a:lumMod val="75000"/>
                  </a:schemeClr>
                </a:solidFill>
              </a:endParaRPr>
            </a:p>
            <a:p>
              <a:pPr>
                <a:lnSpc>
                  <a:spcPct val="120000"/>
                </a:lnSpc>
              </a:pPr>
              <a:endParaRPr lang="en-US" sz="1400" dirty="0">
                <a:solidFill>
                  <a:schemeClr val="tx1">
                    <a:lumMod val="75000"/>
                  </a:schemeClr>
                </a:solidFill>
              </a:endParaRPr>
            </a:p>
            <a:p>
              <a:pPr>
                <a:lnSpc>
                  <a:spcPct val="120000"/>
                </a:lnSpc>
              </a:pPr>
              <a:endParaRPr lang="en-US" sz="1400" dirty="0">
                <a:solidFill>
                  <a:schemeClr val="tx1">
                    <a:lumMod val="75000"/>
                  </a:schemeClr>
                </a:solidFill>
              </a:endParaRPr>
            </a:p>
            <a:p>
              <a:pPr>
                <a:lnSpc>
                  <a:spcPct val="120000"/>
                </a:lnSpc>
              </a:pPr>
              <a:endParaRPr lang="en-US" sz="1100" dirty="0">
                <a:solidFill>
                  <a:schemeClr val="tx1">
                    <a:lumMod val="75000"/>
                  </a:schemeClr>
                </a:solidFill>
              </a:endParaRPr>
            </a:p>
            <a:p>
              <a:pPr>
                <a:lnSpc>
                  <a:spcPct val="120000"/>
                </a:lnSpc>
              </a:pPr>
              <a:endParaRPr lang="en-US" sz="1100"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p:txBody>
        </p:sp>
        <p:pic>
          <p:nvPicPr>
            <p:cNvPr id="7" name="Picture Placeholder 107" descr="Back with solid fill">
              <a:extLst>
                <a:ext uri="{FF2B5EF4-FFF2-40B4-BE49-F238E27FC236}">
                  <a16:creationId xmlns:a16="http://schemas.microsoft.com/office/drawing/2014/main" id="{BCEE1277-085B-2F36-F02A-93BF4E515FB4}"/>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9602" y="1473096"/>
              <a:ext cx="864797" cy="864797"/>
            </a:xfrm>
            <a:prstGeom prst="ellipse">
              <a:avLst/>
            </a:prstGeom>
          </p:spPr>
        </p:pic>
      </p:grpSp>
      <p:grpSp>
        <p:nvGrpSpPr>
          <p:cNvPr id="8" name="Group 7">
            <a:extLst>
              <a:ext uri="{FF2B5EF4-FFF2-40B4-BE49-F238E27FC236}">
                <a16:creationId xmlns:a16="http://schemas.microsoft.com/office/drawing/2014/main" id="{24F8A777-1E2F-C3F8-DB59-4AB829E6D0F7}"/>
              </a:ext>
            </a:extLst>
          </p:cNvPr>
          <p:cNvGrpSpPr/>
          <p:nvPr/>
        </p:nvGrpSpPr>
        <p:grpSpPr>
          <a:xfrm>
            <a:off x="4515678" y="1675200"/>
            <a:ext cx="3346602" cy="4491602"/>
            <a:chOff x="4515678" y="1675200"/>
            <a:chExt cx="3346602" cy="4491602"/>
          </a:xfrm>
        </p:grpSpPr>
        <p:sp>
          <p:nvSpPr>
            <p:cNvPr id="9" name="Rectangle: Rounded Corners 8">
              <a:extLst>
                <a:ext uri="{FF2B5EF4-FFF2-40B4-BE49-F238E27FC236}">
                  <a16:creationId xmlns:a16="http://schemas.microsoft.com/office/drawing/2014/main" id="{669FE513-EC16-D75D-2162-A67EBEF1A09D}"/>
                </a:ext>
              </a:extLst>
            </p:cNvPr>
            <p:cNvSpPr/>
            <p:nvPr/>
          </p:nvSpPr>
          <p:spPr>
            <a:xfrm>
              <a:off x="4515678" y="1675200"/>
              <a:ext cx="3346602" cy="4491602"/>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endParaRPr lang="en-IN" sz="1400" b="1" dirty="0">
                <a:solidFill>
                  <a:srgbClr val="1B4298"/>
                </a:solidFill>
              </a:endParaRPr>
            </a:p>
            <a:p>
              <a:pPr algn="ctr"/>
              <a:r>
                <a:rPr lang="en-IN" sz="1400" b="1" dirty="0">
                  <a:solidFill>
                    <a:schemeClr val="tx1"/>
                  </a:solidFill>
                </a:rPr>
                <a:t>Contribution</a:t>
              </a:r>
              <a:r>
                <a:rPr lang="en-IN" sz="1400" b="1" dirty="0">
                  <a:solidFill>
                    <a:srgbClr val="1B4298"/>
                  </a:solidFill>
                </a:rPr>
                <a:t> </a:t>
              </a:r>
            </a:p>
            <a:p>
              <a:pPr algn="ctr"/>
              <a:endParaRPr lang="en-IN" sz="1400" b="1" dirty="0">
                <a:solidFill>
                  <a:srgbClr val="1B4298"/>
                </a:solidFill>
              </a:endParaRPr>
            </a:p>
            <a:p>
              <a:pPr algn="ctr"/>
              <a:r>
                <a:rPr lang="en-US" sz="1350" dirty="0">
                  <a:solidFill>
                    <a:schemeClr val="tx1">
                      <a:lumMod val="75000"/>
                    </a:schemeClr>
                  </a:solidFill>
                </a:rPr>
                <a:t>Applicable if the insured has taken more than 1 policy for the same event.</a:t>
              </a:r>
            </a:p>
            <a:p>
              <a:pPr algn="ctr"/>
              <a:r>
                <a:rPr lang="en-US" sz="1350" dirty="0">
                  <a:solidFill>
                    <a:schemeClr val="tx1">
                      <a:lumMod val="75000"/>
                    </a:schemeClr>
                  </a:solidFill>
                </a:rPr>
                <a:t>If the loss arises and insured has taken more than one insurance policy, then the loss will be covered by the policies based on the proportion of the coverage the insurance policy provides. The insured cannot make a profit by claiming the loss of the same event from different policies or companies.</a:t>
              </a:r>
            </a:p>
            <a:p>
              <a:endParaRPr lang="en-US" sz="1350" dirty="0">
                <a:solidFill>
                  <a:srgbClr val="1B4298"/>
                </a:solidFill>
              </a:endParaRPr>
            </a:p>
            <a:p>
              <a:endParaRPr lang="en-IN" sz="1100" dirty="0">
                <a:solidFill>
                  <a:srgbClr val="1B4298"/>
                </a:solidFill>
              </a:endParaRPr>
            </a:p>
          </p:txBody>
        </p:sp>
        <p:pic>
          <p:nvPicPr>
            <p:cNvPr id="10" name="Graphic 9" descr="Share with solid fill">
              <a:extLst>
                <a:ext uri="{FF2B5EF4-FFF2-40B4-BE49-F238E27FC236}">
                  <a16:creationId xmlns:a16="http://schemas.microsoft.com/office/drawing/2014/main" id="{88717F23-E441-1245-3256-61A0FEA05F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49641" y="1815066"/>
              <a:ext cx="918445" cy="918445"/>
            </a:xfrm>
            <a:prstGeom prst="rect">
              <a:avLst/>
            </a:prstGeom>
          </p:spPr>
        </p:pic>
      </p:grpSp>
      <p:grpSp>
        <p:nvGrpSpPr>
          <p:cNvPr id="11" name="Group 10">
            <a:extLst>
              <a:ext uri="{FF2B5EF4-FFF2-40B4-BE49-F238E27FC236}">
                <a16:creationId xmlns:a16="http://schemas.microsoft.com/office/drawing/2014/main" id="{6438785F-E84D-0958-D462-F6DC226EE1B5}"/>
              </a:ext>
            </a:extLst>
          </p:cNvPr>
          <p:cNvGrpSpPr/>
          <p:nvPr/>
        </p:nvGrpSpPr>
        <p:grpSpPr>
          <a:xfrm>
            <a:off x="8462562" y="1675200"/>
            <a:ext cx="3160643" cy="4491601"/>
            <a:chOff x="8239262" y="1590997"/>
            <a:chExt cx="3160643" cy="4491601"/>
          </a:xfrm>
        </p:grpSpPr>
        <p:sp>
          <p:nvSpPr>
            <p:cNvPr id="12" name="Rectangle: Rounded Corners 11">
              <a:extLst>
                <a:ext uri="{FF2B5EF4-FFF2-40B4-BE49-F238E27FC236}">
                  <a16:creationId xmlns:a16="http://schemas.microsoft.com/office/drawing/2014/main" id="{298E62C3-B17C-2554-CA06-4F5572029901}"/>
                </a:ext>
              </a:extLst>
            </p:cNvPr>
            <p:cNvSpPr/>
            <p:nvPr/>
          </p:nvSpPr>
          <p:spPr>
            <a:xfrm>
              <a:off x="8239262" y="1590997"/>
              <a:ext cx="3160643" cy="449160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8"/>
                </a:solidFill>
              </a:endParaRPr>
            </a:p>
            <a:p>
              <a:pPr algn="ctr"/>
              <a:endParaRPr lang="en-IN" sz="1100" b="1" dirty="0">
                <a:solidFill>
                  <a:srgbClr val="1B429A"/>
                </a:solidFill>
              </a:endParaRPr>
            </a:p>
            <a:p>
              <a:pPr algn="ctr"/>
              <a:endParaRPr lang="en-IN" sz="1100" b="1" dirty="0">
                <a:solidFill>
                  <a:srgbClr val="1B429A"/>
                </a:solidFill>
              </a:endParaRPr>
            </a:p>
            <a:p>
              <a:pPr algn="ctr"/>
              <a:endParaRPr lang="en-IN" sz="1100" b="1" dirty="0">
                <a:solidFill>
                  <a:srgbClr val="1B429A"/>
                </a:solidFill>
              </a:endParaRPr>
            </a:p>
            <a:p>
              <a:pPr algn="ctr"/>
              <a:endParaRPr lang="en-IN" sz="1400" b="1" dirty="0">
                <a:solidFill>
                  <a:srgbClr val="1B429A"/>
                </a:solidFill>
              </a:endParaRPr>
            </a:p>
            <a:p>
              <a:pPr algn="ctr"/>
              <a:endParaRPr lang="en-IN" sz="1400" b="1" dirty="0">
                <a:solidFill>
                  <a:srgbClr val="1B429A"/>
                </a:solidFill>
              </a:endParaRPr>
            </a:p>
            <a:p>
              <a:pPr algn="ctr"/>
              <a:endParaRPr lang="en-IN" sz="1400" b="1" dirty="0">
                <a:solidFill>
                  <a:srgbClr val="1B429A"/>
                </a:solidFill>
              </a:endParaRPr>
            </a:p>
            <a:p>
              <a:pPr algn="ctr"/>
              <a:endParaRPr lang="en-IN" sz="1400" b="1" dirty="0">
                <a:solidFill>
                  <a:srgbClr val="1B429A"/>
                </a:solidFill>
              </a:endParaRPr>
            </a:p>
            <a:p>
              <a:pPr algn="ctr"/>
              <a:endParaRPr lang="en-IN" sz="1400" b="1" dirty="0">
                <a:solidFill>
                  <a:srgbClr val="1B429A"/>
                </a:solidFill>
              </a:endParaRPr>
            </a:p>
            <a:p>
              <a:pPr algn="ctr"/>
              <a:r>
                <a:rPr lang="en-IN" sz="1400" b="1" dirty="0">
                  <a:solidFill>
                    <a:schemeClr val="tx1"/>
                  </a:solidFill>
                </a:rPr>
                <a:t>Proximate Cause </a:t>
              </a:r>
            </a:p>
            <a:p>
              <a:pPr algn="ctr"/>
              <a:endParaRPr lang="en-IN" sz="1400" b="1" dirty="0">
                <a:solidFill>
                  <a:srgbClr val="1B429A"/>
                </a:solidFill>
              </a:endParaRPr>
            </a:p>
            <a:p>
              <a:pPr algn="ctr"/>
              <a:r>
                <a:rPr lang="en-US" sz="1400" dirty="0">
                  <a:solidFill>
                    <a:schemeClr val="tx1">
                      <a:lumMod val="75000"/>
                    </a:schemeClr>
                  </a:solidFill>
                </a:rPr>
                <a:t>This principle is applicable when the loss is the result of two or more causes.</a:t>
              </a:r>
            </a:p>
            <a:p>
              <a:pPr algn="ctr">
                <a:buFont typeface="Arial" panose="020B0604020202020204" pitchFamily="34" charset="0"/>
                <a:buChar char="•"/>
              </a:pPr>
              <a:endParaRPr lang="en-US" sz="1400" dirty="0">
                <a:solidFill>
                  <a:schemeClr val="tx1">
                    <a:lumMod val="75000"/>
                  </a:schemeClr>
                </a:solidFill>
              </a:endParaRPr>
            </a:p>
            <a:p>
              <a:pPr algn="ctr"/>
              <a:r>
                <a:rPr lang="en-US" sz="1400" dirty="0">
                  <a:solidFill>
                    <a:schemeClr val="tx1">
                      <a:lumMod val="75000"/>
                    </a:schemeClr>
                  </a:solidFill>
                </a:rPr>
                <a:t>In case of a loss the most “dominant cause” of loss will be considered</a:t>
              </a:r>
            </a:p>
            <a:p>
              <a:pPr algn="ctr">
                <a:buFont typeface="Arial" panose="020B0604020202020204" pitchFamily="34" charset="0"/>
                <a:buChar char="•"/>
              </a:pPr>
              <a:endParaRPr lang="en-US" sz="1400" dirty="0">
                <a:solidFill>
                  <a:schemeClr val="tx1">
                    <a:lumMod val="75000"/>
                  </a:schemeClr>
                </a:solidFill>
              </a:endParaRPr>
            </a:p>
            <a:p>
              <a:pPr algn="ctr"/>
              <a:r>
                <a:rPr lang="en-US" sz="1400" dirty="0">
                  <a:solidFill>
                    <a:schemeClr val="tx1">
                      <a:lumMod val="75000"/>
                    </a:schemeClr>
                  </a:solidFill>
                </a:rPr>
                <a:t>Insurer pays the claim money only if the nearest cause is insured</a:t>
              </a:r>
            </a:p>
            <a:p>
              <a:pPr algn="ctr"/>
              <a:endParaRPr lang="en-US" sz="1100" dirty="0">
                <a:solidFill>
                  <a:srgbClr val="1B4298"/>
                </a:solidFill>
              </a:endParaRPr>
            </a:p>
            <a:p>
              <a:pPr algn="ctr"/>
              <a:endParaRPr lang="en-US" sz="1100"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endParaRPr lang="en-US" sz="1100" b="1" dirty="0">
                <a:solidFill>
                  <a:srgbClr val="1B4298"/>
                </a:solidFill>
              </a:endParaRPr>
            </a:p>
            <a:p>
              <a:pPr algn="ctr"/>
              <a:r>
                <a:rPr lang="en-IN" sz="1100" b="1" dirty="0">
                  <a:solidFill>
                    <a:srgbClr val="1B4298"/>
                  </a:solidFill>
                </a:rPr>
                <a:t> </a:t>
              </a:r>
            </a:p>
          </p:txBody>
        </p:sp>
        <p:pic>
          <p:nvPicPr>
            <p:cNvPr id="14" name="Graphic 13" descr="Bullseye with solid fill">
              <a:extLst>
                <a:ext uri="{FF2B5EF4-FFF2-40B4-BE49-F238E27FC236}">
                  <a16:creationId xmlns:a16="http://schemas.microsoft.com/office/drawing/2014/main" id="{6E3F0D32-AA00-10E5-C389-35577C3DA222}"/>
                </a:ext>
              </a:extLst>
            </p:cNvPr>
            <p:cNvPicPr>
              <a:picLocks noChangeAspect="1"/>
            </p:cNvPicPr>
            <p:nvPr/>
          </p:nvPicPr>
          <p:blipFill>
            <a:blip r:embed="rId6"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72615" y="1879311"/>
              <a:ext cx="739806" cy="739806"/>
            </a:xfrm>
            <a:prstGeom prst="rect">
              <a:avLst/>
            </a:prstGeom>
          </p:spPr>
        </p:pic>
      </p:grpSp>
    </p:spTree>
    <p:extLst>
      <p:ext uri="{BB962C8B-B14F-4D97-AF65-F5344CB8AC3E}">
        <p14:creationId xmlns:p14="http://schemas.microsoft.com/office/powerpoint/2010/main" val="35100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750"/>
                                        <p:tgtEl>
                                          <p:spTgt spid="8"/>
                                        </p:tgtEl>
                                      </p:cBhvr>
                                    </p:animEffect>
                                    <p:anim calcmode="lin" valueType="num">
                                      <p:cBhvr>
                                        <p:cTn id="15" dur="750" fill="hold"/>
                                        <p:tgtEl>
                                          <p:spTgt spid="8"/>
                                        </p:tgtEl>
                                        <p:attrNameLst>
                                          <p:attrName>ppt_x</p:attrName>
                                        </p:attrNameLst>
                                      </p:cBhvr>
                                      <p:tavLst>
                                        <p:tav tm="0">
                                          <p:val>
                                            <p:strVal val="#ppt_x"/>
                                          </p:val>
                                        </p:tav>
                                        <p:tav tm="100000">
                                          <p:val>
                                            <p:strVal val="#ppt_x"/>
                                          </p:val>
                                        </p:tav>
                                      </p:tavLst>
                                    </p:anim>
                                    <p:anim calcmode="lin" valueType="num">
                                      <p:cBhvr>
                                        <p:cTn id="16"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750"/>
                                        <p:tgtEl>
                                          <p:spTgt spid="11"/>
                                        </p:tgtEl>
                                      </p:cBhvr>
                                    </p:animEffect>
                                    <p:anim calcmode="lin" valueType="num">
                                      <p:cBhvr>
                                        <p:cTn id="22" dur="750" fill="hold"/>
                                        <p:tgtEl>
                                          <p:spTgt spid="11"/>
                                        </p:tgtEl>
                                        <p:attrNameLst>
                                          <p:attrName>ppt_x</p:attrName>
                                        </p:attrNameLst>
                                      </p:cBhvr>
                                      <p:tavLst>
                                        <p:tav tm="0">
                                          <p:val>
                                            <p:strVal val="#ppt_x"/>
                                          </p:val>
                                        </p:tav>
                                        <p:tav tm="100000">
                                          <p:val>
                                            <p:strVal val="#ppt_x"/>
                                          </p:val>
                                        </p:tav>
                                      </p:tavLst>
                                    </p:anim>
                                    <p:anim calcmode="lin" valueType="num">
                                      <p:cBhvr>
                                        <p:cTn id="23" dur="7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15AC-0C30-79BB-3AFE-96916C6CA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ABE66-046E-5F55-0211-507B9914B230}"/>
              </a:ext>
            </a:extLst>
          </p:cNvPr>
          <p:cNvSpPr>
            <a:spLocks noGrp="1"/>
          </p:cNvSpPr>
          <p:nvPr>
            <p:ph type="title"/>
          </p:nvPr>
        </p:nvSpPr>
        <p:spPr/>
        <p:txBody>
          <a:bodyPr/>
          <a:lstStyle/>
          <a:p>
            <a:r>
              <a:rPr lang="en-US" dirty="0"/>
              <a:t>A deep dive into each principle</a:t>
            </a:r>
          </a:p>
        </p:txBody>
      </p:sp>
      <p:grpSp>
        <p:nvGrpSpPr>
          <p:cNvPr id="4" name="Group 3">
            <a:extLst>
              <a:ext uri="{FF2B5EF4-FFF2-40B4-BE49-F238E27FC236}">
                <a16:creationId xmlns:a16="http://schemas.microsoft.com/office/drawing/2014/main" id="{C9E39EAF-2923-A078-C9E0-87434932A314}"/>
              </a:ext>
            </a:extLst>
          </p:cNvPr>
          <p:cNvGrpSpPr/>
          <p:nvPr/>
        </p:nvGrpSpPr>
        <p:grpSpPr>
          <a:xfrm>
            <a:off x="3757375" y="1447800"/>
            <a:ext cx="4114800" cy="5032191"/>
            <a:chOff x="434600" y="1204527"/>
            <a:chExt cx="4114800" cy="5032191"/>
          </a:xfrm>
        </p:grpSpPr>
        <p:sp>
          <p:nvSpPr>
            <p:cNvPr id="5" name="Rectangle: Rounded Corners 4">
              <a:extLst>
                <a:ext uri="{FF2B5EF4-FFF2-40B4-BE49-F238E27FC236}">
                  <a16:creationId xmlns:a16="http://schemas.microsoft.com/office/drawing/2014/main" id="{AEF77089-60DC-AECF-1F21-86DC650AAA05}"/>
                </a:ext>
              </a:extLst>
            </p:cNvPr>
            <p:cNvSpPr/>
            <p:nvPr/>
          </p:nvSpPr>
          <p:spPr>
            <a:xfrm>
              <a:off x="434600" y="1204527"/>
              <a:ext cx="4114800" cy="5032191"/>
            </a:xfrm>
            <a:prstGeom prst="roundRect">
              <a:avLst/>
            </a:prstGeom>
            <a:noFill/>
            <a:ln w="28575">
              <a:solidFill>
                <a:schemeClr val="accent5"/>
              </a:solidFill>
            </a:ln>
          </p:spPr>
          <p:style>
            <a:lnRef idx="0">
              <a:scrgbClr r="0" g="0" b="0"/>
            </a:lnRef>
            <a:fillRef idx="0">
              <a:scrgbClr r="0" g="0" b="0"/>
            </a:fillRef>
            <a:effectRef idx="0">
              <a:scrgbClr r="0" g="0" b="0"/>
            </a:effectRef>
            <a:fontRef idx="minor">
              <a:schemeClr val="lt1"/>
            </a:fontRef>
          </p:style>
          <p:txBody>
            <a:bodyPr rtlCol="0" anchor="ctr"/>
            <a:lstStyle/>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1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chemeClr val="tx1">
                    <a:lumMod val="75000"/>
                  </a:schemeClr>
                </a:solidFill>
              </a:endParaRPr>
            </a:p>
            <a:p>
              <a:pPr algn="ctr">
                <a:lnSpc>
                  <a:spcPct val="120000"/>
                </a:lnSpc>
              </a:pPr>
              <a:endParaRPr lang="en-IN" sz="1400" b="1" dirty="0">
                <a:solidFill>
                  <a:srgbClr val="1B429A"/>
                </a:solidFill>
              </a:endParaRPr>
            </a:p>
            <a:p>
              <a:pPr algn="ctr">
                <a:lnSpc>
                  <a:spcPct val="120000"/>
                </a:lnSpc>
              </a:pPr>
              <a:r>
                <a:rPr lang="en-IN" sz="1400" b="1" dirty="0">
                  <a:solidFill>
                    <a:schemeClr val="tx1"/>
                  </a:solidFill>
                </a:rPr>
                <a:t>Loss Minimization</a:t>
              </a:r>
            </a:p>
            <a:p>
              <a:pPr>
                <a:lnSpc>
                  <a:spcPct val="120000"/>
                </a:lnSpc>
              </a:pPr>
              <a:endParaRPr lang="en-IN" sz="1400" b="1" dirty="0">
                <a:solidFill>
                  <a:schemeClr val="tx1">
                    <a:lumMod val="75000"/>
                  </a:schemeClr>
                </a:solidFill>
              </a:endParaRPr>
            </a:p>
            <a:p>
              <a:pPr algn="ctr">
                <a:lnSpc>
                  <a:spcPct val="120000"/>
                </a:lnSpc>
              </a:pPr>
              <a:r>
                <a:rPr lang="en-US" sz="1350" dirty="0">
                  <a:solidFill>
                    <a:schemeClr val="tx1">
                      <a:lumMod val="75000"/>
                    </a:schemeClr>
                  </a:solidFill>
                </a:rPr>
                <a:t>The insured must make every effort to minimize losses to their insured property in the event of unforeseen incidents such as fire outbreak or explosion. They should take all necessary precautions and proactive measures to control and reduce the damage.</a:t>
              </a:r>
            </a:p>
            <a:p>
              <a:pPr algn="ctr">
                <a:lnSpc>
                  <a:spcPct val="120000"/>
                </a:lnSpc>
              </a:pPr>
              <a:endParaRPr lang="en-US" sz="1350" dirty="0">
                <a:solidFill>
                  <a:schemeClr val="tx1">
                    <a:lumMod val="75000"/>
                  </a:schemeClr>
                </a:solidFill>
              </a:endParaRPr>
            </a:p>
            <a:p>
              <a:pPr algn="ctr">
                <a:lnSpc>
                  <a:spcPct val="120000"/>
                </a:lnSpc>
              </a:pPr>
              <a:r>
                <a:rPr lang="en-US" sz="1350" dirty="0">
                  <a:solidFill>
                    <a:schemeClr val="tx1">
                      <a:lumMod val="75000"/>
                    </a:schemeClr>
                  </a:solidFill>
                </a:rPr>
                <a:t>Insurance Coverage should never lead to negligence or irresponsible behavior. It remains the insured’s duty to safeguard their property and prevent further losses, ensuring responsible risk management.</a:t>
              </a:r>
            </a:p>
            <a:p>
              <a:pPr>
                <a:lnSpc>
                  <a:spcPct val="120000"/>
                </a:lnSpc>
              </a:pPr>
              <a:endParaRPr lang="en-US" sz="1400" dirty="0">
                <a:solidFill>
                  <a:schemeClr val="tx1">
                    <a:lumMod val="75000"/>
                  </a:schemeClr>
                </a:solidFill>
              </a:endParaRPr>
            </a:p>
            <a:p>
              <a:pPr>
                <a:lnSpc>
                  <a:spcPct val="120000"/>
                </a:lnSpc>
              </a:pPr>
              <a:endParaRPr lang="en-US" sz="1400" dirty="0">
                <a:solidFill>
                  <a:schemeClr val="tx1">
                    <a:lumMod val="75000"/>
                  </a:schemeClr>
                </a:solidFill>
              </a:endParaRPr>
            </a:p>
            <a:p>
              <a:pPr>
                <a:lnSpc>
                  <a:spcPct val="120000"/>
                </a:lnSpc>
              </a:pPr>
              <a:endParaRPr lang="en-US" sz="1100" dirty="0">
                <a:solidFill>
                  <a:schemeClr val="tx1">
                    <a:lumMod val="75000"/>
                  </a:schemeClr>
                </a:solidFill>
              </a:endParaRPr>
            </a:p>
            <a:p>
              <a:pPr>
                <a:lnSpc>
                  <a:spcPct val="120000"/>
                </a:lnSpc>
              </a:pPr>
              <a:endParaRPr lang="en-US" sz="1100"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a:p>
              <a:pPr>
                <a:lnSpc>
                  <a:spcPct val="120000"/>
                </a:lnSpc>
              </a:pPr>
              <a:endParaRPr lang="en-IN" sz="1100" b="1" dirty="0">
                <a:solidFill>
                  <a:schemeClr val="tx1">
                    <a:lumMod val="75000"/>
                  </a:schemeClr>
                </a:solidFill>
              </a:endParaRPr>
            </a:p>
          </p:txBody>
        </p:sp>
        <p:pic>
          <p:nvPicPr>
            <p:cNvPr id="7" name="Picture Placeholder 107" descr="Back with solid fill">
              <a:extLst>
                <a:ext uri="{FF2B5EF4-FFF2-40B4-BE49-F238E27FC236}">
                  <a16:creationId xmlns:a16="http://schemas.microsoft.com/office/drawing/2014/main" id="{38F0A188-E254-1DD8-652E-E392508FC428}"/>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2059602" y="1473096"/>
              <a:ext cx="864797" cy="864797"/>
            </a:xfrm>
            <a:prstGeom prst="ellipse">
              <a:avLst/>
            </a:prstGeom>
          </p:spPr>
        </p:pic>
      </p:grpSp>
    </p:spTree>
    <p:extLst>
      <p:ext uri="{BB962C8B-B14F-4D97-AF65-F5344CB8AC3E}">
        <p14:creationId xmlns:p14="http://schemas.microsoft.com/office/powerpoint/2010/main" val="50249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sz="2400" dirty="0"/>
              <a:t>Here are a few videos to help you understand</a:t>
            </a:r>
            <a:br>
              <a:rPr lang="en-US" sz="2400" dirty="0"/>
            </a:br>
            <a:r>
              <a:rPr lang="en-US" sz="2400" dirty="0"/>
              <a:t>the concepts better</a:t>
            </a:r>
            <a:endParaRPr lang="en-US" dirty="0"/>
          </a:p>
        </p:txBody>
      </p:sp>
      <p:pic>
        <p:nvPicPr>
          <p:cNvPr id="11" name="Graphic 10" descr="Video camera with solid fill">
            <a:extLst>
              <a:ext uri="{FF2B5EF4-FFF2-40B4-BE49-F238E27FC236}">
                <a16:creationId xmlns:a16="http://schemas.microsoft.com/office/drawing/2014/main" id="{C7D1BBCB-6B0C-E379-C721-7CCD8704F0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52850" y="1396794"/>
            <a:ext cx="2086300" cy="2086300"/>
          </a:xfrm>
          <a:prstGeom prst="rect">
            <a:avLst/>
          </a:prstGeom>
        </p:spPr>
      </p:pic>
      <p:sp>
        <p:nvSpPr>
          <p:cNvPr id="3" name="TextBox 2">
            <a:extLst>
              <a:ext uri="{FF2B5EF4-FFF2-40B4-BE49-F238E27FC236}">
                <a16:creationId xmlns:a16="http://schemas.microsoft.com/office/drawing/2014/main" id="{3AAF1B11-D9AA-8617-740B-10450B7DDEA2}"/>
              </a:ext>
            </a:extLst>
          </p:cNvPr>
          <p:cNvSpPr txBox="1"/>
          <p:nvPr/>
        </p:nvSpPr>
        <p:spPr>
          <a:xfrm>
            <a:off x="3046828" y="3810000"/>
            <a:ext cx="6098344" cy="830997"/>
          </a:xfrm>
          <a:prstGeom prst="rect">
            <a:avLst/>
          </a:prstGeom>
          <a:noFill/>
        </p:spPr>
        <p:txBody>
          <a:bodyPr wrap="square">
            <a:spAutoFit/>
          </a:bodyPr>
          <a:lstStyle/>
          <a:p>
            <a:pPr algn="ctr"/>
            <a:r>
              <a:rPr lang="en-US" sz="1600" b="1" dirty="0">
                <a:solidFill>
                  <a:schemeClr val="accent1"/>
                </a:solidFill>
                <a:hlinkClick r:id="rId4">
                  <a:extLst>
                    <a:ext uri="{A12FA001-AC4F-418D-AE19-62706E023703}">
                      <ahyp:hlinkClr xmlns:ahyp="http://schemas.microsoft.com/office/drawing/2018/hyperlinkcolor" val="tx"/>
                    </a:ext>
                  </a:extLst>
                </a:hlinkClick>
              </a:rPr>
              <a:t>https://www.youtube.com/watch?v=b8pt-jZce5M</a:t>
            </a:r>
            <a:endParaRPr lang="en-US" sz="1600" b="1" dirty="0">
              <a:solidFill>
                <a:schemeClr val="accent1"/>
              </a:solidFill>
            </a:endParaRPr>
          </a:p>
          <a:p>
            <a:pPr algn="ctr"/>
            <a:endParaRPr lang="en-US" sz="1600" b="1" dirty="0">
              <a:solidFill>
                <a:schemeClr val="accent1"/>
              </a:solidFill>
            </a:endParaRPr>
          </a:p>
          <a:p>
            <a:pPr algn="ctr"/>
            <a:r>
              <a:rPr lang="en-US" sz="1600" b="1" dirty="0">
                <a:solidFill>
                  <a:schemeClr val="accent1"/>
                </a:solidFill>
              </a:rPr>
              <a:t> </a:t>
            </a:r>
            <a:r>
              <a:rPr lang="en-US" sz="1600" b="1" dirty="0">
                <a:solidFill>
                  <a:schemeClr val="accent1"/>
                </a:solidFill>
                <a:hlinkClick r:id="rId5">
                  <a:extLst>
                    <a:ext uri="{A12FA001-AC4F-418D-AE19-62706E023703}">
                      <ahyp:hlinkClr xmlns:ahyp="http://schemas.microsoft.com/office/drawing/2018/hyperlinkcolor" val="tx"/>
                    </a:ext>
                  </a:extLst>
                </a:hlinkClick>
              </a:rPr>
              <a:t>https://www.youtube.com/watch?v=aYmr9zfynMM</a:t>
            </a:r>
            <a:endParaRPr lang="en-US" sz="1600" b="1" dirty="0">
              <a:solidFill>
                <a:schemeClr val="accent1"/>
              </a:solidFill>
            </a:endParaRPr>
          </a:p>
        </p:txBody>
      </p:sp>
    </p:spTree>
    <p:extLst>
      <p:ext uri="{BB962C8B-B14F-4D97-AF65-F5344CB8AC3E}">
        <p14:creationId xmlns:p14="http://schemas.microsoft.com/office/powerpoint/2010/main" val="32391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Effect transition="in" filter="fade">
                                      <p:cBhvr>
                                        <p:cTn id="9" dur="1000"/>
                                        <p:tgtEl>
                                          <p:spTgt spid="1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Effect transition="in" filter="fade">
                                      <p:cBhvr>
                                        <p:cTn id="1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latin typeface="Avenir Next LT Pro"/>
              </a:rPr>
              <a:t>Let's check your understanding</a:t>
            </a:r>
            <a:endParaRPr lang="en-US" dirty="0"/>
          </a:p>
        </p:txBody>
      </p:sp>
      <p:pic>
        <p:nvPicPr>
          <p:cNvPr id="11" name="Picture 10" descr="A cartoon of a brain&#10;&#10;Description automatically generated with medium confidence">
            <a:extLst>
              <a:ext uri="{FF2B5EF4-FFF2-40B4-BE49-F238E27FC236}">
                <a16:creationId xmlns:a16="http://schemas.microsoft.com/office/drawing/2014/main" id="{8C154191-F74C-B6F2-CB5D-8F567BDB81E0}"/>
              </a:ext>
            </a:extLst>
          </p:cNvPr>
          <p:cNvPicPr>
            <a:picLocks noChangeAspect="1"/>
          </p:cNvPicPr>
          <p:nvPr/>
        </p:nvPicPr>
        <p:blipFill>
          <a:blip r:embed="rId2"/>
          <a:stretch>
            <a:fillRect/>
          </a:stretch>
        </p:blipFill>
        <p:spPr>
          <a:xfrm>
            <a:off x="3429000" y="1806388"/>
            <a:ext cx="5029200" cy="5029200"/>
          </a:xfrm>
          <a:prstGeom prst="rect">
            <a:avLst/>
          </a:prstGeom>
        </p:spPr>
      </p:pic>
    </p:spTree>
    <p:extLst>
      <p:ext uri="{BB962C8B-B14F-4D97-AF65-F5344CB8AC3E}">
        <p14:creationId xmlns:p14="http://schemas.microsoft.com/office/powerpoint/2010/main" val="2303674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Activity Instructions</a:t>
            </a:r>
          </a:p>
        </p:txBody>
      </p:sp>
      <p:sp>
        <p:nvSpPr>
          <p:cNvPr id="3" name="TextBox 2">
            <a:extLst>
              <a:ext uri="{FF2B5EF4-FFF2-40B4-BE49-F238E27FC236}">
                <a16:creationId xmlns:a16="http://schemas.microsoft.com/office/drawing/2014/main" id="{2D3D5DA6-525D-FACB-0071-7A9AE0085D44}"/>
              </a:ext>
            </a:extLst>
          </p:cNvPr>
          <p:cNvSpPr txBox="1"/>
          <p:nvPr/>
        </p:nvSpPr>
        <p:spPr>
          <a:xfrm>
            <a:off x="264942" y="1752600"/>
            <a:ext cx="11662115" cy="4031873"/>
          </a:xfrm>
          <a:prstGeom prst="rect">
            <a:avLst/>
          </a:prstGeom>
          <a:noFill/>
        </p:spPr>
        <p:txBody>
          <a:bodyPr wrap="square" lIns="91440" tIns="45720" rIns="91440" bIns="45720" rtlCol="0" anchor="t">
            <a:spAutoFit/>
          </a:bodyPr>
          <a:lstStyle/>
          <a:p>
            <a:pPr marL="719455" lvl="4" indent="0">
              <a:buNone/>
            </a:pPr>
            <a:r>
              <a:rPr lang="en-IN" sz="1600" b="1" dirty="0">
                <a:solidFill>
                  <a:schemeClr val="tx1">
                    <a:lumMod val="75000"/>
                  </a:schemeClr>
                </a:solidFill>
              </a:rPr>
              <a:t>1. Each team/group will be provided with a scenario-based case study.</a:t>
            </a:r>
            <a:br>
              <a:rPr lang="en-IN" sz="1600" b="1" dirty="0">
                <a:solidFill>
                  <a:schemeClr val="tx1">
                    <a:lumMod val="75000"/>
                  </a:schemeClr>
                </a:solidFill>
              </a:rPr>
            </a:br>
            <a:br>
              <a:rPr lang="en-IN" sz="1600" b="1" dirty="0">
                <a:solidFill>
                  <a:schemeClr val="tx1">
                    <a:lumMod val="75000"/>
                  </a:schemeClr>
                </a:solidFill>
              </a:rPr>
            </a:br>
            <a:endParaRPr lang="en-IN" sz="1600" b="1" dirty="0">
              <a:solidFill>
                <a:schemeClr val="tx1">
                  <a:lumMod val="75000"/>
                </a:schemeClr>
              </a:solidFill>
              <a:ea typeface="Verdana"/>
            </a:endParaRPr>
          </a:p>
          <a:p>
            <a:pPr marL="719455" lvl="4" indent="0">
              <a:buNone/>
            </a:pPr>
            <a:r>
              <a:rPr lang="en-IN" sz="1600" b="1" dirty="0">
                <a:solidFill>
                  <a:schemeClr val="tx1">
                    <a:lumMod val="75000"/>
                  </a:schemeClr>
                </a:solidFill>
              </a:rPr>
              <a:t>2. Each team/group is required to answer the vase study within a time limit of 5 mins where they can internally discuss and then give their answer.</a:t>
            </a:r>
            <a:br>
              <a:rPr lang="en-IN" sz="1600" b="1" dirty="0">
                <a:solidFill>
                  <a:schemeClr val="tx1">
                    <a:lumMod val="75000"/>
                  </a:schemeClr>
                </a:solidFill>
              </a:rPr>
            </a:br>
            <a:br>
              <a:rPr lang="en-IN" sz="1600" b="1" dirty="0">
                <a:solidFill>
                  <a:schemeClr val="tx1">
                    <a:lumMod val="75000"/>
                  </a:schemeClr>
                </a:solidFill>
              </a:rPr>
            </a:br>
            <a:endParaRPr lang="en-IN" sz="1600" b="1" dirty="0">
              <a:solidFill>
                <a:schemeClr val="tx1">
                  <a:lumMod val="75000"/>
                </a:schemeClr>
              </a:solidFill>
              <a:ea typeface="Verdana"/>
            </a:endParaRPr>
          </a:p>
          <a:p>
            <a:pPr marL="719455" lvl="4"/>
            <a:r>
              <a:rPr lang="en-IN" sz="1600" b="1" dirty="0">
                <a:solidFill>
                  <a:schemeClr val="tx1">
                    <a:lumMod val="75000"/>
                  </a:schemeClr>
                </a:solidFill>
              </a:rPr>
              <a:t>3. If the answer given is incorrect, there is no negative marking. The next question will be presented to the next team in line. </a:t>
            </a:r>
            <a:br>
              <a:rPr lang="en-IN" sz="1600" b="1" dirty="0">
                <a:solidFill>
                  <a:schemeClr val="tx1">
                    <a:lumMod val="75000"/>
                  </a:schemeClr>
                </a:solidFill>
                <a:ea typeface="Verdana"/>
              </a:rPr>
            </a:br>
            <a:br>
              <a:rPr lang="en-IN" sz="1600" b="1" dirty="0">
                <a:solidFill>
                  <a:schemeClr val="tx1">
                    <a:lumMod val="75000"/>
                  </a:schemeClr>
                </a:solidFill>
              </a:rPr>
            </a:br>
            <a:endParaRPr lang="en-IN" sz="1600" b="1" dirty="0">
              <a:solidFill>
                <a:schemeClr val="tx1">
                  <a:lumMod val="75000"/>
                </a:schemeClr>
              </a:solidFill>
              <a:ea typeface="Verdana"/>
            </a:endParaRPr>
          </a:p>
          <a:p>
            <a:pPr marL="719455" lvl="4" indent="0">
              <a:buNone/>
            </a:pPr>
            <a:r>
              <a:rPr lang="en-IN" sz="1600" b="1" dirty="0">
                <a:solidFill>
                  <a:schemeClr val="tx1">
                    <a:lumMod val="75000"/>
                  </a:schemeClr>
                </a:solidFill>
              </a:rPr>
              <a:t>4. Upon giving the correct answer, every team will win a total of </a:t>
            </a:r>
            <a:r>
              <a:rPr lang="en-IN" sz="1600" b="1" dirty="0">
                <a:solidFill>
                  <a:schemeClr val="accent1"/>
                </a:solidFill>
              </a:rPr>
              <a:t>20 points </a:t>
            </a:r>
            <a:r>
              <a:rPr lang="en-IN" sz="1600" b="1" dirty="0">
                <a:solidFill>
                  <a:schemeClr val="tx1">
                    <a:lumMod val="75000"/>
                  </a:schemeClr>
                </a:solidFill>
              </a:rPr>
              <a:t>per answer.</a:t>
            </a:r>
            <a:br>
              <a:rPr lang="en-IN" sz="1600" b="1" dirty="0">
                <a:solidFill>
                  <a:schemeClr val="tx1">
                    <a:lumMod val="75000"/>
                  </a:schemeClr>
                </a:solidFill>
              </a:rPr>
            </a:br>
            <a:endParaRPr lang="en-IN" sz="1600" b="1" dirty="0">
              <a:solidFill>
                <a:schemeClr val="tx1">
                  <a:lumMod val="75000"/>
                </a:schemeClr>
              </a:solidFill>
              <a:ea typeface="Verdana"/>
            </a:endParaRPr>
          </a:p>
          <a:p>
            <a:pPr marL="719455" lvl="4" indent="0">
              <a:buNone/>
            </a:pPr>
            <a:endParaRPr lang="en-IN" sz="1600" b="1" dirty="0">
              <a:solidFill>
                <a:schemeClr val="tx1">
                  <a:lumMod val="75000"/>
                </a:schemeClr>
              </a:solidFill>
              <a:ea typeface="Verdana"/>
            </a:endParaRPr>
          </a:p>
          <a:p>
            <a:pPr marL="719455" lvl="4"/>
            <a:r>
              <a:rPr lang="en-IN" sz="1600" b="1" dirty="0">
                <a:solidFill>
                  <a:schemeClr val="tx1">
                    <a:lumMod val="75000"/>
                  </a:schemeClr>
                </a:solidFill>
              </a:rPr>
              <a:t>5. After all case studies have been answered, the scorer will calculate the points and the winning team of the activity will be announced shortly.</a:t>
            </a:r>
            <a:endParaRPr lang="en-IN" sz="1600" b="1" dirty="0">
              <a:solidFill>
                <a:schemeClr val="tx1">
                  <a:lumMod val="75000"/>
                </a:schemeClr>
              </a:solidFill>
              <a:ea typeface="Verdana"/>
            </a:endParaRPr>
          </a:p>
        </p:txBody>
      </p:sp>
    </p:spTree>
    <p:extLst>
      <p:ext uri="{BB962C8B-B14F-4D97-AF65-F5344CB8AC3E}">
        <p14:creationId xmlns:p14="http://schemas.microsoft.com/office/powerpoint/2010/main" val="371118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pic>
        <p:nvPicPr>
          <p:cNvPr id="4" name="Picture 2" descr="Brave firefighters firefighting with flame">
            <a:extLst>
              <a:ext uri="{FF2B5EF4-FFF2-40B4-BE49-F238E27FC236}">
                <a16:creationId xmlns:a16="http://schemas.microsoft.com/office/drawing/2014/main" id="{DC065B07-30BF-B6A0-E3CA-B6E6E28096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1" t="14544" b="19606"/>
          <a:stretch/>
        </p:blipFill>
        <p:spPr bwMode="auto">
          <a:xfrm>
            <a:off x="-1" y="4405571"/>
            <a:ext cx="5811731" cy="245242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a:extLst>
              <a:ext uri="{FF2B5EF4-FFF2-40B4-BE49-F238E27FC236}">
                <a16:creationId xmlns:a16="http://schemas.microsoft.com/office/drawing/2014/main" id="{7D1002B9-ED67-BC35-444B-C43DE79A2574}"/>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18</a:t>
            </a:fld>
            <a:endParaRPr lang="en-IN"/>
          </a:p>
        </p:txBody>
      </p:sp>
      <p:sp>
        <p:nvSpPr>
          <p:cNvPr id="6" name="Rectangle: Diagonal Corners Rounded 5">
            <a:extLst>
              <a:ext uri="{FF2B5EF4-FFF2-40B4-BE49-F238E27FC236}">
                <a16:creationId xmlns:a16="http://schemas.microsoft.com/office/drawing/2014/main" id="{7F2E2AE3-EE23-7218-4353-9B09D1852632}"/>
              </a:ext>
            </a:extLst>
          </p:cNvPr>
          <p:cNvSpPr/>
          <p:nvPr/>
        </p:nvSpPr>
        <p:spPr>
          <a:xfrm>
            <a:off x="1484896" y="1530857"/>
            <a:ext cx="8653670" cy="1759226"/>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000" b="1" dirty="0">
                <a:solidFill>
                  <a:schemeClr val="tx1"/>
                </a:solidFill>
              </a:rPr>
              <a:t>O1</a:t>
            </a:r>
            <a:r>
              <a:rPr lang="en-IN" sz="1400" dirty="0">
                <a:solidFill>
                  <a:schemeClr val="tx1"/>
                </a:solidFill>
              </a:rPr>
              <a:t>  John had a big house in San Francisco. He has backyard and a beautiful garden in front of the house. He had insured the house with ABC Insurance company for $200,000. Due to an electrical short circuit in the air conditioning unit, a fire broke out and the house got burnt and all the household furniture and equipment's got damaged. Since John had a coverage loss (fire) </a:t>
            </a:r>
            <a:r>
              <a:rPr lang="en-US" sz="1400" dirty="0">
                <a:solidFill>
                  <a:schemeClr val="tx1"/>
                </a:solidFill>
              </a:rPr>
              <a:t>the insurance company will pay to rebuild his house to the same level it was prior to the loss. </a:t>
            </a:r>
          </a:p>
        </p:txBody>
      </p:sp>
      <p:sp>
        <p:nvSpPr>
          <p:cNvPr id="7" name="TextBox 6">
            <a:extLst>
              <a:ext uri="{FF2B5EF4-FFF2-40B4-BE49-F238E27FC236}">
                <a16:creationId xmlns:a16="http://schemas.microsoft.com/office/drawing/2014/main" id="{C6545596-E6F3-BA03-33BB-49AEFB290572}"/>
              </a:ext>
            </a:extLst>
          </p:cNvPr>
          <p:cNvSpPr txBox="1"/>
          <p:nvPr/>
        </p:nvSpPr>
        <p:spPr>
          <a:xfrm>
            <a:off x="2771424" y="3556620"/>
            <a:ext cx="6080614" cy="307777"/>
          </a:xfrm>
          <a:prstGeom prst="rect">
            <a:avLst/>
          </a:prstGeom>
          <a:noFill/>
        </p:spPr>
        <p:txBody>
          <a:bodyPr wrap="square">
            <a:spAutoFit/>
          </a:bodyPr>
          <a:lstStyle/>
          <a:p>
            <a:r>
              <a:rPr lang="en-US" sz="1400" b="1"/>
              <a:t>Which principle of Insurance is being applied in this case ? </a:t>
            </a:r>
          </a:p>
        </p:txBody>
      </p:sp>
      <p:sp>
        <p:nvSpPr>
          <p:cNvPr id="8" name="TextBox 7">
            <a:extLst>
              <a:ext uri="{FF2B5EF4-FFF2-40B4-BE49-F238E27FC236}">
                <a16:creationId xmlns:a16="http://schemas.microsoft.com/office/drawing/2014/main" id="{3CDFB7F8-264B-25CC-D51A-AB2205D0227E}"/>
              </a:ext>
            </a:extLst>
          </p:cNvPr>
          <p:cNvSpPr txBox="1"/>
          <p:nvPr/>
        </p:nvSpPr>
        <p:spPr>
          <a:xfrm>
            <a:off x="4596376" y="4003568"/>
            <a:ext cx="2430707" cy="307777"/>
          </a:xfrm>
          <a:prstGeom prst="rect">
            <a:avLst/>
          </a:prstGeom>
          <a:noFill/>
        </p:spPr>
        <p:txBody>
          <a:bodyPr wrap="square">
            <a:spAutoFit/>
          </a:bodyPr>
          <a:lstStyle/>
          <a:p>
            <a:r>
              <a:rPr lang="en-US" sz="1400"/>
              <a:t>a. Utmost Good Faith</a:t>
            </a:r>
          </a:p>
        </p:txBody>
      </p:sp>
      <p:sp>
        <p:nvSpPr>
          <p:cNvPr id="9" name="TextBox 8">
            <a:extLst>
              <a:ext uri="{FF2B5EF4-FFF2-40B4-BE49-F238E27FC236}">
                <a16:creationId xmlns:a16="http://schemas.microsoft.com/office/drawing/2014/main" id="{8C6252D7-2629-873E-CFC2-80D4DD840835}"/>
              </a:ext>
            </a:extLst>
          </p:cNvPr>
          <p:cNvSpPr txBox="1"/>
          <p:nvPr/>
        </p:nvSpPr>
        <p:spPr>
          <a:xfrm>
            <a:off x="5943599" y="5412135"/>
            <a:ext cx="6248401" cy="954107"/>
          </a:xfrm>
          <a:prstGeom prst="rect">
            <a:avLst/>
          </a:prstGeom>
          <a:noFill/>
        </p:spPr>
        <p:txBody>
          <a:bodyPr wrap="square" lIns="91440" tIns="45720" rIns="91440" bIns="45720" anchor="t">
            <a:spAutoFit/>
          </a:bodyPr>
          <a:lstStyle/>
          <a:p>
            <a:r>
              <a:rPr lang="en-IN" altLang="en-US" sz="1400" b="1">
                <a:ea typeface="Verdana"/>
              </a:rPr>
              <a:t>Answer: Indemnity</a:t>
            </a:r>
            <a:endParaRPr lang="en-IN" altLang="en-US" sz="1400" b="1"/>
          </a:p>
          <a:p>
            <a:r>
              <a:rPr lang="en-IN" altLang="en-US" sz="1400"/>
              <a:t>Since </a:t>
            </a:r>
            <a:r>
              <a:rPr lang="en-US" sz="1400"/>
              <a:t>insurance companies only insure pure risks and there is no opportunity for gain or profit with pure risks. In this case the insurance company will not build a larger, more elaborate house for him.</a:t>
            </a:r>
            <a:endParaRPr lang="en-IN" sz="1400">
              <a:ea typeface="Verdana"/>
            </a:endParaRPr>
          </a:p>
        </p:txBody>
      </p:sp>
      <p:sp>
        <p:nvSpPr>
          <p:cNvPr id="10" name="TextBox 9">
            <a:extLst>
              <a:ext uri="{FF2B5EF4-FFF2-40B4-BE49-F238E27FC236}">
                <a16:creationId xmlns:a16="http://schemas.microsoft.com/office/drawing/2014/main" id="{5B3BA4F4-674A-CE01-9BD8-1980B9805A6E}"/>
              </a:ext>
            </a:extLst>
          </p:cNvPr>
          <p:cNvSpPr txBox="1"/>
          <p:nvPr/>
        </p:nvSpPr>
        <p:spPr>
          <a:xfrm>
            <a:off x="4591283" y="4355212"/>
            <a:ext cx="2076803" cy="307777"/>
          </a:xfrm>
          <a:prstGeom prst="rect">
            <a:avLst/>
          </a:prstGeom>
          <a:noFill/>
        </p:spPr>
        <p:txBody>
          <a:bodyPr wrap="square">
            <a:spAutoFit/>
          </a:bodyPr>
          <a:lstStyle/>
          <a:p>
            <a:r>
              <a:rPr lang="en-US" altLang="en-US" sz="1400"/>
              <a:t>b. </a:t>
            </a:r>
            <a:r>
              <a:rPr lang="en-US" altLang="en-US" sz="1400">
                <a:latin typeface="+mn-lt"/>
              </a:rPr>
              <a:t>Contribution </a:t>
            </a:r>
          </a:p>
        </p:txBody>
      </p:sp>
      <p:sp>
        <p:nvSpPr>
          <p:cNvPr id="11" name="TextBox 10">
            <a:extLst>
              <a:ext uri="{FF2B5EF4-FFF2-40B4-BE49-F238E27FC236}">
                <a16:creationId xmlns:a16="http://schemas.microsoft.com/office/drawing/2014/main" id="{BE24B542-3E84-C829-6E81-0BDD859C8D5C}"/>
              </a:ext>
            </a:extLst>
          </p:cNvPr>
          <p:cNvSpPr txBox="1"/>
          <p:nvPr/>
        </p:nvSpPr>
        <p:spPr>
          <a:xfrm>
            <a:off x="4591283" y="4752215"/>
            <a:ext cx="1528043" cy="307777"/>
          </a:xfrm>
          <a:prstGeom prst="rect">
            <a:avLst/>
          </a:prstGeom>
          <a:noFill/>
        </p:spPr>
        <p:txBody>
          <a:bodyPr wrap="square">
            <a:spAutoFit/>
          </a:bodyPr>
          <a:lstStyle/>
          <a:p>
            <a:r>
              <a:rPr lang="en-US" altLang="en-US" sz="1400">
                <a:latin typeface="+mn-lt"/>
              </a:rPr>
              <a:t>c. Indemnity</a:t>
            </a:r>
          </a:p>
        </p:txBody>
      </p:sp>
    </p:spTree>
    <p:extLst>
      <p:ext uri="{BB962C8B-B14F-4D97-AF65-F5344CB8AC3E}">
        <p14:creationId xmlns:p14="http://schemas.microsoft.com/office/powerpoint/2010/main" val="120497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750"/>
                                        <p:tgtEl>
                                          <p:spTgt spid="8"/>
                                        </p:tgtEl>
                                      </p:cBhvr>
                                    </p:animEffect>
                                    <p:anim calcmode="lin" valueType="num">
                                      <p:cBhvr>
                                        <p:cTn id="15" dur="750" fill="hold"/>
                                        <p:tgtEl>
                                          <p:spTgt spid="8"/>
                                        </p:tgtEl>
                                        <p:attrNameLst>
                                          <p:attrName>ppt_x</p:attrName>
                                        </p:attrNameLst>
                                      </p:cBhvr>
                                      <p:tavLst>
                                        <p:tav tm="0">
                                          <p:val>
                                            <p:strVal val="#ppt_x"/>
                                          </p:val>
                                        </p:tav>
                                        <p:tav tm="100000">
                                          <p:val>
                                            <p:strVal val="#ppt_x"/>
                                          </p:val>
                                        </p:tav>
                                      </p:tavLst>
                                    </p:anim>
                                    <p:anim calcmode="lin" valueType="num">
                                      <p:cBhvr>
                                        <p:cTn id="16" dur="75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750"/>
                                        <p:tgtEl>
                                          <p:spTgt spid="10"/>
                                        </p:tgtEl>
                                      </p:cBhvr>
                                    </p:animEffect>
                                    <p:anim calcmode="lin" valueType="num">
                                      <p:cBhvr>
                                        <p:cTn id="20" dur="750" fill="hold"/>
                                        <p:tgtEl>
                                          <p:spTgt spid="10"/>
                                        </p:tgtEl>
                                        <p:attrNameLst>
                                          <p:attrName>ppt_x</p:attrName>
                                        </p:attrNameLst>
                                      </p:cBhvr>
                                      <p:tavLst>
                                        <p:tav tm="0">
                                          <p:val>
                                            <p:strVal val="#ppt_x"/>
                                          </p:val>
                                        </p:tav>
                                        <p:tav tm="100000">
                                          <p:val>
                                            <p:strVal val="#ppt_x"/>
                                          </p:val>
                                        </p:tav>
                                      </p:tavLst>
                                    </p:anim>
                                    <p:anim calcmode="lin" valueType="num">
                                      <p:cBhvr>
                                        <p:cTn id="21" dur="75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iterate type="lt">
                                    <p:tmPct val="0"/>
                                  </p:iterate>
                                  <p:childTnLst>
                                    <p:set>
                                      <p:cBhvr>
                                        <p:cTn id="23" dur="1" fill="hold">
                                          <p:stCondLst>
                                            <p:cond delay="0"/>
                                          </p:stCondLst>
                                        </p:cTn>
                                        <p:tgtEl>
                                          <p:spTgt spid="11"/>
                                        </p:tgtEl>
                                        <p:attrNameLst>
                                          <p:attrName>style.visibility</p:attrName>
                                        </p:attrNameLst>
                                      </p:cBhvr>
                                      <p:to>
                                        <p:strVal val="visible"/>
                                      </p:to>
                                    </p:set>
                                    <p:animEffect transition="in" filter="fade">
                                      <p:cBhvr>
                                        <p:cTn id="24" dur="750"/>
                                        <p:tgtEl>
                                          <p:spTgt spid="11"/>
                                        </p:tgtEl>
                                      </p:cBhvr>
                                    </p:animEffect>
                                    <p:anim calcmode="lin" valueType="num">
                                      <p:cBhvr>
                                        <p:cTn id="25" dur="750" fill="hold"/>
                                        <p:tgtEl>
                                          <p:spTgt spid="11"/>
                                        </p:tgtEl>
                                        <p:attrNameLst>
                                          <p:attrName>ppt_x</p:attrName>
                                        </p:attrNameLst>
                                      </p:cBhvr>
                                      <p:tavLst>
                                        <p:tav tm="0">
                                          <p:val>
                                            <p:strVal val="#ppt_x"/>
                                          </p:val>
                                        </p:tav>
                                        <p:tav tm="100000">
                                          <p:val>
                                            <p:strVal val="#ppt_x"/>
                                          </p:val>
                                        </p:tav>
                                      </p:tavLst>
                                    </p:anim>
                                    <p:anim calcmode="lin" valueType="num">
                                      <p:cBhvr>
                                        <p:cTn id="26" dur="7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mph" presetSubtype="0" grpId="1" nodeType="clickEffect">
                                  <p:stCondLst>
                                    <p:cond delay="0"/>
                                  </p:stCondLst>
                                  <p:iterate type="lt">
                                    <p:tmAbs val="25"/>
                                  </p:iterate>
                                  <p:childTnLst>
                                    <p:set>
                                      <p:cBhvr override="childStyle">
                                        <p:cTn id="30" dur="indefinite"/>
                                        <p:tgtEl>
                                          <p:spTgt spid="11"/>
                                        </p:tgtEl>
                                        <p:attrNameLst>
                                          <p:attrName>style.fontWeight</p:attrName>
                                        </p:attrNameLst>
                                      </p:cBhvr>
                                      <p:to>
                                        <p:strVal val="bold"/>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750"/>
                                        <p:tgtEl>
                                          <p:spTgt spid="9"/>
                                        </p:tgtEl>
                                      </p:cBhvr>
                                    </p:animEffect>
                                    <p:anim calcmode="lin" valueType="num">
                                      <p:cBhvr>
                                        <p:cTn id="36" dur="750" fill="hold"/>
                                        <p:tgtEl>
                                          <p:spTgt spid="9"/>
                                        </p:tgtEl>
                                        <p:attrNameLst>
                                          <p:attrName>ppt_x</p:attrName>
                                        </p:attrNameLst>
                                      </p:cBhvr>
                                      <p:tavLst>
                                        <p:tav tm="0">
                                          <p:val>
                                            <p:strVal val="#ppt_x"/>
                                          </p:val>
                                        </p:tav>
                                        <p:tav tm="100000">
                                          <p:val>
                                            <p:strVal val="#ppt_x"/>
                                          </p:val>
                                        </p:tav>
                                      </p:tavLst>
                                    </p:anim>
                                    <p:anim calcmode="lin" valueType="num">
                                      <p:cBhvr>
                                        <p:cTn id="37" dur="7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1" grpId="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pic>
        <p:nvPicPr>
          <p:cNvPr id="3" name="Picture 2">
            <a:extLst>
              <a:ext uri="{FF2B5EF4-FFF2-40B4-BE49-F238E27FC236}">
                <a16:creationId xmlns:a16="http://schemas.microsoft.com/office/drawing/2014/main" id="{37DF7355-FA64-8775-EB6C-C5DED4C856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72" r="6568"/>
          <a:stretch/>
        </p:blipFill>
        <p:spPr bwMode="auto">
          <a:xfrm>
            <a:off x="0" y="4286187"/>
            <a:ext cx="5571058" cy="2571813"/>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Diagonal Corners Rounded 11">
            <a:extLst>
              <a:ext uri="{FF2B5EF4-FFF2-40B4-BE49-F238E27FC236}">
                <a16:creationId xmlns:a16="http://schemas.microsoft.com/office/drawing/2014/main" id="{0DA7B5F8-9EB2-BA97-BE36-CBEAA2C1EF79}"/>
              </a:ext>
            </a:extLst>
          </p:cNvPr>
          <p:cNvSpPr/>
          <p:nvPr/>
        </p:nvSpPr>
        <p:spPr>
          <a:xfrm>
            <a:off x="1769165" y="1715812"/>
            <a:ext cx="8653670" cy="954107"/>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000" b="1">
                <a:solidFill>
                  <a:schemeClr val="tx1"/>
                </a:solidFill>
              </a:rPr>
              <a:t>O2</a:t>
            </a:r>
            <a:r>
              <a:rPr lang="en-IN" sz="1400">
                <a:solidFill>
                  <a:schemeClr val="tx1"/>
                </a:solidFill>
              </a:rPr>
              <a:t>  </a:t>
            </a:r>
            <a:r>
              <a:rPr lang="en-US" sz="1400">
                <a:solidFill>
                  <a:schemeClr val="tx1"/>
                </a:solidFill>
              </a:rPr>
              <a:t>David purchased an insurance policy for his car. His care met with an accident and got totally damaged. Insurer paid the full policy value to David as a claim. Can David sell the scrap and earn profits ? </a:t>
            </a:r>
          </a:p>
        </p:txBody>
      </p:sp>
      <p:sp>
        <p:nvSpPr>
          <p:cNvPr id="13" name="TextBox 12">
            <a:extLst>
              <a:ext uri="{FF2B5EF4-FFF2-40B4-BE49-F238E27FC236}">
                <a16:creationId xmlns:a16="http://schemas.microsoft.com/office/drawing/2014/main" id="{9056E7F0-8044-F63B-761E-9C7C8CD90AE7}"/>
              </a:ext>
            </a:extLst>
          </p:cNvPr>
          <p:cNvSpPr txBox="1"/>
          <p:nvPr/>
        </p:nvSpPr>
        <p:spPr>
          <a:xfrm>
            <a:off x="3055693" y="2910290"/>
            <a:ext cx="6080614" cy="307777"/>
          </a:xfrm>
          <a:prstGeom prst="rect">
            <a:avLst/>
          </a:prstGeom>
          <a:noFill/>
        </p:spPr>
        <p:txBody>
          <a:bodyPr wrap="square">
            <a:spAutoFit/>
          </a:bodyPr>
          <a:lstStyle/>
          <a:p>
            <a:r>
              <a:rPr lang="en-US" sz="1400" b="1"/>
              <a:t>Which principle of Insurance is being applied in this case ? </a:t>
            </a:r>
          </a:p>
        </p:txBody>
      </p:sp>
      <p:sp>
        <p:nvSpPr>
          <p:cNvPr id="14" name="TextBox 13">
            <a:extLst>
              <a:ext uri="{FF2B5EF4-FFF2-40B4-BE49-F238E27FC236}">
                <a16:creationId xmlns:a16="http://schemas.microsoft.com/office/drawing/2014/main" id="{DA2EA1FD-5436-69CD-AAA5-CA28D1B1DE28}"/>
              </a:ext>
            </a:extLst>
          </p:cNvPr>
          <p:cNvSpPr txBox="1"/>
          <p:nvPr/>
        </p:nvSpPr>
        <p:spPr>
          <a:xfrm>
            <a:off x="5890590" y="5141245"/>
            <a:ext cx="5811731" cy="1169551"/>
          </a:xfrm>
          <a:prstGeom prst="rect">
            <a:avLst/>
          </a:prstGeom>
          <a:noFill/>
        </p:spPr>
        <p:txBody>
          <a:bodyPr wrap="square" lIns="91440" tIns="45720" rIns="91440" bIns="45720" anchor="t">
            <a:spAutoFit/>
          </a:bodyPr>
          <a:lstStyle/>
          <a:p>
            <a:r>
              <a:rPr lang="en-US" sz="1400" b="1">
                <a:ea typeface="Verdana"/>
              </a:rPr>
              <a:t>Answer: Subrogation</a:t>
            </a:r>
            <a:endParaRPr lang="en-US" sz="1400" b="1"/>
          </a:p>
          <a:p>
            <a:r>
              <a:rPr lang="en-US" sz="1400"/>
              <a:t>After paying the insurance claim, the insurer becomes the owner of subject matter</a:t>
            </a:r>
            <a:r>
              <a:rPr lang="en-US" sz="1400">
                <a:latin typeface="Roboto"/>
                <a:ea typeface="Roboto"/>
              </a:rPr>
              <a:t>.</a:t>
            </a:r>
            <a:r>
              <a:rPr lang="en-US" sz="1400"/>
              <a:t> Now David can't sell the scrap that has remained after the car accident. </a:t>
            </a:r>
            <a:endParaRPr lang="en-US"/>
          </a:p>
          <a:p>
            <a:r>
              <a:rPr lang="en-IN" sz="1400"/>
              <a:t> </a:t>
            </a:r>
          </a:p>
        </p:txBody>
      </p:sp>
      <p:sp>
        <p:nvSpPr>
          <p:cNvPr id="15" name="TextBox 14">
            <a:extLst>
              <a:ext uri="{FF2B5EF4-FFF2-40B4-BE49-F238E27FC236}">
                <a16:creationId xmlns:a16="http://schemas.microsoft.com/office/drawing/2014/main" id="{B32168BE-DBB9-4E5B-E4BC-3E7434F2F005}"/>
              </a:ext>
            </a:extLst>
          </p:cNvPr>
          <p:cNvSpPr txBox="1"/>
          <p:nvPr/>
        </p:nvSpPr>
        <p:spPr>
          <a:xfrm>
            <a:off x="5100933" y="3430262"/>
            <a:ext cx="2430707" cy="307777"/>
          </a:xfrm>
          <a:prstGeom prst="rect">
            <a:avLst/>
          </a:prstGeom>
          <a:noFill/>
        </p:spPr>
        <p:txBody>
          <a:bodyPr wrap="square">
            <a:spAutoFit/>
          </a:bodyPr>
          <a:lstStyle/>
          <a:p>
            <a:r>
              <a:rPr lang="en-US" sz="1400"/>
              <a:t>a. Utmost Good Faith</a:t>
            </a:r>
          </a:p>
        </p:txBody>
      </p:sp>
      <p:sp>
        <p:nvSpPr>
          <p:cNvPr id="16" name="TextBox 15">
            <a:extLst>
              <a:ext uri="{FF2B5EF4-FFF2-40B4-BE49-F238E27FC236}">
                <a16:creationId xmlns:a16="http://schemas.microsoft.com/office/drawing/2014/main" id="{DC7FE759-6C66-53CC-1024-5A27216CD3C8}"/>
              </a:ext>
            </a:extLst>
          </p:cNvPr>
          <p:cNvSpPr txBox="1"/>
          <p:nvPr/>
        </p:nvSpPr>
        <p:spPr>
          <a:xfrm>
            <a:off x="5095840" y="3781906"/>
            <a:ext cx="2076803" cy="307777"/>
          </a:xfrm>
          <a:prstGeom prst="rect">
            <a:avLst/>
          </a:prstGeom>
          <a:noFill/>
        </p:spPr>
        <p:txBody>
          <a:bodyPr wrap="square">
            <a:spAutoFit/>
          </a:bodyPr>
          <a:lstStyle/>
          <a:p>
            <a:r>
              <a:rPr lang="en-US" altLang="en-US" sz="1400"/>
              <a:t>b. Subrogatio</a:t>
            </a:r>
            <a:r>
              <a:rPr lang="en-US" altLang="en-US" sz="1400">
                <a:latin typeface="+mn-lt"/>
              </a:rPr>
              <a:t>n </a:t>
            </a:r>
          </a:p>
        </p:txBody>
      </p:sp>
      <p:sp>
        <p:nvSpPr>
          <p:cNvPr id="17" name="TextBox 16">
            <a:extLst>
              <a:ext uri="{FF2B5EF4-FFF2-40B4-BE49-F238E27FC236}">
                <a16:creationId xmlns:a16="http://schemas.microsoft.com/office/drawing/2014/main" id="{F01DC7B0-D266-204F-87C2-6CE4802EF2B3}"/>
              </a:ext>
            </a:extLst>
          </p:cNvPr>
          <p:cNvSpPr txBox="1"/>
          <p:nvPr/>
        </p:nvSpPr>
        <p:spPr>
          <a:xfrm>
            <a:off x="5095840" y="4178909"/>
            <a:ext cx="1528043" cy="307777"/>
          </a:xfrm>
          <a:prstGeom prst="rect">
            <a:avLst/>
          </a:prstGeom>
          <a:noFill/>
        </p:spPr>
        <p:txBody>
          <a:bodyPr wrap="square">
            <a:spAutoFit/>
          </a:bodyPr>
          <a:lstStyle/>
          <a:p>
            <a:r>
              <a:rPr lang="en-US" altLang="en-US" sz="1400">
                <a:latin typeface="+mn-lt"/>
              </a:rPr>
              <a:t>c. Indemnity</a:t>
            </a:r>
          </a:p>
        </p:txBody>
      </p:sp>
    </p:spTree>
    <p:extLst>
      <p:ext uri="{BB962C8B-B14F-4D97-AF65-F5344CB8AC3E}">
        <p14:creationId xmlns:p14="http://schemas.microsoft.com/office/powerpoint/2010/main" val="101194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anim calcmode="lin" valueType="num">
                                      <p:cBhvr>
                                        <p:cTn id="8" dur="750" fill="hold"/>
                                        <p:tgtEl>
                                          <p:spTgt spid="13"/>
                                        </p:tgtEl>
                                        <p:attrNameLst>
                                          <p:attrName>ppt_x</p:attrName>
                                        </p:attrNameLst>
                                      </p:cBhvr>
                                      <p:tavLst>
                                        <p:tav tm="0">
                                          <p:val>
                                            <p:strVal val="#ppt_x"/>
                                          </p:val>
                                        </p:tav>
                                        <p:tav tm="100000">
                                          <p:val>
                                            <p:strVal val="#ppt_x"/>
                                          </p:val>
                                        </p:tav>
                                      </p:tavLst>
                                    </p:anim>
                                    <p:anim calcmode="lin" valueType="num">
                                      <p:cBhvr>
                                        <p:cTn id="9" dur="75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750"/>
                                        <p:tgtEl>
                                          <p:spTgt spid="15"/>
                                        </p:tgtEl>
                                      </p:cBhvr>
                                    </p:animEffect>
                                    <p:anim calcmode="lin" valueType="num">
                                      <p:cBhvr>
                                        <p:cTn id="15" dur="750" fill="hold"/>
                                        <p:tgtEl>
                                          <p:spTgt spid="15"/>
                                        </p:tgtEl>
                                        <p:attrNameLst>
                                          <p:attrName>ppt_x</p:attrName>
                                        </p:attrNameLst>
                                      </p:cBhvr>
                                      <p:tavLst>
                                        <p:tav tm="0">
                                          <p:val>
                                            <p:strVal val="#ppt_x"/>
                                          </p:val>
                                        </p:tav>
                                        <p:tav tm="100000">
                                          <p:val>
                                            <p:strVal val="#ppt_x"/>
                                          </p:val>
                                        </p:tav>
                                      </p:tavLst>
                                    </p:anim>
                                    <p:anim calcmode="lin" valueType="num">
                                      <p:cBhvr>
                                        <p:cTn id="16" dur="750" fill="hold"/>
                                        <p:tgtEl>
                                          <p:spTgt spid="1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iterate type="lt">
                                    <p:tmPct val="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750"/>
                                        <p:tgtEl>
                                          <p:spTgt spid="16"/>
                                        </p:tgtEl>
                                      </p:cBhvr>
                                    </p:animEffect>
                                    <p:anim calcmode="lin" valueType="num">
                                      <p:cBhvr>
                                        <p:cTn id="20" dur="750" fill="hold"/>
                                        <p:tgtEl>
                                          <p:spTgt spid="16"/>
                                        </p:tgtEl>
                                        <p:attrNameLst>
                                          <p:attrName>ppt_x</p:attrName>
                                        </p:attrNameLst>
                                      </p:cBhvr>
                                      <p:tavLst>
                                        <p:tav tm="0">
                                          <p:val>
                                            <p:strVal val="#ppt_x"/>
                                          </p:val>
                                        </p:tav>
                                        <p:tav tm="100000">
                                          <p:val>
                                            <p:strVal val="#ppt_x"/>
                                          </p:val>
                                        </p:tav>
                                      </p:tavLst>
                                    </p:anim>
                                    <p:anim calcmode="lin" valueType="num">
                                      <p:cBhvr>
                                        <p:cTn id="21" dur="75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iterate type="lt">
                                    <p:tmPct val="0"/>
                                  </p:iterate>
                                  <p:childTnLst>
                                    <p:set>
                                      <p:cBhvr>
                                        <p:cTn id="23" dur="1" fill="hold">
                                          <p:stCondLst>
                                            <p:cond delay="0"/>
                                          </p:stCondLst>
                                        </p:cTn>
                                        <p:tgtEl>
                                          <p:spTgt spid="17"/>
                                        </p:tgtEl>
                                        <p:attrNameLst>
                                          <p:attrName>style.visibility</p:attrName>
                                        </p:attrNameLst>
                                      </p:cBhvr>
                                      <p:to>
                                        <p:strVal val="visible"/>
                                      </p:to>
                                    </p:set>
                                    <p:animEffect transition="in" filter="fade">
                                      <p:cBhvr>
                                        <p:cTn id="24" dur="750"/>
                                        <p:tgtEl>
                                          <p:spTgt spid="17"/>
                                        </p:tgtEl>
                                      </p:cBhvr>
                                    </p:animEffect>
                                    <p:anim calcmode="lin" valueType="num">
                                      <p:cBhvr>
                                        <p:cTn id="25" dur="750" fill="hold"/>
                                        <p:tgtEl>
                                          <p:spTgt spid="17"/>
                                        </p:tgtEl>
                                        <p:attrNameLst>
                                          <p:attrName>ppt_x</p:attrName>
                                        </p:attrNameLst>
                                      </p:cBhvr>
                                      <p:tavLst>
                                        <p:tav tm="0">
                                          <p:val>
                                            <p:strVal val="#ppt_x"/>
                                          </p:val>
                                        </p:tav>
                                        <p:tav tm="100000">
                                          <p:val>
                                            <p:strVal val="#ppt_x"/>
                                          </p:val>
                                        </p:tav>
                                      </p:tavLst>
                                    </p:anim>
                                    <p:anim calcmode="lin" valueType="num">
                                      <p:cBhvr>
                                        <p:cTn id="26" dur="75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mph" presetSubtype="0" grpId="1" nodeType="clickEffect">
                                  <p:stCondLst>
                                    <p:cond delay="0"/>
                                  </p:stCondLst>
                                  <p:iterate type="lt">
                                    <p:tmAbs val="25"/>
                                  </p:iterate>
                                  <p:childTnLst>
                                    <p:set>
                                      <p:cBhvr override="childStyle">
                                        <p:cTn id="30" dur="indefinite"/>
                                        <p:tgtEl>
                                          <p:spTgt spid="16"/>
                                        </p:tgtEl>
                                        <p:attrNameLst>
                                          <p:attrName>style.fontWeight</p:attrName>
                                        </p:attrNameLst>
                                      </p:cBhvr>
                                      <p:to>
                                        <p:strVal val="bold"/>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750"/>
                                        <p:tgtEl>
                                          <p:spTgt spid="14"/>
                                        </p:tgtEl>
                                      </p:cBhvr>
                                    </p:animEffect>
                                    <p:anim calcmode="lin" valueType="num">
                                      <p:cBhvr>
                                        <p:cTn id="36" dur="750" fill="hold"/>
                                        <p:tgtEl>
                                          <p:spTgt spid="14"/>
                                        </p:tgtEl>
                                        <p:attrNameLst>
                                          <p:attrName>ppt_x</p:attrName>
                                        </p:attrNameLst>
                                      </p:cBhvr>
                                      <p:tavLst>
                                        <p:tav tm="0">
                                          <p:val>
                                            <p:strVal val="#ppt_x"/>
                                          </p:val>
                                        </p:tav>
                                        <p:tav tm="100000">
                                          <p:val>
                                            <p:strVal val="#ppt_x"/>
                                          </p:val>
                                        </p:tav>
                                      </p:tavLst>
                                    </p:anim>
                                    <p:anim calcmode="lin" valueType="num">
                                      <p:cBhvr>
                                        <p:cTn id="37" dur="7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6" grpId="1"/>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sp>
        <p:nvSpPr>
          <p:cNvPr id="12" name="Slide Number Placeholder 2">
            <a:extLst>
              <a:ext uri="{FF2B5EF4-FFF2-40B4-BE49-F238E27FC236}">
                <a16:creationId xmlns:a16="http://schemas.microsoft.com/office/drawing/2014/main" id="{F5693756-A166-D80A-F7A2-03C2C34A58C5}"/>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20</a:t>
            </a:fld>
            <a:endParaRPr lang="en-IN"/>
          </a:p>
        </p:txBody>
      </p:sp>
      <p:pic>
        <p:nvPicPr>
          <p:cNvPr id="4" name="Picture 2" descr="Health insurance protection. care medical with decorated small people character. filling medical documents. healthcare concept. flat">
            <a:extLst>
              <a:ext uri="{FF2B5EF4-FFF2-40B4-BE49-F238E27FC236}">
                <a16:creationId xmlns:a16="http://schemas.microsoft.com/office/drawing/2014/main" id="{5A7065A4-BC5E-A106-1801-63EA4254A6D3}"/>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0" y="4430495"/>
            <a:ext cx="3233230" cy="242750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2">
            <a:extLst>
              <a:ext uri="{FF2B5EF4-FFF2-40B4-BE49-F238E27FC236}">
                <a16:creationId xmlns:a16="http://schemas.microsoft.com/office/drawing/2014/main" id="{97E20BF5-E91C-F02E-8C8F-C2DB642397C9}"/>
              </a:ext>
            </a:extLst>
          </p:cNvPr>
          <p:cNvSpPr txBox="1">
            <a:spLocks/>
          </p:cNvSpPr>
          <p:nvPr/>
        </p:nvSpPr>
        <p:spPr>
          <a:xfrm>
            <a:off x="9497316" y="6594474"/>
            <a:ext cx="345202" cy="263525"/>
          </a:xfrm>
          <a:prstGeom prst="rect">
            <a:avLst/>
          </a:prstGeom>
        </p:spPr>
        <p:txBody>
          <a:bodyPr vert="horz" lIns="91440" tIns="45720" rIns="91440" bIns="45720" rtlCol="0">
            <a:normAutofit/>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defTabSz="457200">
              <a:lnSpc>
                <a:spcPct val="100000"/>
              </a:lnSpc>
              <a:buFontTx/>
              <a:buNone/>
              <a:defRPr/>
            </a:pPr>
            <a:fld id="{F896853B-1608-4B80-B96D-960378C91880}" type="slidenum">
              <a:rPr lang="en-IN" sz="900" smtClean="0">
                <a:latin typeface="Verdana"/>
              </a:rPr>
              <a:pPr indent="0" algn="ctr" defTabSz="457200">
                <a:lnSpc>
                  <a:spcPct val="100000"/>
                </a:lnSpc>
                <a:buFontTx/>
                <a:buNone/>
                <a:defRPr/>
              </a:pPr>
              <a:t>20</a:t>
            </a:fld>
            <a:endParaRPr lang="en-IN" sz="900">
              <a:latin typeface="Verdana"/>
            </a:endParaRPr>
          </a:p>
        </p:txBody>
      </p:sp>
      <p:sp>
        <p:nvSpPr>
          <p:cNvPr id="6" name="Rectangle: Diagonal Corners Rounded 5">
            <a:extLst>
              <a:ext uri="{FF2B5EF4-FFF2-40B4-BE49-F238E27FC236}">
                <a16:creationId xmlns:a16="http://schemas.microsoft.com/office/drawing/2014/main" id="{1ADB0A0F-7EB1-CD3A-C234-F4F2FA80B72F}"/>
              </a:ext>
            </a:extLst>
          </p:cNvPr>
          <p:cNvSpPr/>
          <p:nvPr/>
        </p:nvSpPr>
        <p:spPr>
          <a:xfrm>
            <a:off x="1484895" y="1530857"/>
            <a:ext cx="9445701" cy="1759226"/>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l"/>
            <a:r>
              <a:rPr lang="en-IN" sz="2000" b="1" dirty="0">
                <a:solidFill>
                  <a:schemeClr val="tx1"/>
                </a:solidFill>
                <a:latin typeface="Verdana"/>
              </a:rPr>
              <a:t>O3</a:t>
            </a:r>
            <a:r>
              <a:rPr kumimoji="0" lang="en-IN" sz="1400" b="0" i="0" u="none" strike="noStrike" kern="1200" cap="none" spc="0" normalizeH="0" baseline="0" noProof="0" dirty="0">
                <a:ln>
                  <a:noFill/>
                </a:ln>
                <a:solidFill>
                  <a:schemeClr val="tx1"/>
                </a:solidFill>
                <a:effectLst/>
                <a:uLnTx/>
                <a:uFillTx/>
                <a:latin typeface="Verdana"/>
                <a:ea typeface="+mn-ea"/>
                <a:cs typeface="+mn-cs"/>
              </a:rPr>
              <a:t> </a:t>
            </a:r>
            <a:r>
              <a:rPr lang="en-US" sz="1400" dirty="0">
                <a:solidFill>
                  <a:schemeClr val="tx1"/>
                </a:solidFill>
              </a:rPr>
              <a:t>Mary</a:t>
            </a:r>
            <a:r>
              <a:rPr lang="en-US" sz="1400" b="0" i="0" dirty="0">
                <a:solidFill>
                  <a:schemeClr val="tx1"/>
                </a:solidFill>
                <a:effectLst/>
              </a:rPr>
              <a:t> has taken Health </a:t>
            </a:r>
            <a:r>
              <a:rPr lang="en-US" sz="1400" dirty="0">
                <a:solidFill>
                  <a:schemeClr val="tx1"/>
                </a:solidFill>
              </a:rPr>
              <a:t>I</a:t>
            </a:r>
            <a:r>
              <a:rPr lang="en-US" sz="1400" b="0" i="0" dirty="0">
                <a:solidFill>
                  <a:schemeClr val="tx1"/>
                </a:solidFill>
                <a:effectLst/>
              </a:rPr>
              <a:t>nsurance from 2 </a:t>
            </a:r>
            <a:r>
              <a:rPr lang="en-US" sz="1400" dirty="0">
                <a:solidFill>
                  <a:schemeClr val="tx1"/>
                </a:solidFill>
              </a:rPr>
              <a:t>health insurance </a:t>
            </a:r>
            <a:r>
              <a:rPr lang="en-US" sz="1400" b="0" i="0" dirty="0">
                <a:solidFill>
                  <a:schemeClr val="tx1"/>
                </a:solidFill>
                <a:effectLst/>
              </a:rPr>
              <a:t>providers, say A and B. Coverage amounts are as follows:</a:t>
            </a:r>
          </a:p>
          <a:p>
            <a:pPr algn="l"/>
            <a:r>
              <a:rPr lang="en-US" sz="1400" b="0" i="0" dirty="0">
                <a:solidFill>
                  <a:schemeClr val="tx1"/>
                </a:solidFill>
                <a:effectLst/>
              </a:rPr>
              <a:t>A. $ 2000</a:t>
            </a:r>
            <a:br>
              <a:rPr lang="en-US" sz="1400" b="0" i="0" dirty="0">
                <a:effectLst/>
              </a:rPr>
            </a:br>
            <a:r>
              <a:rPr lang="en-US" sz="1400" b="0" i="0" dirty="0">
                <a:solidFill>
                  <a:schemeClr val="tx1"/>
                </a:solidFill>
                <a:effectLst/>
              </a:rPr>
              <a:t>B. $ 2500</a:t>
            </a:r>
          </a:p>
          <a:p>
            <a:r>
              <a:rPr lang="en-US" sz="1400" b="0" i="0" dirty="0">
                <a:solidFill>
                  <a:schemeClr val="tx1"/>
                </a:solidFill>
                <a:effectLst/>
              </a:rPr>
              <a:t>Mary got admitted to the hospital for illness and the total claim is $ 2000. Mary decides to use a policy from A insurance and got paid $ 2000.</a:t>
            </a:r>
            <a:r>
              <a:rPr lang="en-US" sz="1400" dirty="0">
                <a:solidFill>
                  <a:schemeClr val="tx1"/>
                </a:solidFill>
              </a:rPr>
              <a:t> </a:t>
            </a:r>
          </a:p>
          <a:p>
            <a:pPr algn="l"/>
            <a:r>
              <a:rPr lang="en-US" sz="1400" dirty="0">
                <a:solidFill>
                  <a:schemeClr val="tx1"/>
                </a:solidFill>
              </a:rPr>
              <a:t>She </a:t>
            </a:r>
            <a:r>
              <a:rPr lang="en-US" sz="1400" b="0" i="0" dirty="0">
                <a:solidFill>
                  <a:schemeClr val="tx1"/>
                </a:solidFill>
                <a:effectLst/>
              </a:rPr>
              <a:t>now goes to B and demands his claim again</a:t>
            </a:r>
            <a:r>
              <a:rPr kumimoji="0" lang="en-US" sz="1400" b="0" i="0" u="none" strike="noStrike" kern="1200" cap="none" spc="0" normalizeH="0" baseline="0" noProof="0" dirty="0">
                <a:ln>
                  <a:noFill/>
                </a:ln>
                <a:solidFill>
                  <a:schemeClr val="tx1"/>
                </a:solidFill>
                <a:effectLst/>
                <a:uLnTx/>
                <a:uFillTx/>
                <a:ea typeface="+mn-ea"/>
                <a:cs typeface="+mn-cs"/>
              </a:rPr>
              <a:t>.</a:t>
            </a:r>
            <a:r>
              <a:rPr lang="en-US" sz="1400" dirty="0">
                <a:solidFill>
                  <a:schemeClr val="tx1"/>
                </a:solidFill>
              </a:rPr>
              <a:t> </a:t>
            </a:r>
            <a:endParaRPr lang="en-US" sz="1400" b="0" i="0" u="none" strike="noStrike" kern="1200" cap="none" spc="0" normalizeH="0" baseline="0" noProof="0" dirty="0">
              <a:ln>
                <a:noFill/>
              </a:ln>
              <a:solidFill>
                <a:schemeClr val="tx1"/>
              </a:solidFill>
              <a:effectLst/>
              <a:uLnTx/>
              <a:uFillTx/>
            </a:endParaRPr>
          </a:p>
        </p:txBody>
      </p:sp>
      <p:sp>
        <p:nvSpPr>
          <p:cNvPr id="7" name="TextBox 6">
            <a:extLst>
              <a:ext uri="{FF2B5EF4-FFF2-40B4-BE49-F238E27FC236}">
                <a16:creationId xmlns:a16="http://schemas.microsoft.com/office/drawing/2014/main" id="{C454E335-3E7A-7390-ABA3-9BEC2CD0C248}"/>
              </a:ext>
            </a:extLst>
          </p:cNvPr>
          <p:cNvSpPr txBox="1"/>
          <p:nvPr/>
        </p:nvSpPr>
        <p:spPr>
          <a:xfrm>
            <a:off x="1990455" y="3542613"/>
            <a:ext cx="8285783" cy="307777"/>
          </a:xfrm>
          <a:prstGeom prst="rect">
            <a:avLst/>
          </a:prstGeom>
          <a:noFill/>
        </p:spPr>
        <p:txBody>
          <a:bodyPr wrap="square">
            <a:spAutoFit/>
          </a:bodyPr>
          <a:lstStyle/>
          <a:p>
            <a:pPr algn="l"/>
            <a:r>
              <a:rPr lang="en-US" sz="1400" b="1" i="0">
                <a:effectLst/>
              </a:rPr>
              <a:t>Is she eligible to get another claim? </a:t>
            </a:r>
            <a:r>
              <a:rPr lang="en-US" sz="1400" b="1"/>
              <a:t>Which principle of Insurance is applicable</a:t>
            </a:r>
            <a:r>
              <a:rPr kumimoji="0" lang="en-US" sz="1400" b="1" i="0" u="none" strike="noStrike" kern="1200" cap="none" spc="0" normalizeH="0" baseline="0" noProof="0">
                <a:ln>
                  <a:noFill/>
                </a:ln>
                <a:effectLst/>
                <a:uLnTx/>
                <a:uFillTx/>
                <a:ea typeface="+mn-ea"/>
                <a:cs typeface="+mn-cs"/>
              </a:rPr>
              <a:t>? </a:t>
            </a:r>
          </a:p>
        </p:txBody>
      </p:sp>
      <p:sp>
        <p:nvSpPr>
          <p:cNvPr id="8" name="TextBox 7">
            <a:extLst>
              <a:ext uri="{FF2B5EF4-FFF2-40B4-BE49-F238E27FC236}">
                <a16:creationId xmlns:a16="http://schemas.microsoft.com/office/drawing/2014/main" id="{AC74A225-9FE3-C8F8-8D2F-4E3B332C0437}"/>
              </a:ext>
            </a:extLst>
          </p:cNvPr>
          <p:cNvSpPr txBox="1"/>
          <p:nvPr/>
        </p:nvSpPr>
        <p:spPr>
          <a:xfrm>
            <a:off x="2139251" y="4102920"/>
            <a:ext cx="8136987" cy="954107"/>
          </a:xfrm>
          <a:prstGeom prst="rect">
            <a:avLst/>
          </a:prstGeom>
          <a:noFill/>
        </p:spPr>
        <p:txBody>
          <a:bodyPr wrap="square">
            <a:spAutoFit/>
          </a:bodyPr>
          <a:lstStyle/>
          <a:p>
            <a:pPr algn="ctr"/>
            <a:r>
              <a:rPr lang="en-US" sz="1400" b="1"/>
              <a:t>Answer: </a:t>
            </a:r>
            <a:r>
              <a:rPr lang="en-US" sz="1400" b="1" i="0">
                <a:effectLst/>
              </a:rPr>
              <a:t>Contribution</a:t>
            </a:r>
          </a:p>
          <a:p>
            <a:pPr algn="ctr"/>
            <a:endParaRPr lang="en-US" sz="1400" b="1" i="0">
              <a:effectLst/>
            </a:endParaRPr>
          </a:p>
          <a:p>
            <a:pPr algn="ctr"/>
            <a:r>
              <a:rPr lang="en-US" sz="1400" b="0" i="0">
                <a:effectLst/>
              </a:rPr>
              <a:t>Mary cannot make profit by making a claim from B Insurance. </a:t>
            </a:r>
            <a:r>
              <a:rPr lang="en-US" sz="1400"/>
              <a:t>S</a:t>
            </a:r>
            <a:r>
              <a:rPr lang="en-US" sz="1400" b="0" i="0">
                <a:effectLst/>
              </a:rPr>
              <a:t>he is not eligible since he has already received the claim</a:t>
            </a:r>
            <a:endParaRPr lang="en-US" sz="1400"/>
          </a:p>
        </p:txBody>
      </p:sp>
    </p:spTree>
    <p:extLst>
      <p:ext uri="{BB962C8B-B14F-4D97-AF65-F5344CB8AC3E}">
        <p14:creationId xmlns:p14="http://schemas.microsoft.com/office/powerpoint/2010/main" val="404193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anim calcmode="lin" valueType="num">
                                      <p:cBhvr>
                                        <p:cTn id="8" dur="750" fill="hold"/>
                                        <p:tgtEl>
                                          <p:spTgt spid="7"/>
                                        </p:tgtEl>
                                        <p:attrNameLst>
                                          <p:attrName>ppt_x</p:attrName>
                                        </p:attrNameLst>
                                      </p:cBhvr>
                                      <p:tavLst>
                                        <p:tav tm="0">
                                          <p:val>
                                            <p:strVal val="#ppt_x"/>
                                          </p:val>
                                        </p:tav>
                                        <p:tav tm="100000">
                                          <p:val>
                                            <p:strVal val="#ppt_x"/>
                                          </p:val>
                                        </p:tav>
                                      </p:tavLst>
                                    </p:anim>
                                    <p:anim calcmode="lin" valueType="num">
                                      <p:cBhvr>
                                        <p:cTn id="9" dur="7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750"/>
                                        <p:tgtEl>
                                          <p:spTgt spid="8"/>
                                        </p:tgtEl>
                                      </p:cBhvr>
                                    </p:animEffect>
                                    <p:anim calcmode="lin" valueType="num">
                                      <p:cBhvr>
                                        <p:cTn id="15" dur="750" fill="hold"/>
                                        <p:tgtEl>
                                          <p:spTgt spid="8"/>
                                        </p:tgtEl>
                                        <p:attrNameLst>
                                          <p:attrName>ppt_x</p:attrName>
                                        </p:attrNameLst>
                                      </p:cBhvr>
                                      <p:tavLst>
                                        <p:tav tm="0">
                                          <p:val>
                                            <p:strVal val="#ppt_x"/>
                                          </p:val>
                                        </p:tav>
                                        <p:tav tm="100000">
                                          <p:val>
                                            <p:strVal val="#ppt_x"/>
                                          </p:val>
                                        </p:tav>
                                      </p:tavLst>
                                    </p:anim>
                                    <p:anim calcmode="lin" valueType="num">
                                      <p:cBhvr>
                                        <p:cTn id="16"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sp>
        <p:nvSpPr>
          <p:cNvPr id="12" name="Slide Number Placeholder 2">
            <a:extLst>
              <a:ext uri="{FF2B5EF4-FFF2-40B4-BE49-F238E27FC236}">
                <a16:creationId xmlns:a16="http://schemas.microsoft.com/office/drawing/2014/main" id="{F5693756-A166-D80A-F7A2-03C2C34A58C5}"/>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21</a:t>
            </a:fld>
            <a:endParaRPr lang="en-IN"/>
          </a:p>
        </p:txBody>
      </p:sp>
      <p:sp>
        <p:nvSpPr>
          <p:cNvPr id="5" name="Slide Number Placeholder 2">
            <a:extLst>
              <a:ext uri="{FF2B5EF4-FFF2-40B4-BE49-F238E27FC236}">
                <a16:creationId xmlns:a16="http://schemas.microsoft.com/office/drawing/2014/main" id="{97E20BF5-E91C-F02E-8C8F-C2DB642397C9}"/>
              </a:ext>
            </a:extLst>
          </p:cNvPr>
          <p:cNvSpPr txBox="1">
            <a:spLocks/>
          </p:cNvSpPr>
          <p:nvPr/>
        </p:nvSpPr>
        <p:spPr>
          <a:xfrm>
            <a:off x="9497316" y="6594474"/>
            <a:ext cx="345202" cy="263525"/>
          </a:xfrm>
          <a:prstGeom prst="rect">
            <a:avLst/>
          </a:prstGeom>
        </p:spPr>
        <p:txBody>
          <a:bodyPr vert="horz" lIns="91440" tIns="45720" rIns="91440" bIns="45720" rtlCol="0">
            <a:normAutofit/>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defTabSz="457200">
              <a:lnSpc>
                <a:spcPct val="100000"/>
              </a:lnSpc>
              <a:buFontTx/>
              <a:buNone/>
              <a:defRPr/>
            </a:pPr>
            <a:fld id="{F896853B-1608-4B80-B96D-960378C91880}" type="slidenum">
              <a:rPr lang="en-IN" sz="900" smtClean="0">
                <a:latin typeface="Verdana"/>
              </a:rPr>
              <a:pPr indent="0" algn="ctr" defTabSz="457200">
                <a:lnSpc>
                  <a:spcPct val="100000"/>
                </a:lnSpc>
                <a:buFontTx/>
                <a:buNone/>
                <a:defRPr/>
              </a:pPr>
              <a:t>21</a:t>
            </a:fld>
            <a:endParaRPr lang="en-IN" sz="900">
              <a:latin typeface="Verdana"/>
            </a:endParaRPr>
          </a:p>
        </p:txBody>
      </p:sp>
      <p:pic>
        <p:nvPicPr>
          <p:cNvPr id="3" name="Picture 2" descr="A man coughs and having a cold">
            <a:extLst>
              <a:ext uri="{FF2B5EF4-FFF2-40B4-BE49-F238E27FC236}">
                <a16:creationId xmlns:a16="http://schemas.microsoft.com/office/drawing/2014/main" id="{A551CE3A-8B50-2FFA-EC87-4087280BEC39}"/>
              </a:ext>
            </a:extLst>
          </p:cNvPr>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l="5802" r="11858"/>
          <a:stretch/>
        </p:blipFill>
        <p:spPr bwMode="auto">
          <a:xfrm>
            <a:off x="0" y="3616058"/>
            <a:ext cx="2672933" cy="324622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Diagonal Corners Rounded 8">
            <a:extLst>
              <a:ext uri="{FF2B5EF4-FFF2-40B4-BE49-F238E27FC236}">
                <a16:creationId xmlns:a16="http://schemas.microsoft.com/office/drawing/2014/main" id="{D7D86FFC-9CEA-9B44-5FC4-2F8329232DB6}"/>
              </a:ext>
            </a:extLst>
          </p:cNvPr>
          <p:cNvSpPr/>
          <p:nvPr/>
        </p:nvSpPr>
        <p:spPr>
          <a:xfrm>
            <a:off x="1119706" y="1685083"/>
            <a:ext cx="9952588" cy="900000"/>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n-IN" sz="2000" b="1" dirty="0">
                <a:solidFill>
                  <a:schemeClr val="tx1"/>
                </a:solidFill>
              </a:rPr>
              <a:t>O4</a:t>
            </a:r>
            <a:r>
              <a:rPr lang="en-IN" sz="1400" dirty="0">
                <a:solidFill>
                  <a:schemeClr val="tx1"/>
                </a:solidFill>
              </a:rPr>
              <a:t> </a:t>
            </a:r>
            <a:r>
              <a:rPr lang="en-US" sz="1400" dirty="0">
                <a:solidFill>
                  <a:schemeClr val="tx1"/>
                </a:solidFill>
              </a:rPr>
              <a:t>Matt falls from a ladder at a low height and scratches his leg a little. He is taken to a hospital, and in the hospital, he contacts cholera from the next bed patient and dies.</a:t>
            </a:r>
            <a:endParaRPr lang="en-IN" sz="1400" dirty="0">
              <a:solidFill>
                <a:schemeClr val="tx1"/>
              </a:solidFill>
            </a:endParaRPr>
          </a:p>
        </p:txBody>
      </p:sp>
      <p:sp>
        <p:nvSpPr>
          <p:cNvPr id="10" name="TextBox 9">
            <a:extLst>
              <a:ext uri="{FF2B5EF4-FFF2-40B4-BE49-F238E27FC236}">
                <a16:creationId xmlns:a16="http://schemas.microsoft.com/office/drawing/2014/main" id="{A0DA20FE-1827-A256-D9E9-A0DE2063A747}"/>
              </a:ext>
            </a:extLst>
          </p:cNvPr>
          <p:cNvSpPr txBox="1"/>
          <p:nvPr/>
        </p:nvSpPr>
        <p:spPr>
          <a:xfrm>
            <a:off x="2260795" y="2920098"/>
            <a:ext cx="7670410" cy="307777"/>
          </a:xfrm>
          <a:prstGeom prst="rect">
            <a:avLst/>
          </a:prstGeom>
          <a:noFill/>
        </p:spPr>
        <p:txBody>
          <a:bodyPr wrap="square">
            <a:spAutoFit/>
          </a:bodyPr>
          <a:lstStyle/>
          <a:p>
            <a:r>
              <a:rPr lang="en-US" sz="1400" b="1"/>
              <a:t>What is the cause of death and Which principle of Insurance is applicable? </a:t>
            </a:r>
          </a:p>
        </p:txBody>
      </p:sp>
      <p:sp>
        <p:nvSpPr>
          <p:cNvPr id="11" name="TextBox 10">
            <a:extLst>
              <a:ext uri="{FF2B5EF4-FFF2-40B4-BE49-F238E27FC236}">
                <a16:creationId xmlns:a16="http://schemas.microsoft.com/office/drawing/2014/main" id="{925D2B61-47EC-448C-A370-018B46212053}"/>
              </a:ext>
            </a:extLst>
          </p:cNvPr>
          <p:cNvSpPr txBox="1"/>
          <p:nvPr/>
        </p:nvSpPr>
        <p:spPr>
          <a:xfrm>
            <a:off x="2027506" y="3741623"/>
            <a:ext cx="8136987" cy="1169551"/>
          </a:xfrm>
          <a:prstGeom prst="rect">
            <a:avLst/>
          </a:prstGeom>
          <a:noFill/>
        </p:spPr>
        <p:txBody>
          <a:bodyPr wrap="square">
            <a:spAutoFit/>
          </a:bodyPr>
          <a:lstStyle/>
          <a:p>
            <a:pPr algn="ctr"/>
            <a:r>
              <a:rPr lang="en-US" sz="1400" b="1"/>
              <a:t>Answer: Proximate Cause </a:t>
            </a:r>
          </a:p>
          <a:p>
            <a:pPr algn="ctr"/>
            <a:endParaRPr lang="en-US" sz="1400" b="1"/>
          </a:p>
          <a:p>
            <a:pPr algn="ctr"/>
            <a:r>
              <a:rPr lang="en-US" sz="1400"/>
              <a:t>The cause of death is cholera and not the fall and the scratch on the leg. Thus, cholera will be taken as the Proximate cause.</a:t>
            </a:r>
          </a:p>
          <a:p>
            <a:pPr algn="ctr"/>
            <a:endParaRPr lang="en-US" sz="1400"/>
          </a:p>
        </p:txBody>
      </p:sp>
    </p:spTree>
    <p:extLst>
      <p:ext uri="{BB962C8B-B14F-4D97-AF65-F5344CB8AC3E}">
        <p14:creationId xmlns:p14="http://schemas.microsoft.com/office/powerpoint/2010/main" val="146696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anim calcmode="lin" valueType="num">
                                      <p:cBhvr>
                                        <p:cTn id="8" dur="750" fill="hold"/>
                                        <p:tgtEl>
                                          <p:spTgt spid="10"/>
                                        </p:tgtEl>
                                        <p:attrNameLst>
                                          <p:attrName>ppt_x</p:attrName>
                                        </p:attrNameLst>
                                      </p:cBhvr>
                                      <p:tavLst>
                                        <p:tav tm="0">
                                          <p:val>
                                            <p:strVal val="#ppt_x"/>
                                          </p:val>
                                        </p:tav>
                                        <p:tav tm="100000">
                                          <p:val>
                                            <p:strVal val="#ppt_x"/>
                                          </p:val>
                                        </p:tav>
                                      </p:tavLst>
                                    </p:anim>
                                    <p:anim calcmode="lin" valueType="num">
                                      <p:cBhvr>
                                        <p:cTn id="9" dur="7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anim calcmode="lin" valueType="num">
                                      <p:cBhvr>
                                        <p:cTn id="15" dur="750" fill="hold"/>
                                        <p:tgtEl>
                                          <p:spTgt spid="11"/>
                                        </p:tgtEl>
                                        <p:attrNameLst>
                                          <p:attrName>ppt_x</p:attrName>
                                        </p:attrNameLst>
                                      </p:cBhvr>
                                      <p:tavLst>
                                        <p:tav tm="0">
                                          <p:val>
                                            <p:strVal val="#ppt_x"/>
                                          </p:val>
                                        </p:tav>
                                        <p:tav tm="100000">
                                          <p:val>
                                            <p:strVal val="#ppt_x"/>
                                          </p:val>
                                        </p:tav>
                                      </p:tavLst>
                                    </p:anim>
                                    <p:anim calcmode="lin" valueType="num">
                                      <p:cBhvr>
                                        <p:cTn id="16" dur="7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pic>
        <p:nvPicPr>
          <p:cNvPr id="4" name="Picture 2" descr="Man sit on the cigarette with forbidden sign behind metaphor of quit smoking">
            <a:extLst>
              <a:ext uri="{FF2B5EF4-FFF2-40B4-BE49-F238E27FC236}">
                <a16:creationId xmlns:a16="http://schemas.microsoft.com/office/drawing/2014/main" id="{9B5956AD-81D6-1BB0-49EA-A6A4A24BC1BF}"/>
              </a:ext>
            </a:extLst>
          </p:cNvPr>
          <p:cNvPicPr>
            <a:picLocks noChangeAspect="1" noChangeArrowheads="1"/>
          </p:cNvPicPr>
          <p:nvPr/>
        </p:nvPicPr>
        <p:blipFill rotWithShape="1">
          <a:blip r:embed="rId2" cstate="screen">
            <a:extLst>
              <a:ext uri="{28A0092B-C50C-407E-A947-70E740481C1C}">
                <a14:useLocalDpi xmlns:a14="http://schemas.microsoft.com/office/drawing/2010/main" val="0"/>
              </a:ext>
            </a:extLst>
          </a:blip>
          <a:srcRect b="10541"/>
          <a:stretch/>
        </p:blipFill>
        <p:spPr bwMode="auto">
          <a:xfrm>
            <a:off x="0" y="3900555"/>
            <a:ext cx="3305908" cy="295744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2">
            <a:extLst>
              <a:ext uri="{FF2B5EF4-FFF2-40B4-BE49-F238E27FC236}">
                <a16:creationId xmlns:a16="http://schemas.microsoft.com/office/drawing/2014/main" id="{FB08F30C-588A-4E49-6881-202A509AAB2B}"/>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22</a:t>
            </a:fld>
            <a:endParaRPr lang="en-IN"/>
          </a:p>
        </p:txBody>
      </p:sp>
      <p:sp>
        <p:nvSpPr>
          <p:cNvPr id="7" name="Rectangle: Diagonal Corners Rounded 6">
            <a:extLst>
              <a:ext uri="{FF2B5EF4-FFF2-40B4-BE49-F238E27FC236}">
                <a16:creationId xmlns:a16="http://schemas.microsoft.com/office/drawing/2014/main" id="{2EE10828-4303-F0A8-931A-ABE340DBA992}"/>
              </a:ext>
            </a:extLst>
          </p:cNvPr>
          <p:cNvSpPr/>
          <p:nvPr/>
        </p:nvSpPr>
        <p:spPr>
          <a:xfrm>
            <a:off x="1119706" y="1685083"/>
            <a:ext cx="9952588" cy="900000"/>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n-IN" sz="2000" b="1" dirty="0">
                <a:solidFill>
                  <a:schemeClr val="tx1"/>
                </a:solidFill>
              </a:rPr>
              <a:t>O5</a:t>
            </a:r>
            <a:r>
              <a:rPr lang="en-IN" sz="1400" dirty="0">
                <a:solidFill>
                  <a:schemeClr val="tx1"/>
                </a:solidFill>
              </a:rPr>
              <a:t> </a:t>
            </a:r>
            <a:r>
              <a:rPr lang="en-US" sz="1400" dirty="0">
                <a:solidFill>
                  <a:schemeClr val="tx1"/>
                </a:solidFill>
              </a:rPr>
              <a:t>John took a health insurance policy. At the time of taking policy, he was a smoker, and he didn't disclose this fact. He got cancer and filed a claim for the treatment expenses.</a:t>
            </a:r>
            <a:endParaRPr lang="en-IN" sz="1400" dirty="0">
              <a:solidFill>
                <a:schemeClr val="tx1"/>
              </a:solidFill>
            </a:endParaRPr>
          </a:p>
        </p:txBody>
      </p:sp>
      <p:sp>
        <p:nvSpPr>
          <p:cNvPr id="8" name="TextBox 7">
            <a:extLst>
              <a:ext uri="{FF2B5EF4-FFF2-40B4-BE49-F238E27FC236}">
                <a16:creationId xmlns:a16="http://schemas.microsoft.com/office/drawing/2014/main" id="{F11F60DB-F347-5253-E087-0033FF15DD0F}"/>
              </a:ext>
            </a:extLst>
          </p:cNvPr>
          <p:cNvSpPr txBox="1"/>
          <p:nvPr/>
        </p:nvSpPr>
        <p:spPr>
          <a:xfrm>
            <a:off x="3800913" y="2902697"/>
            <a:ext cx="4590171" cy="307777"/>
          </a:xfrm>
          <a:prstGeom prst="rect">
            <a:avLst/>
          </a:prstGeom>
          <a:noFill/>
        </p:spPr>
        <p:txBody>
          <a:bodyPr wrap="square">
            <a:spAutoFit/>
          </a:bodyPr>
          <a:lstStyle/>
          <a:p>
            <a:r>
              <a:rPr lang="en-US" sz="1400" b="1"/>
              <a:t>Which principle of Insurance is applicable? </a:t>
            </a:r>
          </a:p>
        </p:txBody>
      </p:sp>
      <p:sp>
        <p:nvSpPr>
          <p:cNvPr id="13" name="TextBox 12">
            <a:extLst>
              <a:ext uri="{FF2B5EF4-FFF2-40B4-BE49-F238E27FC236}">
                <a16:creationId xmlns:a16="http://schemas.microsoft.com/office/drawing/2014/main" id="{7797E761-60D4-06EE-9D01-EC7F38F7BA95}"/>
              </a:ext>
            </a:extLst>
          </p:cNvPr>
          <p:cNvSpPr txBox="1"/>
          <p:nvPr/>
        </p:nvSpPr>
        <p:spPr>
          <a:xfrm>
            <a:off x="2027504" y="3688142"/>
            <a:ext cx="8136987" cy="954107"/>
          </a:xfrm>
          <a:prstGeom prst="rect">
            <a:avLst/>
          </a:prstGeom>
          <a:noFill/>
        </p:spPr>
        <p:txBody>
          <a:bodyPr wrap="square">
            <a:spAutoFit/>
          </a:bodyPr>
          <a:lstStyle/>
          <a:p>
            <a:pPr algn="ctr"/>
            <a:r>
              <a:rPr lang="en-US" sz="1400" b="1"/>
              <a:t>Answer: Utmost Good Faith </a:t>
            </a:r>
          </a:p>
          <a:p>
            <a:pPr algn="ctr"/>
            <a:endParaRPr lang="en-US" sz="1400" b="1"/>
          </a:p>
          <a:p>
            <a:pPr algn="ctr"/>
            <a:r>
              <a:rPr lang="en-US" sz="1400"/>
              <a:t>Insurance company won't pay anything as John didn't reveal important factors that would have impacted the decision on the policy at the time of buying the health insurance policy.</a:t>
            </a:r>
          </a:p>
        </p:txBody>
      </p:sp>
    </p:spTree>
    <p:extLst>
      <p:ext uri="{BB962C8B-B14F-4D97-AF65-F5344CB8AC3E}">
        <p14:creationId xmlns:p14="http://schemas.microsoft.com/office/powerpoint/2010/main" val="406206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750"/>
                                        <p:tgtEl>
                                          <p:spTgt spid="13"/>
                                        </p:tgtEl>
                                      </p:cBhvr>
                                    </p:animEffect>
                                    <p:anim calcmode="lin" valueType="num">
                                      <p:cBhvr>
                                        <p:cTn id="15" dur="750" fill="hold"/>
                                        <p:tgtEl>
                                          <p:spTgt spid="13"/>
                                        </p:tgtEl>
                                        <p:attrNameLst>
                                          <p:attrName>ppt_x</p:attrName>
                                        </p:attrNameLst>
                                      </p:cBhvr>
                                      <p:tavLst>
                                        <p:tav tm="0">
                                          <p:val>
                                            <p:strVal val="#ppt_x"/>
                                          </p:val>
                                        </p:tav>
                                        <p:tav tm="100000">
                                          <p:val>
                                            <p:strVal val="#ppt_x"/>
                                          </p:val>
                                        </p:tav>
                                      </p:tavLst>
                                    </p:anim>
                                    <p:anim calcmode="lin" valueType="num">
                                      <p:cBhvr>
                                        <p:cTn id="16" dur="7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pic>
        <p:nvPicPr>
          <p:cNvPr id="3" name="Picture 2">
            <a:extLst>
              <a:ext uri="{FF2B5EF4-FFF2-40B4-BE49-F238E27FC236}">
                <a16:creationId xmlns:a16="http://schemas.microsoft.com/office/drawing/2014/main" id="{7923BE75-C50B-CFD2-5BA9-8DF88398D2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73680"/>
            <a:ext cx="4712677" cy="2484319"/>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2">
            <a:extLst>
              <a:ext uri="{FF2B5EF4-FFF2-40B4-BE49-F238E27FC236}">
                <a16:creationId xmlns:a16="http://schemas.microsoft.com/office/drawing/2014/main" id="{F5693756-A166-D80A-F7A2-03C2C34A58C5}"/>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23</a:t>
            </a:fld>
            <a:endParaRPr lang="en-IN"/>
          </a:p>
        </p:txBody>
      </p:sp>
      <p:sp>
        <p:nvSpPr>
          <p:cNvPr id="13" name="Rectangle: Diagonal Corners Rounded 12">
            <a:extLst>
              <a:ext uri="{FF2B5EF4-FFF2-40B4-BE49-F238E27FC236}">
                <a16:creationId xmlns:a16="http://schemas.microsoft.com/office/drawing/2014/main" id="{88BDB16B-6A55-8104-0D4A-8F7772BAFE66}"/>
              </a:ext>
            </a:extLst>
          </p:cNvPr>
          <p:cNvSpPr/>
          <p:nvPr/>
        </p:nvSpPr>
        <p:spPr>
          <a:xfrm>
            <a:off x="795129" y="1707897"/>
            <a:ext cx="10813773" cy="900000"/>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n-IN" sz="2000" b="1" dirty="0">
                <a:solidFill>
                  <a:schemeClr val="tx1"/>
                </a:solidFill>
              </a:rPr>
              <a:t>O3</a:t>
            </a:r>
            <a:r>
              <a:rPr lang="en-IN" sz="1400" dirty="0">
                <a:solidFill>
                  <a:schemeClr val="tx1"/>
                </a:solidFill>
              </a:rPr>
              <a:t> </a:t>
            </a:r>
            <a:r>
              <a:rPr lang="en-US" sz="1400" dirty="0">
                <a:solidFill>
                  <a:schemeClr val="tx1"/>
                </a:solidFill>
              </a:rPr>
              <a:t>If you get injured in a road accident, due to reckless driving of a third party, the insurance company will compensate your loss and will also sue the third party to recover the money paid as claim.</a:t>
            </a:r>
            <a:endParaRPr lang="en-IN" sz="1400" dirty="0">
              <a:solidFill>
                <a:schemeClr val="tx1"/>
              </a:solidFill>
            </a:endParaRPr>
          </a:p>
        </p:txBody>
      </p:sp>
      <p:sp>
        <p:nvSpPr>
          <p:cNvPr id="14" name="TextBox 13">
            <a:extLst>
              <a:ext uri="{FF2B5EF4-FFF2-40B4-BE49-F238E27FC236}">
                <a16:creationId xmlns:a16="http://schemas.microsoft.com/office/drawing/2014/main" id="{D6239F03-6D7D-BEBF-135A-4D9143AA6362}"/>
              </a:ext>
            </a:extLst>
          </p:cNvPr>
          <p:cNvSpPr txBox="1"/>
          <p:nvPr/>
        </p:nvSpPr>
        <p:spPr>
          <a:xfrm>
            <a:off x="3935436" y="2972152"/>
            <a:ext cx="4645856" cy="307777"/>
          </a:xfrm>
          <a:prstGeom prst="rect">
            <a:avLst/>
          </a:prstGeom>
          <a:noFill/>
        </p:spPr>
        <p:txBody>
          <a:bodyPr wrap="square">
            <a:spAutoFit/>
          </a:bodyPr>
          <a:lstStyle/>
          <a:p>
            <a:r>
              <a:rPr lang="en-US" sz="1400" b="1"/>
              <a:t>Which principle of Insurance is applicable ? </a:t>
            </a:r>
          </a:p>
        </p:txBody>
      </p:sp>
      <p:sp>
        <p:nvSpPr>
          <p:cNvPr id="15" name="TextBox 14">
            <a:extLst>
              <a:ext uri="{FF2B5EF4-FFF2-40B4-BE49-F238E27FC236}">
                <a16:creationId xmlns:a16="http://schemas.microsoft.com/office/drawing/2014/main" id="{4B4448FE-77F5-48DB-939C-D16FC3B0A1C9}"/>
              </a:ext>
            </a:extLst>
          </p:cNvPr>
          <p:cNvSpPr txBox="1"/>
          <p:nvPr/>
        </p:nvSpPr>
        <p:spPr>
          <a:xfrm>
            <a:off x="2133521" y="3730888"/>
            <a:ext cx="8136987" cy="954107"/>
          </a:xfrm>
          <a:prstGeom prst="rect">
            <a:avLst/>
          </a:prstGeom>
          <a:noFill/>
        </p:spPr>
        <p:txBody>
          <a:bodyPr wrap="square">
            <a:spAutoFit/>
          </a:bodyPr>
          <a:lstStyle/>
          <a:p>
            <a:pPr algn="ctr"/>
            <a:r>
              <a:rPr lang="en-US" sz="1400" b="1"/>
              <a:t>Answer: Subrogation</a:t>
            </a:r>
          </a:p>
          <a:p>
            <a:pPr algn="ctr"/>
            <a:endParaRPr lang="en-US" sz="1400" b="1"/>
          </a:p>
          <a:p>
            <a:pPr algn="ctr"/>
            <a:r>
              <a:rPr lang="en-US" sz="1400"/>
              <a:t>As it is the right held by insurer to legally pursue a 3rd party that caused the loss to an insured and recover the claim amount paid by the insurer.</a:t>
            </a:r>
          </a:p>
        </p:txBody>
      </p:sp>
    </p:spTree>
    <p:extLst>
      <p:ext uri="{BB962C8B-B14F-4D97-AF65-F5344CB8AC3E}">
        <p14:creationId xmlns:p14="http://schemas.microsoft.com/office/powerpoint/2010/main" val="202349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anim calcmode="lin" valueType="num">
                                      <p:cBhvr>
                                        <p:cTn id="8" dur="750" fill="hold"/>
                                        <p:tgtEl>
                                          <p:spTgt spid="14"/>
                                        </p:tgtEl>
                                        <p:attrNameLst>
                                          <p:attrName>ppt_x</p:attrName>
                                        </p:attrNameLst>
                                      </p:cBhvr>
                                      <p:tavLst>
                                        <p:tav tm="0">
                                          <p:val>
                                            <p:strVal val="#ppt_x"/>
                                          </p:val>
                                        </p:tav>
                                        <p:tav tm="100000">
                                          <p:val>
                                            <p:strVal val="#ppt_x"/>
                                          </p:val>
                                        </p:tav>
                                      </p:tavLst>
                                    </p:anim>
                                    <p:anim calcmode="lin" valueType="num">
                                      <p:cBhvr>
                                        <p:cTn id="9" dur="75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750"/>
                                        <p:tgtEl>
                                          <p:spTgt spid="15"/>
                                        </p:tgtEl>
                                      </p:cBhvr>
                                    </p:animEffect>
                                    <p:anim calcmode="lin" valueType="num">
                                      <p:cBhvr>
                                        <p:cTn id="15" dur="750" fill="hold"/>
                                        <p:tgtEl>
                                          <p:spTgt spid="15"/>
                                        </p:tgtEl>
                                        <p:attrNameLst>
                                          <p:attrName>ppt_x</p:attrName>
                                        </p:attrNameLst>
                                      </p:cBhvr>
                                      <p:tavLst>
                                        <p:tav tm="0">
                                          <p:val>
                                            <p:strVal val="#ppt_x"/>
                                          </p:val>
                                        </p:tav>
                                        <p:tav tm="100000">
                                          <p:val>
                                            <p:strVal val="#ppt_x"/>
                                          </p:val>
                                        </p:tav>
                                      </p:tavLst>
                                    </p:anim>
                                    <p:anim calcmode="lin" valueType="num">
                                      <p:cBhvr>
                                        <p:cTn id="16" dur="75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sp>
        <p:nvSpPr>
          <p:cNvPr id="4" name="Slide Number Placeholder 2">
            <a:extLst>
              <a:ext uri="{FF2B5EF4-FFF2-40B4-BE49-F238E27FC236}">
                <a16:creationId xmlns:a16="http://schemas.microsoft.com/office/drawing/2014/main" id="{BC6C9224-AE0D-D8D2-1300-8775D87D15D2}"/>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24</a:t>
            </a:fld>
            <a:endParaRPr lang="en-IN"/>
          </a:p>
        </p:txBody>
      </p:sp>
      <p:sp>
        <p:nvSpPr>
          <p:cNvPr id="5" name="Rectangle: Diagonal Corners Rounded 4">
            <a:extLst>
              <a:ext uri="{FF2B5EF4-FFF2-40B4-BE49-F238E27FC236}">
                <a16:creationId xmlns:a16="http://schemas.microsoft.com/office/drawing/2014/main" id="{00B8A7A2-DB4B-78E7-C881-3866F9306782}"/>
              </a:ext>
            </a:extLst>
          </p:cNvPr>
          <p:cNvSpPr/>
          <p:nvPr/>
        </p:nvSpPr>
        <p:spPr>
          <a:xfrm>
            <a:off x="689113" y="1473109"/>
            <a:ext cx="10813773" cy="900000"/>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000" b="1">
                <a:solidFill>
                  <a:schemeClr val="tx1"/>
                </a:solidFill>
              </a:rPr>
              <a:t>O3</a:t>
            </a:r>
            <a:r>
              <a:rPr lang="en-IN" sz="1400">
                <a:solidFill>
                  <a:schemeClr val="tx1"/>
                </a:solidFill>
              </a:rPr>
              <a:t>  Basis your understanding of Principle of Insurable interest, read the below scenarios and mention if Insurable interest exists or not.</a:t>
            </a:r>
          </a:p>
        </p:txBody>
      </p:sp>
      <p:grpSp>
        <p:nvGrpSpPr>
          <p:cNvPr id="6" name="Group 5">
            <a:extLst>
              <a:ext uri="{FF2B5EF4-FFF2-40B4-BE49-F238E27FC236}">
                <a16:creationId xmlns:a16="http://schemas.microsoft.com/office/drawing/2014/main" id="{9B72387E-E4F2-A3C9-0C92-D7193EFDC0B0}"/>
              </a:ext>
            </a:extLst>
          </p:cNvPr>
          <p:cNvGrpSpPr/>
          <p:nvPr/>
        </p:nvGrpSpPr>
        <p:grpSpPr>
          <a:xfrm>
            <a:off x="1735013" y="2504457"/>
            <a:ext cx="9635478" cy="491477"/>
            <a:chOff x="1032522" y="2739659"/>
            <a:chExt cx="9635478" cy="491477"/>
          </a:xfrm>
        </p:grpSpPr>
        <p:pic>
          <p:nvPicPr>
            <p:cNvPr id="7" name="Graphic 6" descr="Shield Tick with solid fill">
              <a:extLst>
                <a:ext uri="{FF2B5EF4-FFF2-40B4-BE49-F238E27FC236}">
                  <a16:creationId xmlns:a16="http://schemas.microsoft.com/office/drawing/2014/main" id="{6CE2DD94-0A8B-7A10-1278-D38DCFAD15AB}"/>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8" name="TextBox 7">
              <a:extLst>
                <a:ext uri="{FF2B5EF4-FFF2-40B4-BE49-F238E27FC236}">
                  <a16:creationId xmlns:a16="http://schemas.microsoft.com/office/drawing/2014/main" id="{930FAAB9-7B2C-9E48-2A9A-82C21995493F}"/>
                </a:ext>
              </a:extLst>
            </p:cNvPr>
            <p:cNvSpPr txBox="1"/>
            <p:nvPr/>
          </p:nvSpPr>
          <p:spPr>
            <a:xfrm>
              <a:off x="1523999" y="2831510"/>
              <a:ext cx="9144001" cy="307777"/>
            </a:xfrm>
            <a:prstGeom prst="rect">
              <a:avLst/>
            </a:prstGeom>
            <a:noFill/>
          </p:spPr>
          <p:txBody>
            <a:bodyPr wrap="square">
              <a:spAutoFit/>
            </a:bodyPr>
            <a:lstStyle/>
            <a:p>
              <a:r>
                <a:rPr lang="en-US" sz="1400"/>
                <a:t>In case of life insurance spouse and dependents have insurable interest in the life of a person.</a:t>
              </a:r>
            </a:p>
          </p:txBody>
        </p:sp>
      </p:grpSp>
      <p:grpSp>
        <p:nvGrpSpPr>
          <p:cNvPr id="9" name="Group 8">
            <a:extLst>
              <a:ext uri="{FF2B5EF4-FFF2-40B4-BE49-F238E27FC236}">
                <a16:creationId xmlns:a16="http://schemas.microsoft.com/office/drawing/2014/main" id="{60FD0FA4-DC27-565F-7882-68563836E49E}"/>
              </a:ext>
            </a:extLst>
          </p:cNvPr>
          <p:cNvGrpSpPr/>
          <p:nvPr/>
        </p:nvGrpSpPr>
        <p:grpSpPr>
          <a:xfrm>
            <a:off x="1735013" y="3041854"/>
            <a:ext cx="9635478" cy="491477"/>
            <a:chOff x="1032522" y="2739659"/>
            <a:chExt cx="9635478" cy="491477"/>
          </a:xfrm>
        </p:grpSpPr>
        <p:pic>
          <p:nvPicPr>
            <p:cNvPr id="10" name="Graphic 9" descr="Shield Tick with solid fill">
              <a:extLst>
                <a:ext uri="{FF2B5EF4-FFF2-40B4-BE49-F238E27FC236}">
                  <a16:creationId xmlns:a16="http://schemas.microsoft.com/office/drawing/2014/main" id="{D925CA6F-E4DE-C5AC-84C3-A2D6F187236C}"/>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11" name="TextBox 10">
              <a:extLst>
                <a:ext uri="{FF2B5EF4-FFF2-40B4-BE49-F238E27FC236}">
                  <a16:creationId xmlns:a16="http://schemas.microsoft.com/office/drawing/2014/main" id="{875EB780-7C2C-1D2E-B205-5FCBC548EAA6}"/>
                </a:ext>
              </a:extLst>
            </p:cNvPr>
            <p:cNvSpPr txBox="1"/>
            <p:nvPr/>
          </p:nvSpPr>
          <p:spPr>
            <a:xfrm>
              <a:off x="1523999" y="2831510"/>
              <a:ext cx="9144001" cy="307777"/>
            </a:xfrm>
            <a:prstGeom prst="rect">
              <a:avLst/>
            </a:prstGeom>
            <a:noFill/>
          </p:spPr>
          <p:txBody>
            <a:bodyPr wrap="square">
              <a:spAutoFit/>
            </a:bodyPr>
            <a:lstStyle/>
            <a:p>
              <a:r>
                <a:rPr lang="en-US" sz="1400"/>
                <a:t>Corporations also have insurable interests in the life of its employees.</a:t>
              </a:r>
            </a:p>
          </p:txBody>
        </p:sp>
      </p:grpSp>
      <p:grpSp>
        <p:nvGrpSpPr>
          <p:cNvPr id="18" name="Group 17">
            <a:extLst>
              <a:ext uri="{FF2B5EF4-FFF2-40B4-BE49-F238E27FC236}">
                <a16:creationId xmlns:a16="http://schemas.microsoft.com/office/drawing/2014/main" id="{E7FCF278-B156-5A48-2231-14E5EF9DED4D}"/>
              </a:ext>
            </a:extLst>
          </p:cNvPr>
          <p:cNvGrpSpPr/>
          <p:nvPr/>
        </p:nvGrpSpPr>
        <p:grpSpPr>
          <a:xfrm>
            <a:off x="1735013" y="3539078"/>
            <a:ext cx="9635478" cy="491477"/>
            <a:chOff x="1032522" y="2739659"/>
            <a:chExt cx="9635478" cy="491477"/>
          </a:xfrm>
        </p:grpSpPr>
        <p:pic>
          <p:nvPicPr>
            <p:cNvPr id="19" name="Graphic 18" descr="Shield Tick with solid fill">
              <a:extLst>
                <a:ext uri="{FF2B5EF4-FFF2-40B4-BE49-F238E27FC236}">
                  <a16:creationId xmlns:a16="http://schemas.microsoft.com/office/drawing/2014/main" id="{06B935D3-5522-C0B7-5DE9-A1E31D962D51}"/>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20" name="TextBox 19">
              <a:extLst>
                <a:ext uri="{FF2B5EF4-FFF2-40B4-BE49-F238E27FC236}">
                  <a16:creationId xmlns:a16="http://schemas.microsoft.com/office/drawing/2014/main" id="{5C6DD67B-A420-5A68-D060-3BF41A64F38F}"/>
                </a:ext>
              </a:extLst>
            </p:cNvPr>
            <p:cNvSpPr txBox="1"/>
            <p:nvPr/>
          </p:nvSpPr>
          <p:spPr>
            <a:xfrm>
              <a:off x="1523999" y="2831510"/>
              <a:ext cx="9144001" cy="307777"/>
            </a:xfrm>
            <a:prstGeom prst="rect">
              <a:avLst/>
            </a:prstGeom>
            <a:noFill/>
          </p:spPr>
          <p:txBody>
            <a:bodyPr wrap="square">
              <a:spAutoFit/>
            </a:bodyPr>
            <a:lstStyle/>
            <a:p>
              <a:r>
                <a:rPr lang="en-US" sz="1400"/>
                <a:t>Marie will buy a Life Insurance policy to cover Tom Cruise’s life.</a:t>
              </a:r>
            </a:p>
          </p:txBody>
        </p:sp>
      </p:grpSp>
      <p:grpSp>
        <p:nvGrpSpPr>
          <p:cNvPr id="21" name="Group 20">
            <a:extLst>
              <a:ext uri="{FF2B5EF4-FFF2-40B4-BE49-F238E27FC236}">
                <a16:creationId xmlns:a16="http://schemas.microsoft.com/office/drawing/2014/main" id="{8D586B7D-53BA-C72F-7FEE-C10A9515278A}"/>
              </a:ext>
            </a:extLst>
          </p:cNvPr>
          <p:cNvGrpSpPr/>
          <p:nvPr/>
        </p:nvGrpSpPr>
        <p:grpSpPr>
          <a:xfrm>
            <a:off x="1735013" y="4081553"/>
            <a:ext cx="9635478" cy="491477"/>
            <a:chOff x="1032522" y="2739659"/>
            <a:chExt cx="9635478" cy="491477"/>
          </a:xfrm>
        </p:grpSpPr>
        <p:pic>
          <p:nvPicPr>
            <p:cNvPr id="22" name="Graphic 21" descr="Shield Tick with solid fill">
              <a:extLst>
                <a:ext uri="{FF2B5EF4-FFF2-40B4-BE49-F238E27FC236}">
                  <a16:creationId xmlns:a16="http://schemas.microsoft.com/office/drawing/2014/main" id="{6356EBB7-C549-5594-9781-C315DD6E681D}"/>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23" name="TextBox 22">
              <a:extLst>
                <a:ext uri="{FF2B5EF4-FFF2-40B4-BE49-F238E27FC236}">
                  <a16:creationId xmlns:a16="http://schemas.microsoft.com/office/drawing/2014/main" id="{5E08CFB3-C818-A3DA-AA03-66C9C7137219}"/>
                </a:ext>
              </a:extLst>
            </p:cNvPr>
            <p:cNvSpPr txBox="1"/>
            <p:nvPr/>
          </p:nvSpPr>
          <p:spPr>
            <a:xfrm>
              <a:off x="1523999" y="2831510"/>
              <a:ext cx="9144001" cy="307777"/>
            </a:xfrm>
            <a:prstGeom prst="rect">
              <a:avLst/>
            </a:prstGeom>
            <a:noFill/>
          </p:spPr>
          <p:txBody>
            <a:bodyPr wrap="square">
              <a:spAutoFit/>
            </a:bodyPr>
            <a:lstStyle/>
            <a:p>
              <a:r>
                <a:rPr lang="en-US" sz="1400"/>
                <a:t>Joe will buy a homeowner’s policy for his neighbor's house.</a:t>
              </a:r>
            </a:p>
          </p:txBody>
        </p:sp>
      </p:grpSp>
      <p:grpSp>
        <p:nvGrpSpPr>
          <p:cNvPr id="24" name="Group 23">
            <a:extLst>
              <a:ext uri="{FF2B5EF4-FFF2-40B4-BE49-F238E27FC236}">
                <a16:creationId xmlns:a16="http://schemas.microsoft.com/office/drawing/2014/main" id="{5876B583-4D2B-7B3F-957F-799FA6BEFEAC}"/>
              </a:ext>
            </a:extLst>
          </p:cNvPr>
          <p:cNvGrpSpPr/>
          <p:nvPr/>
        </p:nvGrpSpPr>
        <p:grpSpPr>
          <a:xfrm>
            <a:off x="1735012" y="4573030"/>
            <a:ext cx="9635478" cy="491477"/>
            <a:chOff x="1032522" y="2739659"/>
            <a:chExt cx="9635478" cy="491477"/>
          </a:xfrm>
        </p:grpSpPr>
        <p:pic>
          <p:nvPicPr>
            <p:cNvPr id="25" name="Graphic 24" descr="Shield Tick with solid fill">
              <a:extLst>
                <a:ext uri="{FF2B5EF4-FFF2-40B4-BE49-F238E27FC236}">
                  <a16:creationId xmlns:a16="http://schemas.microsoft.com/office/drawing/2014/main" id="{D9F77022-442E-453E-FB04-3F515388FCBE}"/>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26" name="TextBox 25">
              <a:extLst>
                <a:ext uri="{FF2B5EF4-FFF2-40B4-BE49-F238E27FC236}">
                  <a16:creationId xmlns:a16="http://schemas.microsoft.com/office/drawing/2014/main" id="{4E0F32C1-F03B-D802-7722-5BDFBC185E03}"/>
                </a:ext>
              </a:extLst>
            </p:cNvPr>
            <p:cNvSpPr txBox="1"/>
            <p:nvPr/>
          </p:nvSpPr>
          <p:spPr>
            <a:xfrm>
              <a:off x="1523999" y="2831510"/>
              <a:ext cx="9144001" cy="307777"/>
            </a:xfrm>
            <a:prstGeom prst="rect">
              <a:avLst/>
            </a:prstGeom>
            <a:noFill/>
          </p:spPr>
          <p:txBody>
            <a:bodyPr wrap="square">
              <a:spAutoFit/>
            </a:bodyPr>
            <a:lstStyle/>
            <a:p>
              <a:r>
                <a:rPr lang="en-US" sz="1400"/>
                <a:t>John buys an insurance policy to get coverage for his football.</a:t>
              </a:r>
            </a:p>
          </p:txBody>
        </p:sp>
      </p:grpSp>
      <p:grpSp>
        <p:nvGrpSpPr>
          <p:cNvPr id="27" name="Group 26">
            <a:extLst>
              <a:ext uri="{FF2B5EF4-FFF2-40B4-BE49-F238E27FC236}">
                <a16:creationId xmlns:a16="http://schemas.microsoft.com/office/drawing/2014/main" id="{8093CF3A-B1A5-FBEA-3F37-3129CA2A0608}"/>
              </a:ext>
            </a:extLst>
          </p:cNvPr>
          <p:cNvGrpSpPr/>
          <p:nvPr/>
        </p:nvGrpSpPr>
        <p:grpSpPr>
          <a:xfrm>
            <a:off x="1735013" y="5143451"/>
            <a:ext cx="9635477" cy="577976"/>
            <a:chOff x="1032522" y="2739659"/>
            <a:chExt cx="9635477" cy="577976"/>
          </a:xfrm>
        </p:grpSpPr>
        <p:pic>
          <p:nvPicPr>
            <p:cNvPr id="28" name="Graphic 27" descr="Shield Tick with solid fill">
              <a:extLst>
                <a:ext uri="{FF2B5EF4-FFF2-40B4-BE49-F238E27FC236}">
                  <a16:creationId xmlns:a16="http://schemas.microsoft.com/office/drawing/2014/main" id="{1E34C9C8-A6C0-C24A-AC44-165DECA3002A}"/>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29" name="TextBox 28">
              <a:extLst>
                <a:ext uri="{FF2B5EF4-FFF2-40B4-BE49-F238E27FC236}">
                  <a16:creationId xmlns:a16="http://schemas.microsoft.com/office/drawing/2014/main" id="{D391D9F9-209B-6040-DF94-FD0CA9BF75F6}"/>
                </a:ext>
              </a:extLst>
            </p:cNvPr>
            <p:cNvSpPr txBox="1"/>
            <p:nvPr/>
          </p:nvSpPr>
          <p:spPr>
            <a:xfrm>
              <a:off x="1523998" y="2794415"/>
              <a:ext cx="9144001" cy="523220"/>
            </a:xfrm>
            <a:prstGeom prst="rect">
              <a:avLst/>
            </a:prstGeom>
            <a:noFill/>
          </p:spPr>
          <p:txBody>
            <a:bodyPr wrap="square">
              <a:spAutoFit/>
            </a:bodyPr>
            <a:lstStyle/>
            <a:p>
              <a:r>
                <a:rPr lang="en-US" sz="1400"/>
                <a:t>J wishes to take out a life insurance policy on his neighbor because his neighbor is a careless driver--who J thinks is likely to die in a car accident.</a:t>
              </a:r>
            </a:p>
          </p:txBody>
        </p:sp>
      </p:grpSp>
      <p:grpSp>
        <p:nvGrpSpPr>
          <p:cNvPr id="30" name="Group 29">
            <a:extLst>
              <a:ext uri="{FF2B5EF4-FFF2-40B4-BE49-F238E27FC236}">
                <a16:creationId xmlns:a16="http://schemas.microsoft.com/office/drawing/2014/main" id="{07E02E43-4105-91FE-0122-340BD1512243}"/>
              </a:ext>
            </a:extLst>
          </p:cNvPr>
          <p:cNvGrpSpPr/>
          <p:nvPr/>
        </p:nvGrpSpPr>
        <p:grpSpPr>
          <a:xfrm>
            <a:off x="1735013" y="5729951"/>
            <a:ext cx="9635478" cy="491477"/>
            <a:chOff x="1032522" y="2739659"/>
            <a:chExt cx="9635478" cy="491477"/>
          </a:xfrm>
        </p:grpSpPr>
        <p:pic>
          <p:nvPicPr>
            <p:cNvPr id="31" name="Graphic 30" descr="Shield Tick with solid fill">
              <a:extLst>
                <a:ext uri="{FF2B5EF4-FFF2-40B4-BE49-F238E27FC236}">
                  <a16:creationId xmlns:a16="http://schemas.microsoft.com/office/drawing/2014/main" id="{039F2F54-55F3-155B-4782-F53977131707}"/>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32" name="TextBox 31">
              <a:extLst>
                <a:ext uri="{FF2B5EF4-FFF2-40B4-BE49-F238E27FC236}">
                  <a16:creationId xmlns:a16="http://schemas.microsoft.com/office/drawing/2014/main" id="{0DA7DEFA-81A6-B0A7-AF22-0D64A3C46210}"/>
                </a:ext>
              </a:extLst>
            </p:cNvPr>
            <p:cNvSpPr txBox="1"/>
            <p:nvPr/>
          </p:nvSpPr>
          <p:spPr>
            <a:xfrm>
              <a:off x="1523999" y="2831510"/>
              <a:ext cx="9144001" cy="307777"/>
            </a:xfrm>
            <a:prstGeom prst="rect">
              <a:avLst/>
            </a:prstGeom>
            <a:noFill/>
          </p:spPr>
          <p:txBody>
            <a:bodyPr wrap="square">
              <a:spAutoFit/>
            </a:bodyPr>
            <a:lstStyle/>
            <a:p>
              <a:r>
                <a:rPr lang="en-US" sz="1400"/>
                <a:t>An American football team insures the best player of the team.</a:t>
              </a:r>
            </a:p>
          </p:txBody>
        </p:sp>
      </p:grpSp>
      <p:grpSp>
        <p:nvGrpSpPr>
          <p:cNvPr id="33" name="Group 32">
            <a:extLst>
              <a:ext uri="{FF2B5EF4-FFF2-40B4-BE49-F238E27FC236}">
                <a16:creationId xmlns:a16="http://schemas.microsoft.com/office/drawing/2014/main" id="{A1F36800-4508-D399-9761-C2E88D35B0D4}"/>
              </a:ext>
            </a:extLst>
          </p:cNvPr>
          <p:cNvGrpSpPr/>
          <p:nvPr/>
        </p:nvGrpSpPr>
        <p:grpSpPr>
          <a:xfrm>
            <a:off x="1735012" y="6234759"/>
            <a:ext cx="9635478" cy="491477"/>
            <a:chOff x="1032522" y="2739659"/>
            <a:chExt cx="9635478" cy="491477"/>
          </a:xfrm>
        </p:grpSpPr>
        <p:pic>
          <p:nvPicPr>
            <p:cNvPr id="34" name="Graphic 33" descr="Shield Tick with solid fill">
              <a:extLst>
                <a:ext uri="{FF2B5EF4-FFF2-40B4-BE49-F238E27FC236}">
                  <a16:creationId xmlns:a16="http://schemas.microsoft.com/office/drawing/2014/main" id="{54F540A5-317C-C537-F987-7CA19C143577}"/>
                </a:ext>
              </a:extLst>
            </p:cNvPr>
            <p:cNvPicPr>
              <a:picLocks noChangeAspect="1"/>
            </p:cNvPicPr>
            <p:nvPr/>
          </p:nvPicPr>
          <p:blipFill>
            <a:blip r:embed="rId2"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2522" y="2739659"/>
              <a:ext cx="491477" cy="491477"/>
            </a:xfrm>
            <a:prstGeom prst="rect">
              <a:avLst/>
            </a:prstGeom>
          </p:spPr>
        </p:pic>
        <p:sp>
          <p:nvSpPr>
            <p:cNvPr id="35" name="TextBox 34">
              <a:extLst>
                <a:ext uri="{FF2B5EF4-FFF2-40B4-BE49-F238E27FC236}">
                  <a16:creationId xmlns:a16="http://schemas.microsoft.com/office/drawing/2014/main" id="{9C72522F-2616-6840-4033-D568C320FE99}"/>
                </a:ext>
              </a:extLst>
            </p:cNvPr>
            <p:cNvSpPr txBox="1"/>
            <p:nvPr/>
          </p:nvSpPr>
          <p:spPr>
            <a:xfrm>
              <a:off x="1523999" y="2831510"/>
              <a:ext cx="9144001" cy="307777"/>
            </a:xfrm>
            <a:prstGeom prst="rect">
              <a:avLst/>
            </a:prstGeom>
            <a:noFill/>
          </p:spPr>
          <p:txBody>
            <a:bodyPr wrap="square">
              <a:spAutoFit/>
            </a:bodyPr>
            <a:lstStyle/>
            <a:p>
              <a:r>
                <a:rPr lang="en-US" sz="1400"/>
                <a:t>Corporation buys coverage to insure the chief executive officer (CEO).</a:t>
              </a:r>
            </a:p>
          </p:txBody>
        </p:sp>
      </p:grpSp>
    </p:spTree>
    <p:extLst>
      <p:ext uri="{BB962C8B-B14F-4D97-AF65-F5344CB8AC3E}">
        <p14:creationId xmlns:p14="http://schemas.microsoft.com/office/powerpoint/2010/main" val="197251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7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50"/>
                                        <p:tgtEl>
                                          <p:spTgt spid="9"/>
                                        </p:tgtEl>
                                      </p:cBhvr>
                                    </p:animEffect>
                                    <p:anim calcmode="lin" valueType="num">
                                      <p:cBhvr>
                                        <p:cTn id="15" dur="750" fill="hold"/>
                                        <p:tgtEl>
                                          <p:spTgt spid="9"/>
                                        </p:tgtEl>
                                        <p:attrNameLst>
                                          <p:attrName>ppt_x</p:attrName>
                                        </p:attrNameLst>
                                      </p:cBhvr>
                                      <p:tavLst>
                                        <p:tav tm="0">
                                          <p:val>
                                            <p:strVal val="#ppt_x"/>
                                          </p:val>
                                        </p:tav>
                                        <p:tav tm="100000">
                                          <p:val>
                                            <p:strVal val="#ppt_x"/>
                                          </p:val>
                                        </p:tav>
                                      </p:tavLst>
                                    </p:anim>
                                    <p:anim calcmode="lin" valueType="num">
                                      <p:cBhvr>
                                        <p:cTn id="16" dur="7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50"/>
                                        <p:tgtEl>
                                          <p:spTgt spid="18"/>
                                        </p:tgtEl>
                                      </p:cBhvr>
                                    </p:animEffect>
                                    <p:anim calcmode="lin" valueType="num">
                                      <p:cBhvr>
                                        <p:cTn id="22" dur="750" fill="hold"/>
                                        <p:tgtEl>
                                          <p:spTgt spid="18"/>
                                        </p:tgtEl>
                                        <p:attrNameLst>
                                          <p:attrName>ppt_x</p:attrName>
                                        </p:attrNameLst>
                                      </p:cBhvr>
                                      <p:tavLst>
                                        <p:tav tm="0">
                                          <p:val>
                                            <p:strVal val="#ppt_x"/>
                                          </p:val>
                                        </p:tav>
                                        <p:tav tm="100000">
                                          <p:val>
                                            <p:strVal val="#ppt_x"/>
                                          </p:val>
                                        </p:tav>
                                      </p:tavLst>
                                    </p:anim>
                                    <p:anim calcmode="lin" valueType="num">
                                      <p:cBhvr>
                                        <p:cTn id="23" dur="75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750"/>
                                        <p:tgtEl>
                                          <p:spTgt spid="21"/>
                                        </p:tgtEl>
                                      </p:cBhvr>
                                    </p:animEffect>
                                    <p:anim calcmode="lin" valueType="num">
                                      <p:cBhvr>
                                        <p:cTn id="29" dur="750" fill="hold"/>
                                        <p:tgtEl>
                                          <p:spTgt spid="21"/>
                                        </p:tgtEl>
                                        <p:attrNameLst>
                                          <p:attrName>ppt_x</p:attrName>
                                        </p:attrNameLst>
                                      </p:cBhvr>
                                      <p:tavLst>
                                        <p:tav tm="0">
                                          <p:val>
                                            <p:strVal val="#ppt_x"/>
                                          </p:val>
                                        </p:tav>
                                        <p:tav tm="100000">
                                          <p:val>
                                            <p:strVal val="#ppt_x"/>
                                          </p:val>
                                        </p:tav>
                                      </p:tavLst>
                                    </p:anim>
                                    <p:anim calcmode="lin" valueType="num">
                                      <p:cBhvr>
                                        <p:cTn id="30" dur="75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750"/>
                                        <p:tgtEl>
                                          <p:spTgt spid="24"/>
                                        </p:tgtEl>
                                      </p:cBhvr>
                                    </p:animEffect>
                                    <p:anim calcmode="lin" valueType="num">
                                      <p:cBhvr>
                                        <p:cTn id="36" dur="750" fill="hold"/>
                                        <p:tgtEl>
                                          <p:spTgt spid="24"/>
                                        </p:tgtEl>
                                        <p:attrNameLst>
                                          <p:attrName>ppt_x</p:attrName>
                                        </p:attrNameLst>
                                      </p:cBhvr>
                                      <p:tavLst>
                                        <p:tav tm="0">
                                          <p:val>
                                            <p:strVal val="#ppt_x"/>
                                          </p:val>
                                        </p:tav>
                                        <p:tav tm="100000">
                                          <p:val>
                                            <p:strVal val="#ppt_x"/>
                                          </p:val>
                                        </p:tav>
                                      </p:tavLst>
                                    </p:anim>
                                    <p:anim calcmode="lin" valueType="num">
                                      <p:cBhvr>
                                        <p:cTn id="37" dur="75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750"/>
                                        <p:tgtEl>
                                          <p:spTgt spid="27"/>
                                        </p:tgtEl>
                                      </p:cBhvr>
                                    </p:animEffect>
                                    <p:anim calcmode="lin" valueType="num">
                                      <p:cBhvr>
                                        <p:cTn id="43" dur="750" fill="hold"/>
                                        <p:tgtEl>
                                          <p:spTgt spid="27"/>
                                        </p:tgtEl>
                                        <p:attrNameLst>
                                          <p:attrName>ppt_x</p:attrName>
                                        </p:attrNameLst>
                                      </p:cBhvr>
                                      <p:tavLst>
                                        <p:tav tm="0">
                                          <p:val>
                                            <p:strVal val="#ppt_x"/>
                                          </p:val>
                                        </p:tav>
                                        <p:tav tm="100000">
                                          <p:val>
                                            <p:strVal val="#ppt_x"/>
                                          </p:val>
                                        </p:tav>
                                      </p:tavLst>
                                    </p:anim>
                                    <p:anim calcmode="lin" valueType="num">
                                      <p:cBhvr>
                                        <p:cTn id="44" dur="75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750"/>
                                        <p:tgtEl>
                                          <p:spTgt spid="30"/>
                                        </p:tgtEl>
                                      </p:cBhvr>
                                    </p:animEffect>
                                    <p:anim calcmode="lin" valueType="num">
                                      <p:cBhvr>
                                        <p:cTn id="50" dur="750" fill="hold"/>
                                        <p:tgtEl>
                                          <p:spTgt spid="30"/>
                                        </p:tgtEl>
                                        <p:attrNameLst>
                                          <p:attrName>ppt_x</p:attrName>
                                        </p:attrNameLst>
                                      </p:cBhvr>
                                      <p:tavLst>
                                        <p:tav tm="0">
                                          <p:val>
                                            <p:strVal val="#ppt_x"/>
                                          </p:val>
                                        </p:tav>
                                        <p:tav tm="100000">
                                          <p:val>
                                            <p:strVal val="#ppt_x"/>
                                          </p:val>
                                        </p:tav>
                                      </p:tavLst>
                                    </p:anim>
                                    <p:anim calcmode="lin" valueType="num">
                                      <p:cBhvr>
                                        <p:cTn id="51" dur="75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750"/>
                                        <p:tgtEl>
                                          <p:spTgt spid="33"/>
                                        </p:tgtEl>
                                      </p:cBhvr>
                                    </p:animEffect>
                                    <p:anim calcmode="lin" valueType="num">
                                      <p:cBhvr>
                                        <p:cTn id="57" dur="750" fill="hold"/>
                                        <p:tgtEl>
                                          <p:spTgt spid="33"/>
                                        </p:tgtEl>
                                        <p:attrNameLst>
                                          <p:attrName>ppt_x</p:attrName>
                                        </p:attrNameLst>
                                      </p:cBhvr>
                                      <p:tavLst>
                                        <p:tav tm="0">
                                          <p:val>
                                            <p:strVal val="#ppt_x"/>
                                          </p:val>
                                        </p:tav>
                                        <p:tav tm="100000">
                                          <p:val>
                                            <p:strVal val="#ppt_x"/>
                                          </p:val>
                                        </p:tav>
                                      </p:tavLst>
                                    </p:anim>
                                    <p:anim calcmode="lin" valueType="num">
                                      <p:cBhvr>
                                        <p:cTn id="58" dur="7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7B41-0373-42C0-A9AF-838FB1DF40E9}"/>
              </a:ext>
            </a:extLst>
          </p:cNvPr>
          <p:cNvSpPr>
            <a:spLocks noGrp="1"/>
          </p:cNvSpPr>
          <p:nvPr>
            <p:ph type="title"/>
          </p:nvPr>
        </p:nvSpPr>
        <p:spPr/>
        <p:txBody>
          <a:bodyPr/>
          <a:lstStyle/>
          <a:p>
            <a:r>
              <a:rPr lang="en-US" dirty="0"/>
              <a:t>Knowledge Check</a:t>
            </a:r>
          </a:p>
        </p:txBody>
      </p:sp>
      <p:sp>
        <p:nvSpPr>
          <p:cNvPr id="6" name="Slide Number Placeholder 2">
            <a:extLst>
              <a:ext uri="{FF2B5EF4-FFF2-40B4-BE49-F238E27FC236}">
                <a16:creationId xmlns:a16="http://schemas.microsoft.com/office/drawing/2014/main" id="{FB08F30C-588A-4E49-6881-202A509AAB2B}"/>
              </a:ext>
            </a:extLst>
          </p:cNvPr>
          <p:cNvSpPr txBox="1">
            <a:spLocks/>
          </p:cNvSpPr>
          <p:nvPr/>
        </p:nvSpPr>
        <p:spPr>
          <a:xfrm>
            <a:off x="9497316" y="6594474"/>
            <a:ext cx="345202" cy="263525"/>
          </a:xfrm>
          <a:prstGeom prst="rect">
            <a:avLst/>
          </a:prstGeom>
        </p:spPr>
        <p:txBody>
          <a:bodyPr vert="horz" lIns="91440" tIns="45720" rIns="91440" bIns="45720" rtlCol="0">
            <a:normAutofit fontScale="32500" lnSpcReduction="20000"/>
          </a:bodyPr>
          <a:lstStyle>
            <a:lvl1pPr marL="0" indent="-182880" algn="l" defTabSz="914400" rtl="0" eaLnBrk="1" latinLnBrk="0" hangingPunct="1">
              <a:lnSpc>
                <a:spcPct val="120000"/>
              </a:lnSpc>
              <a:spcBef>
                <a:spcPts val="0"/>
              </a:spcBef>
              <a:buFont typeface="Arial" panose="020B0604020202020204" pitchFamily="34" charset="0"/>
              <a:buChar char="•"/>
              <a:defRPr sz="14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12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11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05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F896853B-1608-4B80-B96D-960378C91880}" type="slidenum">
              <a:rPr lang="en-IN" smtClean="0"/>
              <a:pPr/>
              <a:t>25</a:t>
            </a:fld>
            <a:endParaRPr lang="en-IN"/>
          </a:p>
        </p:txBody>
      </p:sp>
      <p:pic>
        <p:nvPicPr>
          <p:cNvPr id="3" name="Picture 2" descr="Ambulance emergency medical service. staff is carrying patient in stretcher">
            <a:extLst>
              <a:ext uri="{FF2B5EF4-FFF2-40B4-BE49-F238E27FC236}">
                <a16:creationId xmlns:a16="http://schemas.microsoft.com/office/drawing/2014/main" id="{791B7121-886F-A62F-BC25-6181392875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752" b="14031"/>
          <a:stretch/>
        </p:blipFill>
        <p:spPr bwMode="auto">
          <a:xfrm>
            <a:off x="0" y="4589779"/>
            <a:ext cx="5962650" cy="227261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Diagonal Corners Rounded 4">
            <a:extLst>
              <a:ext uri="{FF2B5EF4-FFF2-40B4-BE49-F238E27FC236}">
                <a16:creationId xmlns:a16="http://schemas.microsoft.com/office/drawing/2014/main" id="{68D5A53E-A02D-996B-936B-DC6CD272409F}"/>
              </a:ext>
            </a:extLst>
          </p:cNvPr>
          <p:cNvSpPr/>
          <p:nvPr/>
        </p:nvSpPr>
        <p:spPr>
          <a:xfrm>
            <a:off x="1119706" y="1685083"/>
            <a:ext cx="9952588" cy="900000"/>
          </a:xfrm>
          <a:prstGeom prst="round2DiagRect">
            <a:avLst>
              <a:gd name="adj1" fmla="val 16667"/>
              <a:gd name="adj2" fmla="val 0"/>
            </a:avLst>
          </a:prstGeom>
          <a:solidFill>
            <a:srgbClr val="F3F3F4"/>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000" b="1">
                <a:solidFill>
                  <a:schemeClr val="tx1"/>
                </a:solidFill>
              </a:rPr>
              <a:t>O8</a:t>
            </a:r>
            <a:r>
              <a:rPr lang="en-IN" sz="1400">
                <a:solidFill>
                  <a:schemeClr val="tx1"/>
                </a:solidFill>
              </a:rPr>
              <a:t> </a:t>
            </a:r>
            <a:r>
              <a:rPr lang="en-US" sz="1400">
                <a:solidFill>
                  <a:schemeClr val="tx1"/>
                </a:solidFill>
              </a:rPr>
              <a:t>Joe gets an insect bite while working in the farm and is going to the ER. On the way to the ER, the car  meets a head-on collision with a semi truck, and all persons on board the ambulance die, including our man, Joe. </a:t>
            </a:r>
            <a:endParaRPr lang="en-IN" sz="1400">
              <a:solidFill>
                <a:schemeClr val="tx1"/>
              </a:solidFill>
            </a:endParaRPr>
          </a:p>
        </p:txBody>
      </p:sp>
      <p:sp>
        <p:nvSpPr>
          <p:cNvPr id="9" name="TextBox 8">
            <a:extLst>
              <a:ext uri="{FF2B5EF4-FFF2-40B4-BE49-F238E27FC236}">
                <a16:creationId xmlns:a16="http://schemas.microsoft.com/office/drawing/2014/main" id="{AB8FA3F3-DC89-8880-F682-5819A7F34FF4}"/>
              </a:ext>
            </a:extLst>
          </p:cNvPr>
          <p:cNvSpPr txBox="1"/>
          <p:nvPr/>
        </p:nvSpPr>
        <p:spPr>
          <a:xfrm>
            <a:off x="3800913" y="2902697"/>
            <a:ext cx="4590171" cy="307777"/>
          </a:xfrm>
          <a:prstGeom prst="rect">
            <a:avLst/>
          </a:prstGeom>
          <a:noFill/>
        </p:spPr>
        <p:txBody>
          <a:bodyPr wrap="square">
            <a:spAutoFit/>
          </a:bodyPr>
          <a:lstStyle/>
          <a:p>
            <a:r>
              <a:rPr lang="en-US" sz="1400" b="1"/>
              <a:t>Which principle of Insurance is applicable? </a:t>
            </a:r>
          </a:p>
        </p:txBody>
      </p:sp>
      <p:sp>
        <p:nvSpPr>
          <p:cNvPr id="10" name="TextBox 9">
            <a:extLst>
              <a:ext uri="{FF2B5EF4-FFF2-40B4-BE49-F238E27FC236}">
                <a16:creationId xmlns:a16="http://schemas.microsoft.com/office/drawing/2014/main" id="{84342194-8E0E-3F34-6851-8CD3F2265C06}"/>
              </a:ext>
            </a:extLst>
          </p:cNvPr>
          <p:cNvSpPr txBox="1"/>
          <p:nvPr/>
        </p:nvSpPr>
        <p:spPr>
          <a:xfrm>
            <a:off x="2027504" y="3647527"/>
            <a:ext cx="8136987" cy="954107"/>
          </a:xfrm>
          <a:prstGeom prst="rect">
            <a:avLst/>
          </a:prstGeom>
          <a:noFill/>
        </p:spPr>
        <p:txBody>
          <a:bodyPr wrap="square">
            <a:spAutoFit/>
          </a:bodyPr>
          <a:lstStyle/>
          <a:p>
            <a:pPr algn="ctr"/>
            <a:r>
              <a:rPr lang="en-US" sz="1400" b="1"/>
              <a:t>Answer: Proximate Cause </a:t>
            </a:r>
          </a:p>
          <a:p>
            <a:pPr algn="ctr"/>
            <a:endParaRPr lang="en-US" sz="1400" b="1"/>
          </a:p>
          <a:p>
            <a:pPr algn="ctr"/>
            <a:r>
              <a:rPr lang="en-US" sz="1400"/>
              <a:t>The proximate cause of Joe’s death is the collision and not the insect bite. Collision being the cause of death is the dominant cause here whilst insect bite is inefficient and remote.</a:t>
            </a:r>
          </a:p>
        </p:txBody>
      </p:sp>
    </p:spTree>
    <p:extLst>
      <p:ext uri="{BB962C8B-B14F-4D97-AF65-F5344CB8AC3E}">
        <p14:creationId xmlns:p14="http://schemas.microsoft.com/office/powerpoint/2010/main" val="69549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750"/>
                                        <p:tgtEl>
                                          <p:spTgt spid="10"/>
                                        </p:tgtEl>
                                      </p:cBhvr>
                                    </p:animEffect>
                                    <p:anim calcmode="lin" valueType="num">
                                      <p:cBhvr>
                                        <p:cTn id="15" dur="750" fill="hold"/>
                                        <p:tgtEl>
                                          <p:spTgt spid="10"/>
                                        </p:tgtEl>
                                        <p:attrNameLst>
                                          <p:attrName>ppt_x</p:attrName>
                                        </p:attrNameLst>
                                      </p:cBhvr>
                                      <p:tavLst>
                                        <p:tav tm="0">
                                          <p:val>
                                            <p:strVal val="#ppt_x"/>
                                          </p:val>
                                        </p:tav>
                                        <p:tav tm="100000">
                                          <p:val>
                                            <p:strVal val="#ppt_x"/>
                                          </p:val>
                                        </p:tav>
                                      </p:tavLst>
                                    </p:anim>
                                    <p:anim calcmode="lin" valueType="num">
                                      <p:cBhvr>
                                        <p:cTn id="16" dur="7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DE6CB9-A5B2-65D0-6B62-B09521E3BC75}"/>
              </a:ext>
            </a:extLst>
          </p:cNvPr>
          <p:cNvSpPr>
            <a:spLocks noGrp="1"/>
          </p:cNvSpPr>
          <p:nvPr>
            <p:ph type="body" sz="quarter" idx="10"/>
          </p:nvPr>
        </p:nvSpPr>
        <p:spPr>
          <a:xfrm>
            <a:off x="762000" y="2743200"/>
            <a:ext cx="5197475" cy="1066800"/>
          </a:xfrm>
        </p:spPr>
        <p:txBody>
          <a:bodyPr>
            <a:normAutofit/>
          </a:bodyPr>
          <a:lstStyle/>
          <a:p>
            <a:r>
              <a:rPr lang="en-US" sz="5400" dirty="0"/>
              <a:t>Thank you!</a:t>
            </a:r>
          </a:p>
        </p:txBody>
      </p:sp>
    </p:spTree>
    <p:extLst>
      <p:ext uri="{BB962C8B-B14F-4D97-AF65-F5344CB8AC3E}">
        <p14:creationId xmlns:p14="http://schemas.microsoft.com/office/powerpoint/2010/main" val="1481671092"/>
      </p:ext>
    </p:extLst>
  </p:cSld>
  <p:clrMapOvr>
    <a:masterClrMapping/>
  </p:clrMapOvr>
</p:sld>
</file>

<file path=ppt/theme/theme1.xml><?xml version="1.0" encoding="utf-8"?>
<a:theme xmlns:a="http://schemas.openxmlformats.org/drawingml/2006/main" name="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Layouts" id="{57B4BC8B-4C51-428A-BCF6-413E9C9C17E5}" vid="{58BFCFD4-CD77-461F-B9C5-3195BCE7D705}"/>
    </a:ext>
  </a:extLst>
</a:theme>
</file>

<file path=ppt/theme/theme2.xml><?xml version="1.0" encoding="utf-8"?>
<a:theme xmlns:a="http://schemas.openxmlformats.org/drawingml/2006/main" name="1_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Cover-Break-Thankyou_Slides_1" id="{A842EA7E-3884-40FC-A669-42FF949B22EF}" vid="{CBD477C8-94FE-494A-9848-3675825B1C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Klassify>
  <SNO>1</SNO>
  <KDate>2023-01-04 14:52:12</KDate>
  <Classification>Xceedance-Internal</Classification>
  <Subclassification/>
  <HostName>XCLP-TU1-1060</HostName>
  <Domain_User>XIPL/udit</Domain_User>
  <IPAdd>192.168.1.10</IPAdd>
  <FilePath>https://xipl-my.sharepoint.com/personal/udit_xceedance_com/Documents/UK/XCEEDANCE BRANDS/BRAND XCEEDANCE/New Collateral/PPT/20291.1_Xceedance_Template_NOV9.pptx</FilePath>
  <KID>342EB7476558638084407324474195</KID>
  <UniqueName/>
  <Suggested/>
  <Justification/>
</Klassify>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744A60AC065A84F9FF3C649A002D5A3" ma:contentTypeVersion="16" ma:contentTypeDescription="Create a new document." ma:contentTypeScope="" ma:versionID="b36ff89b5495aba7d9e3f44e1eb10839">
  <xsd:schema xmlns:xsd="http://www.w3.org/2001/XMLSchema" xmlns:xs="http://www.w3.org/2001/XMLSchema" xmlns:p="http://schemas.microsoft.com/office/2006/metadata/properties" xmlns:ns2="a95944d3-f8bd-47e0-9169-8464ef643e87" xmlns:ns3="a90d23b2-81bb-40d2-b4ef-0b9745d9f95d" targetNamespace="http://schemas.microsoft.com/office/2006/metadata/properties" ma:root="true" ma:fieldsID="a9b5461b235f0f5d2a7ffaf6401d2148" ns2:_="" ns3:_="">
    <xsd:import namespace="a95944d3-f8bd-47e0-9169-8464ef643e87"/>
    <xsd:import namespace="a90d23b2-81bb-40d2-b4ef-0b9745d9f95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EventHashCode" minOccurs="0"/>
                <xsd:element ref="ns3:MediaServiceGenerationTime" minOccurs="0"/>
                <xsd:element ref="ns3:MediaServiceOCR" minOccurs="0"/>
                <xsd:element ref="ns3:Capability" minOccurs="0"/>
                <xsd:element ref="ns3:MediaLengthInSeconds" minOccurs="0"/>
                <xsd:element ref="ns3:MediaServiceAutoKeyPoints" minOccurs="0"/>
                <xsd:element ref="ns3:MediaServiceKeyPoint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5944d3-f8bd-47e0-9169-8464ef643e8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2c644270-51dd-43fe-952e-b0d1dacefd30}" ma:internalName="TaxCatchAll" ma:showField="CatchAllData" ma:web="a95944d3-f8bd-47e0-9169-8464ef643e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90d23b2-81bb-40d2-b4ef-0b9745d9f95d"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Capability" ma:index="17" nillable="true" ma:displayName="Capability" ma:default="IO" ma:format="Dropdown" ma:internalName="Capability">
      <xsd:simpleType>
        <xsd:restriction base="dms:Choice">
          <xsd:enumeration value="IO"/>
          <xsd:enumeration value="CL"/>
          <xsd:enumeration value="CC"/>
          <xsd:enumeration value="PS"/>
          <xsd:enumeration value="CAT"/>
          <xsd:enumeration value="TCS"/>
          <xsd:enumeration value="BIR"/>
          <xsd:enumeration value="ACT"/>
          <xsd:enumeration value="FA"/>
          <xsd:enumeration value="UW"/>
          <xsd:enumeration value="IDS"/>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9bc5e91-0f40-490a-8bf4-7a094a4b00b2"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EAA356-82F7-4A94-8818-C2A5D133E806}">
  <ds:schemaRefs/>
</ds:datastoreItem>
</file>

<file path=customXml/itemProps2.xml><?xml version="1.0" encoding="utf-8"?>
<ds:datastoreItem xmlns:ds="http://schemas.openxmlformats.org/officeDocument/2006/customXml" ds:itemID="{76DF932C-E2D6-4681-BC31-4CCA20754E90}">
  <ds:schemaRefs>
    <ds:schemaRef ds:uri="http://schemas.microsoft.com/sharepoint/v3/contenttype/forms"/>
  </ds:schemaRefs>
</ds:datastoreItem>
</file>

<file path=customXml/itemProps3.xml><?xml version="1.0" encoding="utf-8"?>
<ds:datastoreItem xmlns:ds="http://schemas.openxmlformats.org/officeDocument/2006/customXml" ds:itemID="{FFD1795C-47F6-4B06-9AB4-D6D74C9242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5944d3-f8bd-47e0-9169-8464ef643e87"/>
    <ds:schemaRef ds:uri="a90d23b2-81bb-40d2-b4ef-0b9745d9f9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0ea2e9a-ed1c-457b-8cb8-a3ba3a87d0ba}" enabled="1" method="Standard" siteId="{7597b9d4-4dbf-4a04-888f-21d6563b1812}" removed="0"/>
</clbl:labelList>
</file>

<file path=docProps/app.xml><?xml version="1.0" encoding="utf-8"?>
<Properties xmlns="http://schemas.openxmlformats.org/officeDocument/2006/extended-properties" xmlns:vt="http://schemas.openxmlformats.org/officeDocument/2006/docPropsVTypes">
  <Template>Powerpoint_Layouts</Template>
  <TotalTime>393</TotalTime>
  <Words>2439</Words>
  <Application>Microsoft Office PowerPoint</Application>
  <PresentationFormat>Widescreen</PresentationFormat>
  <Paragraphs>386</Paragraphs>
  <Slides>26</Slides>
  <Notes>0</Notes>
  <HiddenSlides>19</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Office Theme</vt:lpstr>
      <vt:lpstr>1_Office Theme</vt:lpstr>
      <vt:lpstr>PowerPoint Presentation</vt:lpstr>
      <vt:lpstr>What will we learn in this module?</vt:lpstr>
      <vt:lpstr>What will we learn in this module?</vt:lpstr>
      <vt:lpstr>Recap: What is risk?</vt:lpstr>
      <vt:lpstr>Recap: What are the different types of Risk ? </vt:lpstr>
      <vt:lpstr>Recap: Risk Management</vt:lpstr>
      <vt:lpstr>Let us check your understanding</vt:lpstr>
      <vt:lpstr>Recap: What is insurance?</vt:lpstr>
      <vt:lpstr>What is an insurance contract?</vt:lpstr>
      <vt:lpstr>Recap: Law of Large Numbers</vt:lpstr>
      <vt:lpstr>Fundamental Principles of Insurance</vt:lpstr>
      <vt:lpstr>A deep dive into each principle</vt:lpstr>
      <vt:lpstr>A deep dive into each principle</vt:lpstr>
      <vt:lpstr>A deep dive into each principle</vt:lpstr>
      <vt:lpstr>Here are a few videos to help you understand the concepts better</vt:lpstr>
      <vt:lpstr>Let's check your understanding</vt:lpstr>
      <vt:lpstr>Activity Instructions</vt:lpstr>
      <vt:lpstr>Knowledge Check</vt:lpstr>
      <vt:lpstr>Knowledge Check</vt:lpstr>
      <vt:lpstr>Knowledge Check</vt:lpstr>
      <vt:lpstr>Knowledge Check</vt:lpstr>
      <vt:lpstr>Knowledge Check</vt:lpstr>
      <vt:lpstr>Knowledge Check</vt:lpstr>
      <vt:lpstr>Knowledge Check</vt:lpstr>
      <vt:lpstr>Knowledge Check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 template walkthrough</dc:title>
  <dc:creator>Rishabh Rana</dc:creator>
  <cp:lastModifiedBy>Akansha Jain</cp:lastModifiedBy>
  <cp:revision>32</cp:revision>
  <dcterms:created xsi:type="dcterms:W3CDTF">2023-05-25T10:56:44Z</dcterms:created>
  <dcterms:modified xsi:type="dcterms:W3CDTF">2025-11-18T10:35:18Z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Xceedance-Internal</vt:lpwstr>
  </property>
  <property fmtid="{D5CDD505-2E9C-101B-9397-08002B2CF9AE}" pid="3" name="Rules">
    <vt:lpwstr/>
  </property>
  <property fmtid="{D5CDD505-2E9C-101B-9397-08002B2CF9AE}" pid="4" name="KID">
    <vt:lpwstr>342EB7476558638084407324474195</vt:lpwstr>
  </property>
</Properties>
</file>